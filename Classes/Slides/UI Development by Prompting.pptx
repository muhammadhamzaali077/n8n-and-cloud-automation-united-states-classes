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embeddedFontLst>
    <p:embeddedFont>
      <p:font typeface="Inter" panose="020B0604020202020204" charset="0"/>
      <p:regular r:id="rId50"/>
      <p:bold r:id="rId51"/>
      <p:italic r:id="rId52"/>
      <p:boldItalic r:id="rId53"/>
    </p:embeddedFont>
    <p:embeddedFont>
      <p:font typeface="Inter Light" panose="020B0604020202020204" charset="0"/>
      <p:regular r:id="rId54"/>
      <p:bold r:id="rId55"/>
      <p:italic r:id="rId56"/>
      <p:boldItalic r:id="rId57"/>
    </p:embeddedFont>
    <p:embeddedFont>
      <p:font typeface="JetBrains Mono" panose="020B0604020202020204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001" autoAdjust="0"/>
    <p:restoredTop sz="94660"/>
  </p:normalViewPr>
  <p:slideViewPr>
    <p:cSldViewPr snapToGrid="0">
      <p:cViewPr varScale="1">
        <p:scale>
          <a:sx n="83" d="100"/>
          <a:sy n="83" d="100"/>
        </p:scale>
        <p:origin x="488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1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68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1487" y="4694634"/>
            <a:ext cx="3629025" cy="57909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375660" y="1584126"/>
            <a:ext cx="544068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UI Development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by Prompting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05137" y="3587948"/>
            <a:ext cx="61817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Inter Light"/>
                <a:ea typeface="Inter Light"/>
                <a:cs typeface="Inter Light"/>
                <a:sym typeface="Inter Light"/>
              </a:rPr>
              <a:t>From Idea to Full-Stack App with Lovable AI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576762" y="4847034"/>
            <a:ext cx="30384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Complete, Step-by-Step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1371600"/>
            <a:ext cx="35495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21075" y="1371600"/>
            <a:ext cx="3549699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56525" y="1371600"/>
            <a:ext cx="35495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OBJECTIVE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We will journey from "Hello World" to a fully deployed application with a live database.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1050" y="16668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81050" y="2238375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Lovable Basics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81050" y="2752725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Understanding the AI app builder and interface.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16350" y="16668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4616350" y="2238375"/>
            <a:ext cx="310710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Prompt Strategy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16350" y="2752725"/>
            <a:ext cx="29591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Mastering meta-prompting and visual editing.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51800" y="16668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451800" y="2238375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Full Stack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51800" y="2752725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Integrating Supabase, Auth, and GitHub.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Agenda &amp; Roadmap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371600"/>
            <a:ext cx="5372100" cy="4107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WHY WE ARE HERE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To eliminate the setup fatigue and syntax errors that slow down creativity.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85775" y="2205930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Traditional Development Friction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1381125"/>
            <a:ext cx="5353050" cy="408815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619125" y="268218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23900" y="2682180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Barrier: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Requires deep syntax knowledge.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19125" y="312985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23900" y="3129855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Slow Cycles: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Write Code → Save → Compile → Refresh.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19125" y="388233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23900" y="3882330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Disconnect: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Figma designs rarely match the final code perfectly.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"Old" Way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5657850"/>
            <a:ext cx="11220450" cy="893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1371600"/>
            <a:ext cx="53721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14375" y="5848350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KEY DIFFERENTIATOR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14375" y="6086475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This isn't a mockup tool. It builds functional, deployable software.</a:t>
            </a:r>
            <a:endParaRPr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5300" y="1381125"/>
            <a:ext cx="5353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467475" y="23860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572250" y="2386012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App Builder: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Generates full-stack web apps from natural language.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467475" y="31384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572250" y="3138487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 Tech Stack: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Builds on React, Tailwind, and Node.js.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467475" y="35861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572250" y="3586162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Lock-in: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It generates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 code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you can export and own.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467475" y="43386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572250" y="4338637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Iterative: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Works best when you build in small steps.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What is Lovable?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PROCESS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We will follow this cyclical nature of building, refining, and connecting.</a:t>
            </a:r>
            <a:endParaRPr/>
          </a:p>
        </p:txBody>
      </p:sp>
      <p:pic>
        <p:nvPicPr>
          <p:cNvPr id="158" name="Google Shape;15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07765" y="157162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642557" y="2143125"/>
            <a:ext cx="181616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Plan</a:t>
            </a:r>
            <a:endParaRPr/>
          </a:p>
        </p:txBody>
      </p:sp>
      <p:pic>
        <p:nvPicPr>
          <p:cNvPr id="160" name="Google Shape;16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08933" y="15716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2915163" y="2143125"/>
            <a:ext cx="181616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Prompt</a:t>
            </a:r>
            <a:endParaRPr/>
          </a:p>
        </p:txBody>
      </p:sp>
      <p:pic>
        <p:nvPicPr>
          <p:cNvPr id="162" name="Google Shape;16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351" y="15716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187765" y="2143125"/>
            <a:ext cx="181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Iterate</a:t>
            </a:r>
            <a:endParaRPr/>
          </a:p>
        </p:txBody>
      </p:sp>
      <p:pic>
        <p:nvPicPr>
          <p:cNvPr id="164" name="Google Shape;16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01917" y="15716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7460523" y="2143125"/>
            <a:ext cx="181616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Connect</a:t>
            </a:r>
            <a:endParaRPr/>
          </a:p>
        </p:txBody>
      </p:sp>
      <p:pic>
        <p:nvPicPr>
          <p:cNvPr id="166" name="Google Shape;16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450710" y="15716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9733124" y="2143125"/>
            <a:ext cx="181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Deploy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Workflow at a Glance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619125" y="15240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23900" y="1524000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Access: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Go to and sign in.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19125" y="19716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723900" y="1971675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Economy: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Every generation costs "Credits".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19125" y="24193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723900" y="2419350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Strategy: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Bigger builds cost more; small edits cost less.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19125" y="28670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23900" y="2867025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Tiers: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Paid plans unlock private projects and the built-in Code Browser.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LOGISTICS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Efficient prompting saves credits. Think before you generate.</a:t>
            </a:r>
            <a:endParaRPr/>
          </a:p>
        </p:txBody>
      </p:sp>
      <p:pic>
        <p:nvPicPr>
          <p:cNvPr id="186" name="Google Shape;18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95500" y="1533525"/>
            <a:ext cx="13049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Setup &amp; Credits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135659"/>
            <a:ext cx="5372100" cy="147250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485775" y="2957512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Checklist before prompting: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519862" y="3440459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Blank Page Syndrome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638925" y="3916709"/>
            <a:ext cx="47625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you don't know what you want, the AI cannot guess it.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733425" y="3433762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66775" y="343376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MVP: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What is the core function?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95325" y="3881437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66775" y="3881437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Structure: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List the required pages.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95325" y="4329112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866775" y="432911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Aesthetics: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Define colors and tone.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Golden Rule: Plan First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2162175" y="2914475"/>
            <a:ext cx="7858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Case Study: </a:t>
            </a:r>
            <a:r>
              <a:rPr lang="en-US" sz="315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Personal Portfolio Website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486025"/>
            <a:ext cx="1122045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485775" y="1562100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Bad Prompt:</a:t>
            </a:r>
            <a:r>
              <a:rPr lang="en-US" sz="1500" b="0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 "Make a fitness app."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76275" y="2371725"/>
            <a:ext cx="4000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PROMPT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686800" y="2886075"/>
            <a:ext cx="1333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A5F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orange + black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SPECIFICITY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Notice the specific keywords: Inputs, Logic, Theme, and Constraints.</a:t>
            </a:r>
            <a:endParaRPr/>
          </a:p>
        </p:txBody>
      </p:sp>
      <p:pic>
        <p:nvPicPr>
          <p:cNvPr id="224" name="Google Shape;22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775" y="1619250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Drafting the First Prompt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242887" y="2419350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Generating...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485775" y="3076575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Lovable interprets the prompt and writes the React/Tailwind code in real-time.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EXPECTATION MANAGEMENT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The first generation is a "Draft," not the final product.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Running the Build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657475"/>
            <a:ext cx="35495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2657475"/>
            <a:ext cx="3549699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6525" y="2657475"/>
            <a:ext cx="35495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050" y="29527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781050" y="3524250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Chat Input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781050" y="4038600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Your main communication line with the AI.</a:t>
            </a:r>
            <a:endParaRPr/>
          </a:p>
        </p:txBody>
      </p:sp>
      <p:pic>
        <p:nvPicPr>
          <p:cNvPr id="250" name="Google Shape;250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6350" y="29527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4616350" y="3524250"/>
            <a:ext cx="310710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History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4616350" y="4038600"/>
            <a:ext cx="29591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Version control to undo mistakes.</a:t>
            </a:r>
            <a:endParaRPr/>
          </a:p>
        </p:txBody>
      </p:sp>
      <p:pic>
        <p:nvPicPr>
          <p:cNvPr id="253" name="Google Shape;253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1800" y="295275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8451800" y="3524250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Knowledge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8451800" y="4038600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Persistent context and rules (covered later).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Interface Tour: Left Panel</a:t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728787"/>
            <a:ext cx="53721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5300" y="1738312"/>
            <a:ext cx="5353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6334125" y="2440334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Live Preview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6334125" y="4916834"/>
            <a:ext cx="53721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Tip: Always test responsiveness immediately.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6467475" y="2916584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6572250" y="2916584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Live Preview: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Real-time rendering of your app.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6467475" y="3364259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6572250" y="3364259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Device Toggles: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Switch between Desktop, Tablet, and Mobile.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6467475" y="4116734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6572250" y="4116734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Route Picker: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Navigate between pages (e.g., /home, /login).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Interface Tour: Right Panel</a:t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2525017"/>
            <a:ext cx="537210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372617"/>
            <a:ext cx="53721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WORKFLOW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Use Chat Mode to </a:t>
            </a:r>
            <a:r>
              <a:rPr lang="en-US" sz="1350" b="0" i="1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think</a:t>
            </a: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, Default Mode to </a:t>
            </a:r>
            <a:r>
              <a:rPr lang="en-US" sz="1350" b="0" i="1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build</a:t>
            </a: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781050" y="2820292"/>
            <a:ext cx="502062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Default (Build)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781050" y="3582292"/>
            <a:ext cx="4781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Lovable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modifies the project code directly.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6629400" y="2667892"/>
            <a:ext cx="502062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Chat Mode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6629400" y="3429892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Lovable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answers questions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plans. It does NOT change code.</a:t>
            </a:r>
            <a:endParaRPr/>
          </a:p>
        </p:txBody>
      </p:sp>
      <p:pic>
        <p:nvPicPr>
          <p:cNvPr id="289" name="Google Shape;289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050" y="282029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266789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Build Mode vs. Chat Mode</a:t>
            </a:r>
            <a:endParaRPr/>
          </a:p>
        </p:txBody>
      </p:sp>
      <p:sp>
        <p:nvSpPr>
          <p:cNvPr id="292" name="Google Shape;292;p25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667000"/>
            <a:ext cx="112204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6"/>
          <p:cNvSpPr txBox="1"/>
          <p:nvPr/>
        </p:nvSpPr>
        <p:spPr>
          <a:xfrm>
            <a:off x="485775" y="1371600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Point and Click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485775" y="2028825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don't always need to describe the whole app. Click an element to target it.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MICRO-ADJUSTMENTS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Targeted edits prevent the AI from hallucinating changes elsewhere in the app.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Visual Editing</a:t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619125" y="15240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723900" y="1524000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Safety Net: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Every prompt creates a save point.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619125" y="19716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723900" y="1971675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Restore: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If a prompt breaks the app, jump back to the previous state instantly.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619125" y="24193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723900" y="2419350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Code Diff: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(Paid) See exactly what lines of code the AI changed.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CONFIDENCE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Encourages experimentation because you can always "undo".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History Tab</a:t>
            </a:r>
            <a:endParaRPr/>
          </a:p>
        </p:txBody>
      </p:sp>
      <p:sp>
        <p:nvSpPr>
          <p:cNvPr id="321" name="Google Shape;321;p27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8"/>
          <p:cNvSpPr txBox="1"/>
          <p:nvPr/>
        </p:nvSpPr>
        <p:spPr>
          <a:xfrm>
            <a:off x="485775" y="2957512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Quality Assurance</a:t>
            </a:r>
            <a:endParaRPr/>
          </a:p>
        </p:txBody>
      </p:sp>
      <p:pic>
        <p:nvPicPr>
          <p:cNvPr id="328" name="Google Shape;32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82050" y="32194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8"/>
          <p:cNvSpPr txBox="1"/>
          <p:nvPr/>
        </p:nvSpPr>
        <p:spPr>
          <a:xfrm>
            <a:off x="6629400" y="4076700"/>
            <a:ext cx="4781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makes logic errors. Always verify.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619125" y="34337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723900" y="3433762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 real data into the forms.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619125" y="38814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3" name="Google Shape;333;p28"/>
          <p:cNvSpPr txBox="1"/>
          <p:nvPr/>
        </p:nvSpPr>
        <p:spPr>
          <a:xfrm>
            <a:off x="723900" y="3881437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Verify the math logic (Calculators often fail first try).</a:t>
            </a:r>
            <a:endParaRPr/>
          </a:p>
        </p:txBody>
      </p:sp>
      <p:sp>
        <p:nvSpPr>
          <p:cNvPr id="334" name="Google Shape;334;p28"/>
          <p:cNvSpPr txBox="1"/>
          <p:nvPr/>
        </p:nvSpPr>
        <p:spPr>
          <a:xfrm>
            <a:off x="619125" y="43291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723900" y="4329112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Check button states and navigation.</a:t>
            </a:r>
            <a:endParaRPr/>
          </a:p>
        </p:txBody>
      </p:sp>
      <p:sp>
        <p:nvSpPr>
          <p:cNvPr id="336" name="Google Shape;336;p28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Testing the MVP</a:t>
            </a:r>
            <a:endParaRPr/>
          </a:p>
        </p:txBody>
      </p:sp>
      <p:sp>
        <p:nvSpPr>
          <p:cNvPr id="337" name="Google Shape;337;p28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728787"/>
            <a:ext cx="53721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309937"/>
            <a:ext cx="537210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5300" y="1738312"/>
            <a:ext cx="5353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9"/>
          <p:cNvSpPr txBox="1"/>
          <p:nvPr/>
        </p:nvSpPr>
        <p:spPr>
          <a:xfrm>
            <a:off x="6334125" y="2795587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Prompt Strategy</a:t>
            </a:r>
            <a:endParaRPr/>
          </a:p>
        </p:txBody>
      </p:sp>
      <p:sp>
        <p:nvSpPr>
          <p:cNvPr id="347" name="Google Shape;347;p29"/>
          <p:cNvSpPr txBox="1"/>
          <p:nvPr/>
        </p:nvSpPr>
        <p:spPr>
          <a:xfrm>
            <a:off x="6334125" y="4500562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creates a new route (e.g., vs ).</a:t>
            </a:r>
            <a:endParaRPr/>
          </a:p>
        </p:txBody>
      </p:sp>
      <p:pic>
        <p:nvPicPr>
          <p:cNvPr id="348" name="Google Shape;348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91625" y="4510087"/>
            <a:ext cx="2571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72650" y="4510087"/>
            <a:ext cx="13049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9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Adding a Landing Page</a:t>
            </a:r>
            <a:endParaRPr/>
          </a:p>
        </p:txBody>
      </p:sp>
      <p:sp>
        <p:nvSpPr>
          <p:cNvPr id="351" name="Google Shape;351;p29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0"/>
          <p:cNvSpPr txBox="1"/>
          <p:nvPr/>
        </p:nvSpPr>
        <p:spPr>
          <a:xfrm>
            <a:off x="485775" y="1371600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Using AI to Write AI</a:t>
            </a:r>
            <a:endParaRPr/>
          </a:p>
        </p:txBody>
      </p:sp>
      <p:sp>
        <p:nvSpPr>
          <p:cNvPr id="359" name="Google Shape;359;p30"/>
          <p:cNvSpPr txBox="1"/>
          <p:nvPr/>
        </p:nvSpPr>
        <p:spPr>
          <a:xfrm>
            <a:off x="733425" y="199072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360" name="Google Shape;360;p30"/>
          <p:cNvSpPr txBox="1"/>
          <p:nvPr/>
        </p:nvSpPr>
        <p:spPr>
          <a:xfrm>
            <a:off x="866775" y="1990725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Switch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Chat Mode.</a:t>
            </a:r>
            <a:endParaRPr/>
          </a:p>
        </p:txBody>
      </p:sp>
      <p:sp>
        <p:nvSpPr>
          <p:cNvPr id="361" name="Google Shape;361;p30"/>
          <p:cNvSpPr txBox="1"/>
          <p:nvPr/>
        </p:nvSpPr>
        <p:spPr>
          <a:xfrm>
            <a:off x="695325" y="243840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362" name="Google Shape;362;p30"/>
          <p:cNvSpPr txBox="1"/>
          <p:nvPr/>
        </p:nvSpPr>
        <p:spPr>
          <a:xfrm>
            <a:off x="866775" y="2438400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Ask: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"Help me craft a clear prompt to add a site-wide dark mode toggle."</a:t>
            </a:r>
            <a:endParaRPr/>
          </a:p>
        </p:txBody>
      </p:sp>
      <p:sp>
        <p:nvSpPr>
          <p:cNvPr id="363" name="Google Shape;363;p30"/>
          <p:cNvSpPr txBox="1"/>
          <p:nvPr/>
        </p:nvSpPr>
        <p:spPr>
          <a:xfrm>
            <a:off x="695325" y="288607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364" name="Google Shape;364;p30"/>
          <p:cNvSpPr txBox="1"/>
          <p:nvPr/>
        </p:nvSpPr>
        <p:spPr>
          <a:xfrm>
            <a:off x="866775" y="2886075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Copy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result.</a:t>
            </a:r>
            <a:endParaRPr/>
          </a:p>
        </p:txBody>
      </p:sp>
      <p:sp>
        <p:nvSpPr>
          <p:cNvPr id="365" name="Google Shape;365;p30"/>
          <p:cNvSpPr txBox="1"/>
          <p:nvPr/>
        </p:nvSpPr>
        <p:spPr>
          <a:xfrm>
            <a:off x="695325" y="333375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366" name="Google Shape;366;p30"/>
          <p:cNvSpPr txBox="1"/>
          <p:nvPr/>
        </p:nvSpPr>
        <p:spPr>
          <a:xfrm>
            <a:off x="866775" y="3333750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Paste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into Build Mode.</a:t>
            </a:r>
            <a:endParaRPr/>
          </a:p>
        </p:txBody>
      </p:sp>
      <p:sp>
        <p:nvSpPr>
          <p:cNvPr id="367" name="Google Shape;367;p30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THE SECRET WEAPON</a:t>
            </a:r>
            <a:endParaRPr/>
          </a:p>
        </p:txBody>
      </p:sp>
      <p:sp>
        <p:nvSpPr>
          <p:cNvPr id="368" name="Google Shape;368;p30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When you don't know the technical terms, let the AI write the instructions for you.</a:t>
            </a:r>
            <a:endParaRPr/>
          </a:p>
        </p:txBody>
      </p:sp>
      <p:sp>
        <p:nvSpPr>
          <p:cNvPr id="369" name="Google Shape;369;p30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Meta-Prompting</a:t>
            </a:r>
            <a:endParaRPr/>
          </a:p>
        </p:txBody>
      </p:sp>
      <p:sp>
        <p:nvSpPr>
          <p:cNvPr id="370" name="Google Shape;370;p30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571625"/>
            <a:ext cx="11220450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3105150"/>
            <a:ext cx="11220450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4638675"/>
            <a:ext cx="11220450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1"/>
          <p:cNvSpPr txBox="1"/>
          <p:nvPr/>
        </p:nvSpPr>
        <p:spPr>
          <a:xfrm>
            <a:off x="723900" y="1962150"/>
            <a:ext cx="10782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TOP: Context &amp; Constraints</a:t>
            </a:r>
            <a:endParaRPr/>
          </a:p>
        </p:txBody>
      </p:sp>
      <p:sp>
        <p:nvSpPr>
          <p:cNvPr id="380" name="Google Shape;380;p31"/>
          <p:cNvSpPr txBox="1"/>
          <p:nvPr/>
        </p:nvSpPr>
        <p:spPr>
          <a:xfrm>
            <a:off x="723900" y="2457450"/>
            <a:ext cx="10782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"I want a dark/light mode toggle..."</a:t>
            </a:r>
            <a:endParaRPr/>
          </a:p>
        </p:txBody>
      </p:sp>
      <p:sp>
        <p:nvSpPr>
          <p:cNvPr id="381" name="Google Shape;381;p31"/>
          <p:cNvSpPr txBox="1"/>
          <p:nvPr/>
        </p:nvSpPr>
        <p:spPr>
          <a:xfrm>
            <a:off x="723900" y="3495675"/>
            <a:ext cx="10782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MIDDLE: The Request</a:t>
            </a:r>
            <a:endParaRPr/>
          </a:p>
        </p:txBody>
      </p:sp>
      <p:sp>
        <p:nvSpPr>
          <p:cNvPr id="382" name="Google Shape;382;p31"/>
          <p:cNvSpPr txBox="1"/>
          <p:nvPr/>
        </p:nvSpPr>
        <p:spPr>
          <a:xfrm>
            <a:off x="723900" y="3990975"/>
            <a:ext cx="10782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"...implement using Tailwind classes..."</a:t>
            </a:r>
            <a:endParaRPr/>
          </a:p>
        </p:txBody>
      </p:sp>
      <p:sp>
        <p:nvSpPr>
          <p:cNvPr id="383" name="Google Shape;383;p31"/>
          <p:cNvSpPr txBox="1"/>
          <p:nvPr/>
        </p:nvSpPr>
        <p:spPr>
          <a:xfrm>
            <a:off x="723900" y="5029200"/>
            <a:ext cx="10782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BOTTOM: Critical Constraints</a:t>
            </a:r>
            <a:endParaRPr/>
          </a:p>
        </p:txBody>
      </p:sp>
      <p:sp>
        <p:nvSpPr>
          <p:cNvPr id="384" name="Google Shape;384;p31"/>
          <p:cNvSpPr txBox="1"/>
          <p:nvPr/>
        </p:nvSpPr>
        <p:spPr>
          <a:xfrm>
            <a:off x="723900" y="5524500"/>
            <a:ext cx="10782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"...Ensure it persists on refresh."</a:t>
            </a:r>
            <a:endParaRPr/>
          </a:p>
        </p:txBody>
      </p:sp>
      <p:sp>
        <p:nvSpPr>
          <p:cNvPr id="385" name="Google Shape;385;p31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"Sandwich" Method</a:t>
            </a:r>
            <a:endParaRPr/>
          </a:p>
        </p:txBody>
      </p:sp>
      <p:sp>
        <p:nvSpPr>
          <p:cNvPr id="386" name="Google Shape;386;p31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676650"/>
            <a:ext cx="112204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2"/>
          <p:cNvSpPr txBox="1"/>
          <p:nvPr/>
        </p:nvSpPr>
        <p:spPr>
          <a:xfrm>
            <a:off x="485775" y="1371600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21st.dev Workflow</a:t>
            </a:r>
            <a:endParaRPr/>
          </a:p>
        </p:txBody>
      </p:sp>
      <p:sp>
        <p:nvSpPr>
          <p:cNvPr id="395" name="Google Shape;395;p32"/>
          <p:cNvSpPr txBox="1"/>
          <p:nvPr/>
        </p:nvSpPr>
        <p:spPr>
          <a:xfrm>
            <a:off x="619125" y="19907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6" name="Google Shape;396;p32"/>
          <p:cNvSpPr txBox="1"/>
          <p:nvPr/>
        </p:nvSpPr>
        <p:spPr>
          <a:xfrm>
            <a:off x="723900" y="1990725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Find a component on 21st.dev.</a:t>
            </a:r>
            <a:endParaRPr/>
          </a:p>
        </p:txBody>
      </p:sp>
      <p:sp>
        <p:nvSpPr>
          <p:cNvPr id="397" name="Google Shape;397;p32"/>
          <p:cNvSpPr txBox="1"/>
          <p:nvPr/>
        </p:nvSpPr>
        <p:spPr>
          <a:xfrm>
            <a:off x="619125" y="24384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8" name="Google Shape;398;p32"/>
          <p:cNvSpPr txBox="1"/>
          <p:nvPr/>
        </p:nvSpPr>
        <p:spPr>
          <a:xfrm>
            <a:off x="723900" y="2438400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Copy: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Copy the provided detailed prompt/code.</a:t>
            </a:r>
            <a:endParaRPr/>
          </a:p>
        </p:txBody>
      </p:sp>
      <p:sp>
        <p:nvSpPr>
          <p:cNvPr id="399" name="Google Shape;399;p32"/>
          <p:cNvSpPr txBox="1"/>
          <p:nvPr/>
        </p:nvSpPr>
        <p:spPr>
          <a:xfrm>
            <a:off x="619125" y="28860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0" name="Google Shape;400;p32"/>
          <p:cNvSpPr txBox="1"/>
          <p:nvPr/>
        </p:nvSpPr>
        <p:spPr>
          <a:xfrm>
            <a:off x="723900" y="2886075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Paste: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Add to Lovable with a locator:</a:t>
            </a:r>
            <a:endParaRPr/>
          </a:p>
        </p:txBody>
      </p:sp>
      <p:sp>
        <p:nvSpPr>
          <p:cNvPr id="401" name="Google Shape;401;p32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EFFICIENCY</a:t>
            </a:r>
            <a:endParaRPr/>
          </a:p>
        </p:txBody>
      </p:sp>
      <p:sp>
        <p:nvSpPr>
          <p:cNvPr id="402" name="Google Shape;402;p32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Don't reinvent the wheel. Use pre-made, high-quality component prompts.</a:t>
            </a:r>
            <a:endParaRPr/>
          </a:p>
        </p:txBody>
      </p:sp>
      <p:sp>
        <p:nvSpPr>
          <p:cNvPr id="403" name="Google Shape;403;p32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External Components</a:t>
            </a:r>
            <a:endParaRPr/>
          </a:p>
        </p:txBody>
      </p:sp>
      <p:sp>
        <p:nvSpPr>
          <p:cNvPr id="404" name="Google Shape;404;p32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28787"/>
            <a:ext cx="53721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3"/>
          <p:cNvSpPr txBox="1"/>
          <p:nvPr/>
        </p:nvSpPr>
        <p:spPr>
          <a:xfrm>
            <a:off x="485775" y="2838450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Adding "Juice"</a:t>
            </a:r>
            <a:endParaRPr/>
          </a:p>
        </p:txBody>
      </p:sp>
      <p:sp>
        <p:nvSpPr>
          <p:cNvPr id="412" name="Google Shape;412;p33"/>
          <p:cNvSpPr txBox="1"/>
          <p:nvPr/>
        </p:nvSpPr>
        <p:spPr>
          <a:xfrm>
            <a:off x="485775" y="3352800"/>
            <a:ext cx="5372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 for "Hero Animations" or "Fade-in effects" to make the app feel alive.</a:t>
            </a:r>
            <a:endParaRPr/>
          </a:p>
        </p:txBody>
      </p:sp>
      <p:sp>
        <p:nvSpPr>
          <p:cNvPr id="413" name="Google Shape;413;p33"/>
          <p:cNvSpPr txBox="1"/>
          <p:nvPr/>
        </p:nvSpPr>
        <p:spPr>
          <a:xfrm>
            <a:off x="485775" y="4152900"/>
            <a:ext cx="5372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Warning: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Complex animations can impact performance. Always check mobile responsiveness.</a:t>
            </a:r>
            <a:endParaRPr/>
          </a:p>
        </p:txBody>
      </p:sp>
      <p:pic>
        <p:nvPicPr>
          <p:cNvPr id="414" name="Google Shape;414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38312"/>
            <a:ext cx="5353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3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Animations &amp; Motion</a:t>
            </a:r>
            <a:endParaRPr/>
          </a:p>
        </p:txBody>
      </p:sp>
      <p:sp>
        <p:nvSpPr>
          <p:cNvPr id="416" name="Google Shape;416;p33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2476500"/>
            <a:ext cx="3549550" cy="1938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21075" y="2476500"/>
            <a:ext cx="3549699" cy="1938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56525" y="2476500"/>
            <a:ext cx="3549550" cy="193863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4"/>
          <p:cNvSpPr txBox="1"/>
          <p:nvPr/>
        </p:nvSpPr>
        <p:spPr>
          <a:xfrm>
            <a:off x="485775" y="1371600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Persistent Context</a:t>
            </a:r>
            <a:endParaRPr/>
          </a:p>
        </p:txBody>
      </p:sp>
      <p:sp>
        <p:nvSpPr>
          <p:cNvPr id="427" name="Google Shape;427;p34"/>
          <p:cNvSpPr txBox="1"/>
          <p:nvPr/>
        </p:nvSpPr>
        <p:spPr>
          <a:xfrm>
            <a:off x="485775" y="2028825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global rules the AI must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always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follow.</a:t>
            </a:r>
            <a:endParaRPr/>
          </a:p>
        </p:txBody>
      </p:sp>
      <p:sp>
        <p:nvSpPr>
          <p:cNvPr id="428" name="Google Shape;428;p34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CONSISTENCY</a:t>
            </a:r>
            <a:endParaRPr/>
          </a:p>
        </p:txBody>
      </p:sp>
      <p:sp>
        <p:nvSpPr>
          <p:cNvPr id="429" name="Google Shape;429;p34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Prevents you from repeating the same style instructions in every single prompt.</a:t>
            </a:r>
            <a:endParaRPr/>
          </a:p>
        </p:txBody>
      </p:sp>
      <p:sp>
        <p:nvSpPr>
          <p:cNvPr id="430" name="Google Shape;430;p34"/>
          <p:cNvSpPr txBox="1"/>
          <p:nvPr/>
        </p:nvSpPr>
        <p:spPr>
          <a:xfrm>
            <a:off x="781050" y="2974330"/>
            <a:ext cx="3106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Rule 1</a:t>
            </a:r>
            <a:endParaRPr/>
          </a:p>
        </p:txBody>
      </p:sp>
      <p:sp>
        <p:nvSpPr>
          <p:cNvPr id="431" name="Google Shape;431;p34"/>
          <p:cNvSpPr txBox="1"/>
          <p:nvPr/>
        </p:nvSpPr>
        <p:spPr>
          <a:xfrm>
            <a:off x="781050" y="3367385"/>
            <a:ext cx="295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"Always support Dark Mode."</a:t>
            </a:r>
            <a:endParaRPr/>
          </a:p>
        </p:txBody>
      </p:sp>
      <p:sp>
        <p:nvSpPr>
          <p:cNvPr id="432" name="Google Shape;432;p34"/>
          <p:cNvSpPr txBox="1"/>
          <p:nvPr/>
        </p:nvSpPr>
        <p:spPr>
          <a:xfrm>
            <a:off x="4616350" y="2974330"/>
            <a:ext cx="310710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Rule 2</a:t>
            </a:r>
            <a:endParaRPr/>
          </a:p>
        </p:txBody>
      </p:sp>
      <p:sp>
        <p:nvSpPr>
          <p:cNvPr id="433" name="Google Shape;433;p34"/>
          <p:cNvSpPr txBox="1"/>
          <p:nvPr/>
        </p:nvSpPr>
        <p:spPr>
          <a:xfrm>
            <a:off x="4616350" y="3367385"/>
            <a:ext cx="29591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"Use rounded corners (20px)."</a:t>
            </a:r>
            <a:endParaRPr/>
          </a:p>
        </p:txBody>
      </p:sp>
      <p:sp>
        <p:nvSpPr>
          <p:cNvPr id="434" name="Google Shape;434;p34"/>
          <p:cNvSpPr txBox="1"/>
          <p:nvPr/>
        </p:nvSpPr>
        <p:spPr>
          <a:xfrm>
            <a:off x="8451800" y="2974330"/>
            <a:ext cx="3106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Rule 3</a:t>
            </a:r>
            <a:endParaRPr/>
          </a:p>
        </p:txBody>
      </p:sp>
      <p:sp>
        <p:nvSpPr>
          <p:cNvPr id="435" name="Google Shape;435;p34"/>
          <p:cNvSpPr txBox="1"/>
          <p:nvPr/>
        </p:nvSpPr>
        <p:spPr>
          <a:xfrm>
            <a:off x="8451800" y="3367385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"Primary Brand Color is #FF5733."</a:t>
            </a:r>
            <a:endParaRPr/>
          </a:p>
        </p:txBody>
      </p:sp>
      <p:sp>
        <p:nvSpPr>
          <p:cNvPr id="436" name="Google Shape;436;p34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Project Knowledge</a:t>
            </a:r>
            <a:endParaRPr/>
          </a:p>
        </p:txBody>
      </p:sp>
      <p:sp>
        <p:nvSpPr>
          <p:cNvPr id="437" name="Google Shape;437;p34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28787"/>
            <a:ext cx="53721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5"/>
          <p:cNvSpPr txBox="1"/>
          <p:nvPr/>
        </p:nvSpPr>
        <p:spPr>
          <a:xfrm>
            <a:off x="485775" y="2805112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Image Upload</a:t>
            </a:r>
            <a:endParaRPr/>
          </a:p>
        </p:txBody>
      </p:sp>
      <p:pic>
        <p:nvPicPr>
          <p:cNvPr id="445" name="Google Shape;445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38312"/>
            <a:ext cx="5353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5"/>
          <p:cNvSpPr txBox="1"/>
          <p:nvPr/>
        </p:nvSpPr>
        <p:spPr>
          <a:xfrm>
            <a:off x="619125" y="32813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7" name="Google Shape;447;p35"/>
          <p:cNvSpPr txBox="1"/>
          <p:nvPr/>
        </p:nvSpPr>
        <p:spPr>
          <a:xfrm>
            <a:off x="723900" y="3281362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Upload a screenshot or Figma export.</a:t>
            </a:r>
            <a:endParaRPr/>
          </a:p>
        </p:txBody>
      </p:sp>
      <p:sp>
        <p:nvSpPr>
          <p:cNvPr id="448" name="Google Shape;448;p35"/>
          <p:cNvSpPr txBox="1"/>
          <p:nvPr/>
        </p:nvSpPr>
        <p:spPr>
          <a:xfrm>
            <a:off x="619125" y="37290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9" name="Google Shape;449;p35"/>
          <p:cNvSpPr txBox="1"/>
          <p:nvPr/>
        </p:nvSpPr>
        <p:spPr>
          <a:xfrm>
            <a:off x="723900" y="3729037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"Make the layout look exactly like this image."</a:t>
            </a:r>
            <a:endParaRPr/>
          </a:p>
        </p:txBody>
      </p:sp>
      <p:sp>
        <p:nvSpPr>
          <p:cNvPr id="450" name="Google Shape;450;p35"/>
          <p:cNvSpPr txBox="1"/>
          <p:nvPr/>
        </p:nvSpPr>
        <p:spPr>
          <a:xfrm>
            <a:off x="619125" y="41767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51" name="Google Shape;451;p35"/>
          <p:cNvSpPr txBox="1"/>
          <p:nvPr/>
        </p:nvSpPr>
        <p:spPr>
          <a:xfrm>
            <a:off x="723900" y="4176712"/>
            <a:ext cx="5133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Lovable analyzes the visual structure and replicates it in code.</a:t>
            </a:r>
            <a:endParaRPr/>
          </a:p>
        </p:txBody>
      </p:sp>
      <p:sp>
        <p:nvSpPr>
          <p:cNvPr id="452" name="Google Shape;452;p35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Design to Code</a:t>
            </a:r>
            <a:endParaRPr/>
          </a:p>
        </p:txBody>
      </p:sp>
      <p:sp>
        <p:nvSpPr>
          <p:cNvPr id="453" name="Google Shape;453;p35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485775"/>
            <a:ext cx="11220450" cy="588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6"/>
          <p:cNvSpPr txBox="1"/>
          <p:nvPr/>
        </p:nvSpPr>
        <p:spPr>
          <a:xfrm>
            <a:off x="3120628" y="2241202"/>
            <a:ext cx="595074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Version Control</a:t>
            </a:r>
            <a:endParaRPr/>
          </a:p>
        </p:txBody>
      </p:sp>
      <p:sp>
        <p:nvSpPr>
          <p:cNvPr id="461" name="Google Shape;461;p36"/>
          <p:cNvSpPr/>
          <p:nvPr/>
        </p:nvSpPr>
        <p:spPr>
          <a:xfrm>
            <a:off x="5619750" y="3555652"/>
            <a:ext cx="952500" cy="381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6"/>
          <p:cNvSpPr txBox="1"/>
          <p:nvPr/>
        </p:nvSpPr>
        <p:spPr>
          <a:xfrm>
            <a:off x="4652962" y="4108102"/>
            <a:ext cx="28860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Moving beyond "toy" apps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728787"/>
            <a:ext cx="53721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5300" y="1738312"/>
            <a:ext cx="5353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7"/>
          <p:cNvSpPr txBox="1"/>
          <p:nvPr/>
        </p:nvSpPr>
        <p:spPr>
          <a:xfrm>
            <a:off x="6334125" y="2562225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Setup Steps</a:t>
            </a:r>
            <a:endParaRPr/>
          </a:p>
        </p:txBody>
      </p:sp>
      <p:sp>
        <p:nvSpPr>
          <p:cNvPr id="471" name="Google Shape;471;p37"/>
          <p:cNvSpPr txBox="1"/>
          <p:nvPr/>
        </p:nvSpPr>
        <p:spPr>
          <a:xfrm>
            <a:off x="6334125" y="4429125"/>
            <a:ext cx="5372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ensures you have a backup and true ownership of your code.</a:t>
            </a:r>
            <a:endParaRPr/>
          </a:p>
        </p:txBody>
      </p:sp>
      <p:sp>
        <p:nvSpPr>
          <p:cNvPr id="472" name="Google Shape;472;p37"/>
          <p:cNvSpPr txBox="1"/>
          <p:nvPr/>
        </p:nvSpPr>
        <p:spPr>
          <a:xfrm>
            <a:off x="6581775" y="303847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473" name="Google Shape;473;p37"/>
          <p:cNvSpPr txBox="1"/>
          <p:nvPr/>
        </p:nvSpPr>
        <p:spPr>
          <a:xfrm>
            <a:off x="6715125" y="303847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Click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Sync to GitHub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button in header.</a:t>
            </a:r>
            <a:endParaRPr/>
          </a:p>
        </p:txBody>
      </p:sp>
      <p:sp>
        <p:nvSpPr>
          <p:cNvPr id="474" name="Google Shape;474;p37"/>
          <p:cNvSpPr txBox="1"/>
          <p:nvPr/>
        </p:nvSpPr>
        <p:spPr>
          <a:xfrm>
            <a:off x="6543675" y="348615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475" name="Google Shape;475;p37"/>
          <p:cNvSpPr txBox="1"/>
          <p:nvPr/>
        </p:nvSpPr>
        <p:spPr>
          <a:xfrm>
            <a:off x="6715125" y="3486150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Connect your GitHub account.</a:t>
            </a:r>
            <a:endParaRPr/>
          </a:p>
        </p:txBody>
      </p:sp>
      <p:sp>
        <p:nvSpPr>
          <p:cNvPr id="476" name="Google Shape;476;p37"/>
          <p:cNvSpPr txBox="1"/>
          <p:nvPr/>
        </p:nvSpPr>
        <p:spPr>
          <a:xfrm>
            <a:off x="6543675" y="393382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477" name="Google Shape;477;p37"/>
          <p:cNvSpPr txBox="1"/>
          <p:nvPr/>
        </p:nvSpPr>
        <p:spPr>
          <a:xfrm>
            <a:off x="6715125" y="393382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Create a new repository.</a:t>
            </a:r>
            <a:endParaRPr/>
          </a:p>
        </p:txBody>
      </p:sp>
      <p:sp>
        <p:nvSpPr>
          <p:cNvPr id="478" name="Google Shape;478;p37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Connecting GitHub</a:t>
            </a:r>
            <a:endParaRPr/>
          </a:p>
        </p:txBody>
      </p:sp>
      <p:sp>
        <p:nvSpPr>
          <p:cNvPr id="479" name="Google Shape;479;p37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819400"/>
            <a:ext cx="546735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819400"/>
            <a:ext cx="54673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8"/>
          <p:cNvSpPr txBox="1"/>
          <p:nvPr/>
        </p:nvSpPr>
        <p:spPr>
          <a:xfrm>
            <a:off x="659129" y="3114675"/>
            <a:ext cx="512064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Lovable → GitHub</a:t>
            </a:r>
            <a:endParaRPr/>
          </a:p>
        </p:txBody>
      </p:sp>
      <p:sp>
        <p:nvSpPr>
          <p:cNvPr id="488" name="Google Shape;488;p38"/>
          <p:cNvSpPr txBox="1"/>
          <p:nvPr/>
        </p:nvSpPr>
        <p:spPr>
          <a:xfrm>
            <a:off x="781050" y="3876675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Push changes from the AI builder to your repo.</a:t>
            </a:r>
            <a:endParaRPr/>
          </a:p>
        </p:txBody>
      </p:sp>
      <p:sp>
        <p:nvSpPr>
          <p:cNvPr id="489" name="Google Shape;489;p38"/>
          <p:cNvSpPr txBox="1"/>
          <p:nvPr/>
        </p:nvSpPr>
        <p:spPr>
          <a:xfrm>
            <a:off x="6412230" y="3114675"/>
            <a:ext cx="512064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GitHub → Lovable</a:t>
            </a:r>
            <a:endParaRPr/>
          </a:p>
        </p:txBody>
      </p:sp>
      <p:sp>
        <p:nvSpPr>
          <p:cNvPr id="490" name="Google Shape;490;p38"/>
          <p:cNvSpPr txBox="1"/>
          <p:nvPr/>
        </p:nvSpPr>
        <p:spPr>
          <a:xfrm>
            <a:off x="6534150" y="3876675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Edit code in VS Code, push to Git, and Lovable updates its preview.</a:t>
            </a:r>
            <a:endParaRPr/>
          </a:p>
        </p:txBody>
      </p:sp>
      <p:pic>
        <p:nvPicPr>
          <p:cNvPr id="491" name="Google Shape;491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76425" y="311467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9525" y="311467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8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Two-Way Sync</a:t>
            </a:r>
            <a:endParaRPr/>
          </a:p>
        </p:txBody>
      </p:sp>
      <p:sp>
        <p:nvSpPr>
          <p:cNvPr id="494" name="Google Shape;494;p38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667000"/>
            <a:ext cx="112204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9"/>
          <p:cNvSpPr txBox="1"/>
          <p:nvPr/>
        </p:nvSpPr>
        <p:spPr>
          <a:xfrm>
            <a:off x="485775" y="1371600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"Blank Preview" Bug</a:t>
            </a:r>
            <a:endParaRPr/>
          </a:p>
        </p:txBody>
      </p:sp>
      <p:sp>
        <p:nvSpPr>
          <p:cNvPr id="503" name="Google Shape;503;p39"/>
          <p:cNvSpPr txBox="1"/>
          <p:nvPr/>
        </p:nvSpPr>
        <p:spPr>
          <a:xfrm>
            <a:off x="485775" y="2028825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Sometimes connecting Git can reset the preview state.</a:t>
            </a:r>
            <a:endParaRPr/>
          </a:p>
        </p:txBody>
      </p:sp>
      <p:sp>
        <p:nvSpPr>
          <p:cNvPr id="504" name="Google Shape;504;p39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SELF-HEALING</a:t>
            </a:r>
            <a:endParaRPr/>
          </a:p>
        </p:txBody>
      </p:sp>
      <p:sp>
        <p:nvSpPr>
          <p:cNvPr id="505" name="Google Shape;505;p39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Lovable can usually diagnose its own build errors if prompted correctly.</a:t>
            </a:r>
            <a:endParaRPr/>
          </a:p>
        </p:txBody>
      </p:sp>
      <p:sp>
        <p:nvSpPr>
          <p:cNvPr id="506" name="Google Shape;506;p39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Troubleshooting Sync</a:t>
            </a:r>
            <a:endParaRPr/>
          </a:p>
        </p:txBody>
      </p:sp>
      <p:sp>
        <p:nvSpPr>
          <p:cNvPr id="507" name="Google Shape;507;p39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0"/>
          <p:cNvSpPr txBox="1"/>
          <p:nvPr/>
        </p:nvSpPr>
        <p:spPr>
          <a:xfrm>
            <a:off x="485775" y="2814637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No Vendor Lock-in</a:t>
            </a:r>
            <a:endParaRPr/>
          </a:p>
        </p:txBody>
      </p:sp>
      <p:sp>
        <p:nvSpPr>
          <p:cNvPr id="514" name="Google Shape;514;p40"/>
          <p:cNvSpPr txBox="1"/>
          <p:nvPr/>
        </p:nvSpPr>
        <p:spPr>
          <a:xfrm>
            <a:off x="619125" y="34337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15" name="Google Shape;515;p40"/>
          <p:cNvSpPr txBox="1"/>
          <p:nvPr/>
        </p:nvSpPr>
        <p:spPr>
          <a:xfrm>
            <a:off x="723900" y="3433762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can download the full source code as a ZIP.</a:t>
            </a:r>
            <a:endParaRPr/>
          </a:p>
        </p:txBody>
      </p:sp>
      <p:sp>
        <p:nvSpPr>
          <p:cNvPr id="516" name="Google Shape;516;p40"/>
          <p:cNvSpPr txBox="1"/>
          <p:nvPr/>
        </p:nvSpPr>
        <p:spPr>
          <a:xfrm>
            <a:off x="619125" y="38814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17" name="Google Shape;517;p40"/>
          <p:cNvSpPr txBox="1"/>
          <p:nvPr/>
        </p:nvSpPr>
        <p:spPr>
          <a:xfrm>
            <a:off x="723900" y="3881437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Stack: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Vite, React, Tailwind CSS, Supabase.</a:t>
            </a:r>
            <a:endParaRPr/>
          </a:p>
        </p:txBody>
      </p:sp>
      <p:sp>
        <p:nvSpPr>
          <p:cNvPr id="518" name="Google Shape;518;p40"/>
          <p:cNvSpPr txBox="1"/>
          <p:nvPr/>
        </p:nvSpPr>
        <p:spPr>
          <a:xfrm>
            <a:off x="619125" y="43291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19" name="Google Shape;519;p40"/>
          <p:cNvSpPr txBox="1"/>
          <p:nvPr/>
        </p:nvSpPr>
        <p:spPr>
          <a:xfrm>
            <a:off x="723900" y="4329112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can host this code on Vercel, Netlify, or AWS without Lovable.</a:t>
            </a:r>
            <a:endParaRPr/>
          </a:p>
        </p:txBody>
      </p:sp>
      <p:sp>
        <p:nvSpPr>
          <p:cNvPr id="520" name="Google Shape;520;p40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Code Export</a:t>
            </a:r>
            <a:endParaRPr/>
          </a:p>
        </p:txBody>
      </p:sp>
      <p:sp>
        <p:nvSpPr>
          <p:cNvPr id="521" name="Google Shape;521;p40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485775"/>
            <a:ext cx="11220450" cy="588645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41"/>
          <p:cNvSpPr txBox="1"/>
          <p:nvPr/>
        </p:nvSpPr>
        <p:spPr>
          <a:xfrm>
            <a:off x="3610689" y="2241202"/>
            <a:ext cx="4970621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The Backend</a:t>
            </a:r>
            <a:endParaRPr/>
          </a:p>
        </p:txBody>
      </p:sp>
      <p:sp>
        <p:nvSpPr>
          <p:cNvPr id="529" name="Google Shape;529;p41"/>
          <p:cNvSpPr/>
          <p:nvPr/>
        </p:nvSpPr>
        <p:spPr>
          <a:xfrm>
            <a:off x="5619750" y="3555652"/>
            <a:ext cx="952500" cy="381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1"/>
          <p:cNvSpPr txBox="1"/>
          <p:nvPr/>
        </p:nvSpPr>
        <p:spPr>
          <a:xfrm>
            <a:off x="4138612" y="4108102"/>
            <a:ext cx="39147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Database, Auth, and Edge Functions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728787"/>
            <a:ext cx="53721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5300" y="1738312"/>
            <a:ext cx="5353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42"/>
          <p:cNvSpPr txBox="1"/>
          <p:nvPr/>
        </p:nvSpPr>
        <p:spPr>
          <a:xfrm>
            <a:off x="6334125" y="2562225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One-Click Connect</a:t>
            </a:r>
            <a:endParaRPr/>
          </a:p>
        </p:txBody>
      </p:sp>
      <p:sp>
        <p:nvSpPr>
          <p:cNvPr id="539" name="Google Shape;539;p42"/>
          <p:cNvSpPr txBox="1"/>
          <p:nvPr/>
        </p:nvSpPr>
        <p:spPr>
          <a:xfrm>
            <a:off x="6334125" y="4429125"/>
            <a:ext cx="5372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provisions a full Postgres database connected to your app.</a:t>
            </a:r>
            <a:endParaRPr/>
          </a:p>
        </p:txBody>
      </p:sp>
      <p:sp>
        <p:nvSpPr>
          <p:cNvPr id="540" name="Google Shape;540;p42"/>
          <p:cNvSpPr txBox="1"/>
          <p:nvPr/>
        </p:nvSpPr>
        <p:spPr>
          <a:xfrm>
            <a:off x="6581775" y="303847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541" name="Google Shape;541;p42"/>
          <p:cNvSpPr txBox="1"/>
          <p:nvPr/>
        </p:nvSpPr>
        <p:spPr>
          <a:xfrm>
            <a:off x="6715125" y="303847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Click the Supabase icon in Lovable.</a:t>
            </a:r>
            <a:endParaRPr/>
          </a:p>
        </p:txBody>
      </p:sp>
      <p:sp>
        <p:nvSpPr>
          <p:cNvPr id="542" name="Google Shape;542;p42"/>
          <p:cNvSpPr txBox="1"/>
          <p:nvPr/>
        </p:nvSpPr>
        <p:spPr>
          <a:xfrm>
            <a:off x="6543675" y="348615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543" name="Google Shape;543;p42"/>
          <p:cNvSpPr txBox="1"/>
          <p:nvPr/>
        </p:nvSpPr>
        <p:spPr>
          <a:xfrm>
            <a:off x="6715125" y="3486150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Create a new project (Select Region).</a:t>
            </a:r>
            <a:endParaRPr/>
          </a:p>
        </p:txBody>
      </p:sp>
      <p:sp>
        <p:nvSpPr>
          <p:cNvPr id="544" name="Google Shape;544;p42"/>
          <p:cNvSpPr txBox="1"/>
          <p:nvPr/>
        </p:nvSpPr>
        <p:spPr>
          <a:xfrm>
            <a:off x="6543675" y="393382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545" name="Google Shape;545;p42"/>
          <p:cNvSpPr txBox="1"/>
          <p:nvPr/>
        </p:nvSpPr>
        <p:spPr>
          <a:xfrm>
            <a:off x="6715125" y="393382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Set a database password.</a:t>
            </a:r>
            <a:endParaRPr/>
          </a:p>
        </p:txBody>
      </p:sp>
      <p:sp>
        <p:nvSpPr>
          <p:cNvPr id="546" name="Google Shape;546;p42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Integrating Supabase</a:t>
            </a:r>
            <a:endParaRPr/>
          </a:p>
        </p:txBody>
      </p:sp>
      <p:sp>
        <p:nvSpPr>
          <p:cNvPr id="547" name="Google Shape;547;p42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28787"/>
            <a:ext cx="53721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3357562"/>
            <a:ext cx="537210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43"/>
          <p:cNvSpPr txBox="1"/>
          <p:nvPr/>
        </p:nvSpPr>
        <p:spPr>
          <a:xfrm>
            <a:off x="485775" y="2843212"/>
            <a:ext cx="56407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User Management</a:t>
            </a:r>
            <a:endParaRPr/>
          </a:p>
        </p:txBody>
      </p:sp>
      <p:sp>
        <p:nvSpPr>
          <p:cNvPr id="556" name="Google Shape;556;p43"/>
          <p:cNvSpPr txBox="1"/>
          <p:nvPr/>
        </p:nvSpPr>
        <p:spPr>
          <a:xfrm>
            <a:off x="485775" y="4148137"/>
            <a:ext cx="5372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Lovable will auto-generate the Login/Register forms and handle the Supabase Auth logic.</a:t>
            </a:r>
            <a:endParaRPr/>
          </a:p>
        </p:txBody>
      </p:sp>
      <p:pic>
        <p:nvPicPr>
          <p:cNvPr id="557" name="Google Shape;557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1738312"/>
            <a:ext cx="5353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3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Authentication Flow</a:t>
            </a:r>
            <a:endParaRPr/>
          </a:p>
        </p:txBody>
      </p:sp>
      <p:sp>
        <p:nvSpPr>
          <p:cNvPr id="559" name="Google Shape;559;p43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486150"/>
            <a:ext cx="1122045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4"/>
          <p:cNvSpPr txBox="1"/>
          <p:nvPr/>
        </p:nvSpPr>
        <p:spPr>
          <a:xfrm>
            <a:off x="485775" y="2828925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Access Control</a:t>
            </a:r>
            <a:endParaRPr/>
          </a:p>
        </p:txBody>
      </p:sp>
      <p:sp>
        <p:nvSpPr>
          <p:cNvPr id="567" name="Google Shape;567;p44"/>
          <p:cNvSpPr txBox="1"/>
          <p:nvPr/>
        </p:nvSpPr>
        <p:spPr>
          <a:xfrm>
            <a:off x="485775" y="4467225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Test Strategy: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Try to access the URL in an Incognito window. You should be redirected to Login.</a:t>
            </a:r>
            <a:endParaRPr/>
          </a:p>
        </p:txBody>
      </p:sp>
      <p:sp>
        <p:nvSpPr>
          <p:cNvPr id="568" name="Google Shape;568;p44"/>
          <p:cNvSpPr txBox="1"/>
          <p:nvPr/>
        </p:nvSpPr>
        <p:spPr>
          <a:xfrm>
            <a:off x="676275" y="3371850"/>
            <a:ext cx="4000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PROMPT</a:t>
            </a:r>
            <a:endParaRPr/>
          </a:p>
        </p:txBody>
      </p:sp>
      <p:pic>
        <p:nvPicPr>
          <p:cNvPr id="569" name="Google Shape;569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3050" y="3657600"/>
            <a:ext cx="10953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44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Protecting Routes</a:t>
            </a:r>
            <a:endParaRPr/>
          </a:p>
        </p:txBody>
      </p:sp>
      <p:sp>
        <p:nvSpPr>
          <p:cNvPr id="571" name="Google Shape;571;p44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893069"/>
            <a:ext cx="112204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3874144"/>
            <a:ext cx="11220450" cy="1633835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5"/>
          <p:cNvSpPr txBox="1"/>
          <p:nvPr/>
        </p:nvSpPr>
        <p:spPr>
          <a:xfrm>
            <a:off x="485775" y="2235844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Persistence</a:t>
            </a:r>
            <a:endParaRPr/>
          </a:p>
        </p:txBody>
      </p:sp>
      <p:sp>
        <p:nvSpPr>
          <p:cNvPr id="580" name="Google Shape;580;p45"/>
          <p:cNvSpPr txBox="1"/>
          <p:nvPr/>
        </p:nvSpPr>
        <p:spPr>
          <a:xfrm>
            <a:off x="781050" y="4371975"/>
            <a:ext cx="1116139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Migrations</a:t>
            </a:r>
            <a:endParaRPr/>
          </a:p>
        </p:txBody>
      </p:sp>
      <p:sp>
        <p:nvSpPr>
          <p:cNvPr id="581" name="Google Shape;581;p45"/>
          <p:cNvSpPr txBox="1"/>
          <p:nvPr/>
        </p:nvSpPr>
        <p:spPr>
          <a:xfrm>
            <a:off x="781050" y="4765030"/>
            <a:ext cx="10629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Lovable will generate SQL migrations.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Review them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(check table names/fields) before clicking "Apply".</a:t>
            </a:r>
            <a:endParaRPr/>
          </a:p>
        </p:txBody>
      </p:sp>
      <p:sp>
        <p:nvSpPr>
          <p:cNvPr id="582" name="Google Shape;582;p45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Database Logic &amp; Migrations</a:t>
            </a:r>
            <a:endParaRPr/>
          </a:p>
        </p:txBody>
      </p:sp>
      <p:sp>
        <p:nvSpPr>
          <p:cNvPr id="583" name="Google Shape;583;p45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667000"/>
            <a:ext cx="112204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6"/>
          <p:cNvSpPr txBox="1"/>
          <p:nvPr/>
        </p:nvSpPr>
        <p:spPr>
          <a:xfrm>
            <a:off x="485775" y="1371600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Data Privacy</a:t>
            </a:r>
            <a:endParaRPr/>
          </a:p>
        </p:txBody>
      </p:sp>
      <p:sp>
        <p:nvSpPr>
          <p:cNvPr id="592" name="Google Shape;592;p46"/>
          <p:cNvSpPr txBox="1"/>
          <p:nvPr/>
        </p:nvSpPr>
        <p:spPr>
          <a:xfrm>
            <a:off x="485775" y="2028825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Concept: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"Users can only see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their own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data."</a:t>
            </a:r>
            <a:endParaRPr/>
          </a:p>
        </p:txBody>
      </p:sp>
      <p:sp>
        <p:nvSpPr>
          <p:cNvPr id="593" name="Google Shape;593;p46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CRITICAL</a:t>
            </a:r>
            <a:endParaRPr/>
          </a:p>
        </p:txBody>
      </p:sp>
      <p:sp>
        <p:nvSpPr>
          <p:cNvPr id="594" name="Google Shape;594;p46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Without RLS, any user could potentially query the entire database.</a:t>
            </a:r>
            <a:endParaRPr/>
          </a:p>
        </p:txBody>
      </p:sp>
      <p:sp>
        <p:nvSpPr>
          <p:cNvPr id="595" name="Google Shape;595;p46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Row Level Security (RLS)</a:t>
            </a:r>
            <a:endParaRPr/>
          </a:p>
        </p:txBody>
      </p:sp>
      <p:sp>
        <p:nvSpPr>
          <p:cNvPr id="596" name="Google Shape;596;p46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486150"/>
            <a:ext cx="1122045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7"/>
          <p:cNvSpPr txBox="1"/>
          <p:nvPr/>
        </p:nvSpPr>
        <p:spPr>
          <a:xfrm>
            <a:off x="485775" y="2828925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Connecting Frontend to Backend</a:t>
            </a:r>
            <a:endParaRPr/>
          </a:p>
        </p:txBody>
      </p:sp>
      <p:sp>
        <p:nvSpPr>
          <p:cNvPr id="604" name="Google Shape;604;p47"/>
          <p:cNvSpPr txBox="1"/>
          <p:nvPr/>
        </p:nvSpPr>
        <p:spPr>
          <a:xfrm>
            <a:off x="485775" y="4467225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confirms the read/write loop is working: App → DB → App.</a:t>
            </a:r>
            <a:endParaRPr/>
          </a:p>
        </p:txBody>
      </p:sp>
      <p:sp>
        <p:nvSpPr>
          <p:cNvPr id="605" name="Google Shape;605;p47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Building a History Feature</a:t>
            </a:r>
            <a:endParaRPr/>
          </a:p>
        </p:txBody>
      </p:sp>
      <p:sp>
        <p:nvSpPr>
          <p:cNvPr id="606" name="Google Shape;606;p47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505075"/>
            <a:ext cx="35495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2505075"/>
            <a:ext cx="3549699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4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" y="28003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8"/>
          <p:cNvSpPr txBox="1"/>
          <p:nvPr/>
        </p:nvSpPr>
        <p:spPr>
          <a:xfrm>
            <a:off x="781050" y="3371850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Email Confirmation</a:t>
            </a:r>
            <a:endParaRPr/>
          </a:p>
        </p:txBody>
      </p:sp>
      <p:sp>
        <p:nvSpPr>
          <p:cNvPr id="616" name="Google Shape;616;p48"/>
          <p:cNvSpPr txBox="1"/>
          <p:nvPr/>
        </p:nvSpPr>
        <p:spPr>
          <a:xfrm>
            <a:off x="781050" y="3886200"/>
            <a:ext cx="295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Sign-in might fail if the user hasn't verified their email (default Supabase setting).</a:t>
            </a:r>
            <a:endParaRPr/>
          </a:p>
        </p:txBody>
      </p:sp>
      <p:pic>
        <p:nvPicPr>
          <p:cNvPr id="617" name="Google Shape;617;p4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16350" y="28003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48"/>
          <p:cNvSpPr txBox="1"/>
          <p:nvPr/>
        </p:nvSpPr>
        <p:spPr>
          <a:xfrm>
            <a:off x="4616350" y="3371850"/>
            <a:ext cx="310710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RLS Blocks</a:t>
            </a:r>
            <a:endParaRPr/>
          </a:p>
        </p:txBody>
      </p:sp>
      <p:sp>
        <p:nvSpPr>
          <p:cNvPr id="619" name="Google Shape;619;p48"/>
          <p:cNvSpPr txBox="1"/>
          <p:nvPr/>
        </p:nvSpPr>
        <p:spPr>
          <a:xfrm>
            <a:off x="4616350" y="3886200"/>
            <a:ext cx="29591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data won't save, check if the RLS policy allows "INSERT" for authenticated users.</a:t>
            </a:r>
            <a:endParaRPr/>
          </a:p>
        </p:txBody>
      </p:sp>
      <p:sp>
        <p:nvSpPr>
          <p:cNvPr id="620" name="Google Shape;620;p48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Supabase "Gotchas"</a:t>
            </a:r>
            <a:endParaRPr/>
          </a:p>
        </p:txBody>
      </p:sp>
      <p:sp>
        <p:nvSpPr>
          <p:cNvPr id="621" name="Google Shape;621;p48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49"/>
          <p:cNvSpPr txBox="1"/>
          <p:nvPr/>
        </p:nvSpPr>
        <p:spPr>
          <a:xfrm>
            <a:off x="485775" y="3038475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Advanced Data Modeling</a:t>
            </a:r>
            <a:endParaRPr/>
          </a:p>
        </p:txBody>
      </p:sp>
      <p:sp>
        <p:nvSpPr>
          <p:cNvPr id="628" name="Google Shape;628;p49"/>
          <p:cNvSpPr txBox="1"/>
          <p:nvPr/>
        </p:nvSpPr>
        <p:spPr>
          <a:xfrm>
            <a:off x="619125" y="36576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29" name="Google Shape;629;p49"/>
          <p:cNvSpPr txBox="1"/>
          <p:nvPr/>
        </p:nvSpPr>
        <p:spPr>
          <a:xfrm>
            <a:off x="723900" y="3657600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Auth table is private. You need a public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profiles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table for avatars/names.</a:t>
            </a:r>
            <a:endParaRPr/>
          </a:p>
        </p:txBody>
      </p:sp>
      <p:sp>
        <p:nvSpPr>
          <p:cNvPr id="630" name="Google Shape;630;p49"/>
          <p:cNvSpPr txBox="1"/>
          <p:nvPr/>
        </p:nvSpPr>
        <p:spPr>
          <a:xfrm>
            <a:off x="619125" y="41052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31" name="Google Shape;631;p49"/>
          <p:cNvSpPr txBox="1"/>
          <p:nvPr/>
        </p:nvSpPr>
        <p:spPr>
          <a:xfrm>
            <a:off x="723900" y="4105275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"Create a profiles table linked to auth.users. Add avatar_url and username."</a:t>
            </a:r>
            <a:endParaRPr/>
          </a:p>
        </p:txBody>
      </p:sp>
      <p:sp>
        <p:nvSpPr>
          <p:cNvPr id="632" name="Google Shape;632;p49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Profiles &amp; User Data</a:t>
            </a:r>
            <a:endParaRPr/>
          </a:p>
        </p:txBody>
      </p:sp>
      <p:sp>
        <p:nvSpPr>
          <p:cNvPr id="633" name="Google Shape;633;p49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28787"/>
            <a:ext cx="53721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5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38312"/>
            <a:ext cx="53530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50"/>
          <p:cNvSpPr txBox="1"/>
          <p:nvPr/>
        </p:nvSpPr>
        <p:spPr>
          <a:xfrm>
            <a:off x="723900" y="3048000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Test all routes (Login, Home, App).</a:t>
            </a:r>
            <a:endParaRPr/>
          </a:p>
        </p:txBody>
      </p:sp>
      <p:sp>
        <p:nvSpPr>
          <p:cNvPr id="642" name="Google Shape;642;p50"/>
          <p:cNvSpPr txBox="1"/>
          <p:nvPr/>
        </p:nvSpPr>
        <p:spPr>
          <a:xfrm>
            <a:off x="723900" y="3495675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Check mobile responsiveness.</a:t>
            </a:r>
            <a:endParaRPr/>
          </a:p>
        </p:txBody>
      </p:sp>
      <p:sp>
        <p:nvSpPr>
          <p:cNvPr id="643" name="Google Shape;643;p50"/>
          <p:cNvSpPr txBox="1"/>
          <p:nvPr/>
        </p:nvSpPr>
        <p:spPr>
          <a:xfrm>
            <a:off x="723900" y="3943350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Verify Auth flow (Sign up new user).</a:t>
            </a:r>
            <a:endParaRPr/>
          </a:p>
        </p:txBody>
      </p:sp>
      <p:sp>
        <p:nvSpPr>
          <p:cNvPr id="644" name="Google Shape;644;p50"/>
          <p:cNvSpPr txBox="1"/>
          <p:nvPr/>
        </p:nvSpPr>
        <p:spPr>
          <a:xfrm>
            <a:off x="723900" y="4391025"/>
            <a:ext cx="5133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Check Browser Console for red errors.</a:t>
            </a:r>
            <a:endParaRPr/>
          </a:p>
        </p:txBody>
      </p:sp>
      <p:pic>
        <p:nvPicPr>
          <p:cNvPr id="645" name="Google Shape;645;p5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31003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5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35480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5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39957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5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44434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50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Pre-Deployment Checklist</a:t>
            </a:r>
            <a:endParaRPr/>
          </a:p>
        </p:txBody>
      </p:sp>
      <p:sp>
        <p:nvSpPr>
          <p:cNvPr id="650" name="Google Shape;650;p50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Google Shape;655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033712"/>
            <a:ext cx="3048000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1"/>
          <p:cNvSpPr txBox="1"/>
          <p:nvPr/>
        </p:nvSpPr>
        <p:spPr>
          <a:xfrm>
            <a:off x="485775" y="4262437"/>
            <a:ext cx="11220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Lovable builds the production assets and deploys to a hosted URL (lovable.app).</a:t>
            </a:r>
            <a:endParaRPr/>
          </a:p>
        </p:txBody>
      </p:sp>
      <p:sp>
        <p:nvSpPr>
          <p:cNvPr id="658" name="Google Shape;658;p51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Publishing</a:t>
            </a:r>
            <a:endParaRPr/>
          </a:p>
        </p:txBody>
      </p:sp>
      <p:sp>
        <p:nvSpPr>
          <p:cNvPr id="659" name="Google Shape;659;p51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52"/>
          <p:cNvSpPr txBox="1"/>
          <p:nvPr/>
        </p:nvSpPr>
        <p:spPr>
          <a:xfrm>
            <a:off x="485775" y="2814637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Professional Polish</a:t>
            </a:r>
            <a:endParaRPr/>
          </a:p>
        </p:txBody>
      </p:sp>
      <p:sp>
        <p:nvSpPr>
          <p:cNvPr id="666" name="Google Shape;666;p52"/>
          <p:cNvSpPr txBox="1"/>
          <p:nvPr/>
        </p:nvSpPr>
        <p:spPr>
          <a:xfrm>
            <a:off x="619125" y="34337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67" name="Google Shape;667;p52"/>
          <p:cNvSpPr txBox="1"/>
          <p:nvPr/>
        </p:nvSpPr>
        <p:spPr>
          <a:xfrm>
            <a:off x="723900" y="3433762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Domains: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Configure in Project Settings (CNAME records).</a:t>
            </a:r>
            <a:endParaRPr/>
          </a:p>
        </p:txBody>
      </p:sp>
      <p:sp>
        <p:nvSpPr>
          <p:cNvPr id="668" name="Google Shape;668;p52"/>
          <p:cNvSpPr txBox="1"/>
          <p:nvPr/>
        </p:nvSpPr>
        <p:spPr>
          <a:xfrm>
            <a:off x="619125" y="38814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69" name="Google Shape;669;p52"/>
          <p:cNvSpPr txBox="1"/>
          <p:nvPr/>
        </p:nvSpPr>
        <p:spPr>
          <a:xfrm>
            <a:off x="723900" y="3881437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SEO Prompt: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"Add meta description and title tags for SEO optimization."</a:t>
            </a:r>
            <a:endParaRPr/>
          </a:p>
        </p:txBody>
      </p:sp>
      <p:sp>
        <p:nvSpPr>
          <p:cNvPr id="670" name="Google Shape;670;p52"/>
          <p:cNvSpPr txBox="1"/>
          <p:nvPr/>
        </p:nvSpPr>
        <p:spPr>
          <a:xfrm>
            <a:off x="619125" y="43291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71" name="Google Shape;671;p52"/>
          <p:cNvSpPr txBox="1"/>
          <p:nvPr/>
        </p:nvSpPr>
        <p:spPr>
          <a:xfrm>
            <a:off x="723900" y="4329112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Social: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"Add Open Graph tags for social media sharing cards."</a:t>
            </a:r>
            <a:endParaRPr/>
          </a:p>
        </p:txBody>
      </p:sp>
      <p:sp>
        <p:nvSpPr>
          <p:cNvPr id="672" name="Google Shape;672;p52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Custom Domains &amp; SEO</a:t>
            </a:r>
            <a:endParaRPr/>
          </a:p>
        </p:txBody>
      </p:sp>
      <p:sp>
        <p:nvSpPr>
          <p:cNvPr id="673" name="Google Shape;673;p52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8" name="Google Shape;678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5478809"/>
            <a:ext cx="11220450" cy="8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53"/>
          <p:cNvSpPr txBox="1"/>
          <p:nvPr/>
        </p:nvSpPr>
        <p:spPr>
          <a:xfrm>
            <a:off x="485775" y="1371600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When things break...</a:t>
            </a:r>
            <a:endParaRPr/>
          </a:p>
        </p:txBody>
      </p:sp>
      <p:sp>
        <p:nvSpPr>
          <p:cNvPr id="681" name="Google Shape;681;p53"/>
          <p:cNvSpPr txBox="1"/>
          <p:nvPr/>
        </p:nvSpPr>
        <p:spPr>
          <a:xfrm>
            <a:off x="733425" y="1990725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682" name="Google Shape;682;p53"/>
          <p:cNvSpPr txBox="1"/>
          <p:nvPr/>
        </p:nvSpPr>
        <p:spPr>
          <a:xfrm>
            <a:off x="866775" y="1990725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Paste Errors: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Copy the red error text into Chat.</a:t>
            </a:r>
            <a:endParaRPr/>
          </a:p>
        </p:txBody>
      </p:sp>
      <p:sp>
        <p:nvSpPr>
          <p:cNvPr id="683" name="Google Shape;683;p53"/>
          <p:cNvSpPr txBox="1"/>
          <p:nvPr/>
        </p:nvSpPr>
        <p:spPr>
          <a:xfrm>
            <a:off x="695325" y="243840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684" name="Google Shape;684;p53"/>
          <p:cNvSpPr txBox="1"/>
          <p:nvPr/>
        </p:nvSpPr>
        <p:spPr>
          <a:xfrm>
            <a:off x="866775" y="2438400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Ask "Why":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"Why is the login button not responding?"</a:t>
            </a:r>
            <a:endParaRPr/>
          </a:p>
        </p:txBody>
      </p:sp>
      <p:sp>
        <p:nvSpPr>
          <p:cNvPr id="685" name="Google Shape;685;p53"/>
          <p:cNvSpPr txBox="1"/>
          <p:nvPr/>
        </p:nvSpPr>
        <p:spPr>
          <a:xfrm>
            <a:off x="695325" y="288607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686" name="Google Shape;686;p53"/>
          <p:cNvSpPr txBox="1"/>
          <p:nvPr/>
        </p:nvSpPr>
        <p:spPr>
          <a:xfrm>
            <a:off x="866775" y="2886075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Isolate: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Revert the last change (History) to see if that fixes it.</a:t>
            </a:r>
            <a:endParaRPr/>
          </a:p>
        </p:txBody>
      </p:sp>
      <p:sp>
        <p:nvSpPr>
          <p:cNvPr id="687" name="Google Shape;687;p53"/>
          <p:cNvSpPr txBox="1"/>
          <p:nvPr/>
        </p:nvSpPr>
        <p:spPr>
          <a:xfrm>
            <a:off x="714375" y="5669309"/>
            <a:ext cx="10801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PROBLEM SOLVING</a:t>
            </a:r>
            <a:endParaRPr/>
          </a:p>
        </p:txBody>
      </p:sp>
      <p:sp>
        <p:nvSpPr>
          <p:cNvPr id="688" name="Google Shape;688;p53"/>
          <p:cNvSpPr txBox="1"/>
          <p:nvPr/>
        </p:nvSpPr>
        <p:spPr>
          <a:xfrm>
            <a:off x="714375" y="5907434"/>
            <a:ext cx="10801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Treat the AI as a junior developer. It needs clear error reports to fix bugs.</a:t>
            </a:r>
            <a:endParaRPr/>
          </a:p>
        </p:txBody>
      </p:sp>
      <p:sp>
        <p:nvSpPr>
          <p:cNvPr id="689" name="Google Shape;689;p53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Debugging Tactics</a:t>
            </a:r>
            <a:endParaRPr/>
          </a:p>
        </p:txBody>
      </p:sp>
      <p:sp>
        <p:nvSpPr>
          <p:cNvPr id="690" name="Google Shape;690;p53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5" name="Google Shape;695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5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657475"/>
            <a:ext cx="35495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5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2657475"/>
            <a:ext cx="3549699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5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050" y="29527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 txBox="1"/>
          <p:nvPr/>
        </p:nvSpPr>
        <p:spPr>
          <a:xfrm>
            <a:off x="781050" y="3524250"/>
            <a:ext cx="31069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Analytics</a:t>
            </a:r>
            <a:endParaRPr/>
          </a:p>
        </p:txBody>
      </p:sp>
      <p:sp>
        <p:nvSpPr>
          <p:cNvPr id="700" name="Google Shape;700;p54"/>
          <p:cNvSpPr txBox="1"/>
          <p:nvPr/>
        </p:nvSpPr>
        <p:spPr>
          <a:xfrm>
            <a:off x="781050" y="4038600"/>
            <a:ext cx="295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 to add Google Analytics or PostHog.</a:t>
            </a:r>
            <a:endParaRPr/>
          </a:p>
        </p:txBody>
      </p:sp>
      <p:pic>
        <p:nvPicPr>
          <p:cNvPr id="701" name="Google Shape;701;p5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16350" y="29527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/>
        </p:nvSpPr>
        <p:spPr>
          <a:xfrm>
            <a:off x="4616350" y="3524250"/>
            <a:ext cx="310710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Feedback</a:t>
            </a:r>
            <a:endParaRPr/>
          </a:p>
        </p:txBody>
      </p:sp>
      <p:sp>
        <p:nvSpPr>
          <p:cNvPr id="703" name="Google Shape;703;p54"/>
          <p:cNvSpPr txBox="1"/>
          <p:nvPr/>
        </p:nvSpPr>
        <p:spPr>
          <a:xfrm>
            <a:off x="4616350" y="4038600"/>
            <a:ext cx="29591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Gather user feedback and iterate.</a:t>
            </a:r>
            <a:endParaRPr/>
          </a:p>
        </p:txBody>
      </p:sp>
      <p:sp>
        <p:nvSpPr>
          <p:cNvPr id="704" name="Google Shape;704;p54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Continuous Improvement</a:t>
            </a:r>
            <a:endParaRPr/>
          </a:p>
        </p:txBody>
      </p:sp>
      <p:sp>
        <p:nvSpPr>
          <p:cNvPr id="705" name="Google Shape;705;p54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485775" y="2814637"/>
            <a:ext cx="11706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Sustainability</a:t>
            </a:r>
            <a:endParaRPr/>
          </a:p>
        </p:txBody>
      </p:sp>
      <p:sp>
        <p:nvSpPr>
          <p:cNvPr id="712" name="Google Shape;712;p55"/>
          <p:cNvSpPr txBox="1"/>
          <p:nvPr/>
        </p:nvSpPr>
        <p:spPr>
          <a:xfrm>
            <a:off x="619125" y="34337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713" name="Google Shape;713;p55"/>
          <p:cNvSpPr txBox="1"/>
          <p:nvPr/>
        </p:nvSpPr>
        <p:spPr>
          <a:xfrm>
            <a:off x="723900" y="3433762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Monitor Credits: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Check your Lovable balance daily.</a:t>
            </a:r>
            <a:endParaRPr/>
          </a:p>
        </p:txBody>
      </p:sp>
      <p:sp>
        <p:nvSpPr>
          <p:cNvPr id="714" name="Google Shape;714;p55"/>
          <p:cNvSpPr txBox="1"/>
          <p:nvPr/>
        </p:nvSpPr>
        <p:spPr>
          <a:xfrm>
            <a:off x="619125" y="38814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715" name="Google Shape;715;p55"/>
          <p:cNvSpPr txBox="1"/>
          <p:nvPr/>
        </p:nvSpPr>
        <p:spPr>
          <a:xfrm>
            <a:off x="723900" y="3881437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Supabase Limits: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Be aware of the Free Tier limits (Database size, Monthly Active Users).</a:t>
            </a:r>
            <a:endParaRPr/>
          </a:p>
        </p:txBody>
      </p:sp>
      <p:sp>
        <p:nvSpPr>
          <p:cNvPr id="716" name="Google Shape;716;p55"/>
          <p:cNvSpPr txBox="1"/>
          <p:nvPr/>
        </p:nvSpPr>
        <p:spPr>
          <a:xfrm>
            <a:off x="619125" y="43291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717" name="Google Shape;717;p55"/>
          <p:cNvSpPr txBox="1"/>
          <p:nvPr/>
        </p:nvSpPr>
        <p:spPr>
          <a:xfrm>
            <a:off x="723900" y="4329112"/>
            <a:ext cx="10982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Efficiency: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Combine small edits into one prompt to save credits.</a:t>
            </a:r>
            <a:endParaRPr/>
          </a:p>
        </p:txBody>
      </p:sp>
      <p:sp>
        <p:nvSpPr>
          <p:cNvPr id="718" name="Google Shape;718;p55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Cost Management</a:t>
            </a:r>
            <a:endParaRPr/>
          </a:p>
        </p:txBody>
      </p:sp>
      <p:sp>
        <p:nvSpPr>
          <p:cNvPr id="719" name="Google Shape;719;p55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5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813000"/>
            <a:ext cx="2590800" cy="900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5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62325" y="2813000"/>
            <a:ext cx="2590800" cy="900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5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813000"/>
            <a:ext cx="2590800" cy="900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5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5425" y="2813000"/>
            <a:ext cx="2590800" cy="90041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56"/>
          <p:cNvSpPr txBox="1"/>
          <p:nvPr/>
        </p:nvSpPr>
        <p:spPr>
          <a:xfrm>
            <a:off x="485775" y="4361110"/>
            <a:ext cx="112204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single person can now execute the work of a full stack team.</a:t>
            </a:r>
            <a:endParaRPr/>
          </a:p>
        </p:txBody>
      </p:sp>
      <p:sp>
        <p:nvSpPr>
          <p:cNvPr id="730" name="Google Shape;730;p56"/>
          <p:cNvSpPr txBox="1"/>
          <p:nvPr/>
        </p:nvSpPr>
        <p:spPr>
          <a:xfrm>
            <a:off x="638175" y="3167955"/>
            <a:ext cx="2400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Prompt → UI</a:t>
            </a:r>
            <a:endParaRPr/>
          </a:p>
        </p:txBody>
      </p:sp>
      <p:sp>
        <p:nvSpPr>
          <p:cNvPr id="731" name="Google Shape;731;p56"/>
          <p:cNvSpPr txBox="1"/>
          <p:nvPr/>
        </p:nvSpPr>
        <p:spPr>
          <a:xfrm>
            <a:off x="3514725" y="3167955"/>
            <a:ext cx="2400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Prompt → DB</a:t>
            </a:r>
            <a:endParaRPr/>
          </a:p>
        </p:txBody>
      </p:sp>
      <p:sp>
        <p:nvSpPr>
          <p:cNvPr id="732" name="Google Shape;732;p56"/>
          <p:cNvSpPr txBox="1"/>
          <p:nvPr/>
        </p:nvSpPr>
        <p:spPr>
          <a:xfrm>
            <a:off x="6391275" y="3167955"/>
            <a:ext cx="2400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Prompt → Auth</a:t>
            </a:r>
            <a:endParaRPr/>
          </a:p>
        </p:txBody>
      </p:sp>
      <p:sp>
        <p:nvSpPr>
          <p:cNvPr id="733" name="Google Shape;733;p56"/>
          <p:cNvSpPr txBox="1"/>
          <p:nvPr/>
        </p:nvSpPr>
        <p:spPr>
          <a:xfrm>
            <a:off x="9267825" y="3167955"/>
            <a:ext cx="2400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Prompt → Deploy</a:t>
            </a:r>
            <a:endParaRPr/>
          </a:p>
        </p:txBody>
      </p:sp>
      <p:sp>
        <p:nvSpPr>
          <p:cNvPr id="734" name="Google Shape;734;p56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Summary of Capabilities</a:t>
            </a:r>
            <a:endParaRPr/>
          </a:p>
        </p:txBody>
      </p:sp>
      <p:sp>
        <p:nvSpPr>
          <p:cNvPr id="735" name="Google Shape;735;p56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p5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57"/>
          <p:cNvSpPr txBox="1"/>
          <p:nvPr/>
        </p:nvSpPr>
        <p:spPr>
          <a:xfrm>
            <a:off x="242887" y="2264122"/>
            <a:ext cx="11706225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Build your first app today.</a:t>
            </a:r>
            <a:endParaRPr/>
          </a:p>
        </p:txBody>
      </p:sp>
      <p:sp>
        <p:nvSpPr>
          <p:cNvPr id="742" name="Google Shape;742;p57"/>
          <p:cNvSpPr txBox="1"/>
          <p:nvPr/>
        </p:nvSpPr>
        <p:spPr>
          <a:xfrm>
            <a:off x="485775" y="3639442"/>
            <a:ext cx="11220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lovable.dev</a:t>
            </a:r>
            <a:endParaRPr/>
          </a:p>
        </p:txBody>
      </p:sp>
      <p:sp>
        <p:nvSpPr>
          <p:cNvPr id="743" name="Google Shape;743;p57"/>
          <p:cNvSpPr txBox="1"/>
          <p:nvPr/>
        </p:nvSpPr>
        <p:spPr>
          <a:xfrm>
            <a:off x="485775" y="4176563"/>
            <a:ext cx="11220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Start small. Iterate fast. Deploy often.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5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58"/>
          <p:cNvSpPr/>
          <p:nvPr/>
        </p:nvSpPr>
        <p:spPr>
          <a:xfrm>
            <a:off x="485775" y="1371600"/>
            <a:ext cx="112204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58"/>
          <p:cNvSpPr/>
          <p:nvPr/>
        </p:nvSpPr>
        <p:spPr>
          <a:xfrm>
            <a:off x="485775" y="2156370"/>
            <a:ext cx="112204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58"/>
          <p:cNvSpPr/>
          <p:nvPr/>
        </p:nvSpPr>
        <p:spPr>
          <a:xfrm>
            <a:off x="485775" y="2941141"/>
            <a:ext cx="1122045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58"/>
          <p:cNvSpPr/>
          <p:nvPr/>
        </p:nvSpPr>
        <p:spPr>
          <a:xfrm>
            <a:off x="485775" y="3924002"/>
            <a:ext cx="1122045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58"/>
          <p:cNvSpPr/>
          <p:nvPr/>
        </p:nvSpPr>
        <p:spPr>
          <a:xfrm>
            <a:off x="485775" y="4906863"/>
            <a:ext cx="112204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58"/>
          <p:cNvSpPr/>
          <p:nvPr/>
        </p:nvSpPr>
        <p:spPr>
          <a:xfrm>
            <a:off x="485775" y="2146845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58"/>
          <p:cNvSpPr/>
          <p:nvPr/>
        </p:nvSpPr>
        <p:spPr>
          <a:xfrm>
            <a:off x="485775" y="2146845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58"/>
          <p:cNvSpPr/>
          <p:nvPr/>
        </p:nvSpPr>
        <p:spPr>
          <a:xfrm>
            <a:off x="485775" y="2931616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58"/>
          <p:cNvSpPr/>
          <p:nvPr/>
        </p:nvSpPr>
        <p:spPr>
          <a:xfrm>
            <a:off x="485775" y="2931616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58"/>
          <p:cNvSpPr/>
          <p:nvPr/>
        </p:nvSpPr>
        <p:spPr>
          <a:xfrm>
            <a:off x="485775" y="3914477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58"/>
          <p:cNvSpPr/>
          <p:nvPr/>
        </p:nvSpPr>
        <p:spPr>
          <a:xfrm>
            <a:off x="485775" y="3914477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58"/>
          <p:cNvSpPr/>
          <p:nvPr/>
        </p:nvSpPr>
        <p:spPr>
          <a:xfrm>
            <a:off x="485775" y="4897338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58"/>
          <p:cNvSpPr/>
          <p:nvPr/>
        </p:nvSpPr>
        <p:spPr>
          <a:xfrm>
            <a:off x="485775" y="4897338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58"/>
          <p:cNvSpPr/>
          <p:nvPr/>
        </p:nvSpPr>
        <p:spPr>
          <a:xfrm>
            <a:off x="485775" y="5682108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58"/>
          <p:cNvSpPr/>
          <p:nvPr/>
        </p:nvSpPr>
        <p:spPr>
          <a:xfrm>
            <a:off x="485775" y="5682108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4" name="Google Shape;764;p5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5210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58"/>
          <p:cNvSpPr txBox="1"/>
          <p:nvPr/>
        </p:nvSpPr>
        <p:spPr>
          <a:xfrm>
            <a:off x="1581150" y="1514475"/>
            <a:ext cx="101250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https://img.freepik.com/premium-photo/software-technician-frustrated-while-updating-complex-binary-code_482257-88326.jpg</a:t>
            </a:r>
            <a:endParaRPr/>
          </a:p>
        </p:txBody>
      </p:sp>
      <p:sp>
        <p:nvSpPr>
          <p:cNvPr id="766" name="Google Shape;766;p58"/>
          <p:cNvSpPr txBox="1"/>
          <p:nvPr/>
        </p:nvSpPr>
        <p:spPr>
          <a:xfrm>
            <a:off x="1581150" y="1760190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pic>
        <p:nvPicPr>
          <p:cNvPr id="767" name="Google Shape;767;p5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23057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58"/>
          <p:cNvSpPr txBox="1"/>
          <p:nvPr/>
        </p:nvSpPr>
        <p:spPr>
          <a:xfrm>
            <a:off x="1581150" y="2299245"/>
            <a:ext cx="101250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https://madewith-app-prod-bucket.s3.eu-west-3.amazonaws.com/posts/lovable-07-16-2025_10_43_am.jpg</a:t>
            </a:r>
            <a:endParaRPr/>
          </a:p>
        </p:txBody>
      </p:sp>
      <p:sp>
        <p:nvSpPr>
          <p:cNvPr id="769" name="Google Shape;769;p58"/>
          <p:cNvSpPr txBox="1"/>
          <p:nvPr/>
        </p:nvSpPr>
        <p:spPr>
          <a:xfrm>
            <a:off x="1581150" y="2544960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madewithlovable.com</a:t>
            </a:r>
            <a:endParaRPr/>
          </a:p>
        </p:txBody>
      </p:sp>
      <p:pic>
        <p:nvPicPr>
          <p:cNvPr id="770" name="Google Shape;770;p5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775" y="31896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58"/>
          <p:cNvSpPr txBox="1"/>
          <p:nvPr/>
        </p:nvSpPr>
        <p:spPr>
          <a:xfrm>
            <a:off x="1581150" y="3084016"/>
            <a:ext cx="101250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https://cdn.dribbble.com/userupload/44121881/file/original-8a86f54abf60fa4884031b9a7f2996e9.png?crop=696x96-4288x2790&amp;format=webp&amp;resize=400x300&amp;vertical=center</a:t>
            </a:r>
            <a:endParaRPr/>
          </a:p>
        </p:txBody>
      </p:sp>
      <p:sp>
        <p:nvSpPr>
          <p:cNvPr id="772" name="Google Shape;772;p58"/>
          <p:cNvSpPr txBox="1"/>
          <p:nvPr/>
        </p:nvSpPr>
        <p:spPr>
          <a:xfrm>
            <a:off x="1581150" y="3527821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dribbble.com</a:t>
            </a:r>
            <a:endParaRPr/>
          </a:p>
        </p:txBody>
      </p:sp>
      <p:pic>
        <p:nvPicPr>
          <p:cNvPr id="773" name="Google Shape;773;p5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775" y="41725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58"/>
          <p:cNvSpPr txBox="1"/>
          <p:nvPr/>
        </p:nvSpPr>
        <p:spPr>
          <a:xfrm>
            <a:off x="1581150" y="4066877"/>
            <a:ext cx="101250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https://static.vecteezy.com/system/resources/thumbnails/066/833/181/small/cyber-engine-background-with-dark-circuit-grid-black-tech-layout-with-fine-digital-lines-ideal-for-cyber-themes-security-and-futuristic-ui-elegant-modern-structure-bg-illustration-vector.jpg</a:t>
            </a:r>
            <a:endParaRPr/>
          </a:p>
        </p:txBody>
      </p:sp>
      <p:sp>
        <p:nvSpPr>
          <p:cNvPr id="775" name="Google Shape;775;p58"/>
          <p:cNvSpPr txBox="1"/>
          <p:nvPr/>
        </p:nvSpPr>
        <p:spPr>
          <a:xfrm>
            <a:off x="1581150" y="4510682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id="776" name="Google Shape;776;p5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5775" y="505628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58"/>
          <p:cNvSpPr txBox="1"/>
          <p:nvPr/>
        </p:nvSpPr>
        <p:spPr>
          <a:xfrm>
            <a:off x="1581150" y="5049738"/>
            <a:ext cx="101250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https://res.cloudinary.com/upwork-cloud/image/upload/c_scale,w_1000/v1708031489/catalog/1528346415018852352/rzx40yuicocqdyrxxjvm.webp</a:t>
            </a:r>
            <a:endParaRPr/>
          </a:p>
        </p:txBody>
      </p:sp>
      <p:sp>
        <p:nvSpPr>
          <p:cNvPr id="778" name="Google Shape;778;p58"/>
          <p:cNvSpPr txBox="1"/>
          <p:nvPr/>
        </p:nvSpPr>
        <p:spPr>
          <a:xfrm>
            <a:off x="1581150" y="5295453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www.upwork.com</a:t>
            </a:r>
            <a:endParaRPr/>
          </a:p>
        </p:txBody>
      </p:sp>
      <p:pic>
        <p:nvPicPr>
          <p:cNvPr id="779" name="Google Shape;779;p5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5775" y="59401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58"/>
          <p:cNvSpPr txBox="1"/>
          <p:nvPr/>
        </p:nvSpPr>
        <p:spPr>
          <a:xfrm>
            <a:off x="1581150" y="5834508"/>
            <a:ext cx="101250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https://render.fineartamerica.com/images/rendered/default/greeting-card/images/artworkimages/medium/2/space-rocket-denny-h.jpg?&amp;targetx=0&amp;targety=0&amp;imagewidth=500&amp;imageheight=700&amp;modelwidth=500&amp;modelheight=700&amp;backgroundcolor=020734&amp;orientation=1</a:t>
            </a:r>
            <a:endParaRPr/>
          </a:p>
        </p:txBody>
      </p:sp>
      <p:sp>
        <p:nvSpPr>
          <p:cNvPr id="781" name="Google Shape;781;p58"/>
          <p:cNvSpPr txBox="1"/>
          <p:nvPr/>
        </p:nvSpPr>
        <p:spPr>
          <a:xfrm>
            <a:off x="1581150" y="6278314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pixels.com</a:t>
            </a:r>
            <a:endParaRPr/>
          </a:p>
        </p:txBody>
      </p:sp>
      <p:sp>
        <p:nvSpPr>
          <p:cNvPr id="782" name="Google Shape;782;p58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783" name="Google Shape;783;p58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" name="Google Shape;788;p5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59"/>
          <p:cNvSpPr/>
          <p:nvPr/>
        </p:nvSpPr>
        <p:spPr>
          <a:xfrm>
            <a:off x="485775" y="2109043"/>
            <a:ext cx="112204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59"/>
          <p:cNvSpPr/>
          <p:nvPr/>
        </p:nvSpPr>
        <p:spPr>
          <a:xfrm>
            <a:off x="485775" y="2893814"/>
            <a:ext cx="112204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9"/>
          <p:cNvSpPr/>
          <p:nvPr/>
        </p:nvSpPr>
        <p:spPr>
          <a:xfrm>
            <a:off x="485775" y="3678584"/>
            <a:ext cx="1122045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59"/>
          <p:cNvSpPr/>
          <p:nvPr/>
        </p:nvSpPr>
        <p:spPr>
          <a:xfrm>
            <a:off x="485775" y="2884289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59"/>
          <p:cNvSpPr/>
          <p:nvPr/>
        </p:nvSpPr>
        <p:spPr>
          <a:xfrm>
            <a:off x="485775" y="2884289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59"/>
          <p:cNvSpPr/>
          <p:nvPr/>
        </p:nvSpPr>
        <p:spPr>
          <a:xfrm>
            <a:off x="485775" y="3669059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59"/>
          <p:cNvSpPr/>
          <p:nvPr/>
        </p:nvSpPr>
        <p:spPr>
          <a:xfrm>
            <a:off x="485775" y="3669059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9"/>
          <p:cNvSpPr/>
          <p:nvPr/>
        </p:nvSpPr>
        <p:spPr>
          <a:xfrm>
            <a:off x="485775" y="4651920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59"/>
          <p:cNvSpPr/>
          <p:nvPr/>
        </p:nvSpPr>
        <p:spPr>
          <a:xfrm>
            <a:off x="485775" y="4651920"/>
            <a:ext cx="11220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8" name="Google Shape;798;p5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2584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59"/>
          <p:cNvSpPr txBox="1"/>
          <p:nvPr/>
        </p:nvSpPr>
        <p:spPr>
          <a:xfrm>
            <a:off x="1581150" y="2251918"/>
            <a:ext cx="101250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https://www.shakebugs.com/wp-content/uploads/2022/05/Benefits-of-teamwork-and-collaboration-for-software-development-teams.png</a:t>
            </a:r>
            <a:endParaRPr/>
          </a:p>
        </p:txBody>
      </p:sp>
      <p:sp>
        <p:nvSpPr>
          <p:cNvPr id="800" name="Google Shape;800;p59"/>
          <p:cNvSpPr txBox="1"/>
          <p:nvPr/>
        </p:nvSpPr>
        <p:spPr>
          <a:xfrm>
            <a:off x="1581150" y="2497633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www.shakebugs.com</a:t>
            </a:r>
            <a:endParaRPr/>
          </a:p>
        </p:txBody>
      </p:sp>
      <p:pic>
        <p:nvPicPr>
          <p:cNvPr id="801" name="Google Shape;801;p5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30432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59"/>
          <p:cNvSpPr txBox="1"/>
          <p:nvPr/>
        </p:nvSpPr>
        <p:spPr>
          <a:xfrm>
            <a:off x="1581150" y="3036689"/>
            <a:ext cx="101250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https://github.blog/wp-content/uploads/2025/04/darklight.png</a:t>
            </a:r>
            <a:endParaRPr/>
          </a:p>
        </p:txBody>
      </p:sp>
      <p:sp>
        <p:nvSpPr>
          <p:cNvPr id="803" name="Google Shape;803;p59"/>
          <p:cNvSpPr txBox="1"/>
          <p:nvPr/>
        </p:nvSpPr>
        <p:spPr>
          <a:xfrm>
            <a:off x="1581150" y="3282404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github.blog</a:t>
            </a:r>
            <a:endParaRPr/>
          </a:p>
        </p:txBody>
      </p:sp>
      <p:pic>
        <p:nvPicPr>
          <p:cNvPr id="804" name="Google Shape;804;p5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775" y="39271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59"/>
          <p:cNvSpPr txBox="1"/>
          <p:nvPr/>
        </p:nvSpPr>
        <p:spPr>
          <a:xfrm>
            <a:off x="1581150" y="3821459"/>
            <a:ext cx="101250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https://supabase.com/_next/image?url=https%3A%2F%2Ffrontend-assets.supabase.com%2Fwww%2F6d2bb4aa2b2e%2F_next%2Fstatic%2Fmedia%2Flogo-preview.50e72501.jpg&amp;w=3840&amp;q=75</a:t>
            </a:r>
            <a:endParaRPr/>
          </a:p>
        </p:txBody>
      </p:sp>
      <p:sp>
        <p:nvSpPr>
          <p:cNvPr id="806" name="Google Shape;806;p59"/>
          <p:cNvSpPr txBox="1"/>
          <p:nvPr/>
        </p:nvSpPr>
        <p:spPr>
          <a:xfrm>
            <a:off x="1581150" y="4265265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supabase.com</a:t>
            </a:r>
            <a:endParaRPr/>
          </a:p>
        </p:txBody>
      </p:sp>
      <p:pic>
        <p:nvPicPr>
          <p:cNvPr id="807" name="Google Shape;807;p5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775" y="49099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59"/>
          <p:cNvSpPr txBox="1"/>
          <p:nvPr/>
        </p:nvSpPr>
        <p:spPr>
          <a:xfrm>
            <a:off x="1581150" y="4804320"/>
            <a:ext cx="101250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https://www.descope.com/_next/image?url=https%3A%2F%2Fimages.ctfassets.net%2Fxqb1f63q68s1%2F6gSU2boSSDJU3G6TJuK4L4%2F207467056a922e8b3d881f41830cfd95%2FTip_3__1_.jpg&amp;w=3840&amp;q=75</a:t>
            </a:r>
            <a:endParaRPr/>
          </a:p>
        </p:txBody>
      </p:sp>
      <p:sp>
        <p:nvSpPr>
          <p:cNvPr id="809" name="Google Shape;809;p59"/>
          <p:cNvSpPr txBox="1"/>
          <p:nvPr/>
        </p:nvSpPr>
        <p:spPr>
          <a:xfrm>
            <a:off x="1581150" y="5248126"/>
            <a:ext cx="101250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www.descope.com</a:t>
            </a:r>
            <a:endParaRPr/>
          </a:p>
        </p:txBody>
      </p:sp>
      <p:sp>
        <p:nvSpPr>
          <p:cNvPr id="810" name="Google Shape;810;p59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811" name="Google Shape;811;p59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2046</Words>
  <Application>Microsoft Office PowerPoint</Application>
  <PresentationFormat>Widescreen</PresentationFormat>
  <Paragraphs>314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Inter</vt:lpstr>
      <vt:lpstr>Inter Light</vt:lpstr>
      <vt:lpstr>Calibri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Hamza Ali</cp:lastModifiedBy>
  <cp:revision>1</cp:revision>
  <dcterms:modified xsi:type="dcterms:W3CDTF">2025-12-21T19:00:04Z</dcterms:modified>
</cp:coreProperties>
</file>