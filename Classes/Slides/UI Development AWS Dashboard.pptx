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6858000" cx="12192000"/>
  <p:notesSz cx="6858000" cy="9144000"/>
  <p:embeddedFontLst>
    <p:embeddedFont>
      <p:font typeface="Inter Light"/>
      <p:regular r:id="rId38"/>
      <p:bold r:id="rId39"/>
      <p:italic r:id="rId40"/>
      <p:boldItalic r:id="rId41"/>
    </p:embeddedFont>
    <p:embeddedFont>
      <p:font typeface="Inter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Light-italic.fntdata"/><Relationship Id="rId20" Type="http://schemas.openxmlformats.org/officeDocument/2006/relationships/slide" Target="slides/slide15.xml"/><Relationship Id="rId42" Type="http://schemas.openxmlformats.org/officeDocument/2006/relationships/font" Target="fonts/Inter-regular.fntdata"/><Relationship Id="rId41" Type="http://schemas.openxmlformats.org/officeDocument/2006/relationships/font" Target="fonts/InterLight-boldItalic.fntdata"/><Relationship Id="rId22" Type="http://schemas.openxmlformats.org/officeDocument/2006/relationships/slide" Target="slides/slide17.xml"/><Relationship Id="rId44" Type="http://schemas.openxmlformats.org/officeDocument/2006/relationships/font" Target="fonts/Inter-italic.fntdata"/><Relationship Id="rId21" Type="http://schemas.openxmlformats.org/officeDocument/2006/relationships/slide" Target="slides/slide16.xml"/><Relationship Id="rId43" Type="http://schemas.openxmlformats.org/officeDocument/2006/relationships/font" Target="fonts/Inter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InterLight-bold.fntdata"/><Relationship Id="rId16" Type="http://schemas.openxmlformats.org/officeDocument/2006/relationships/slide" Target="slides/slide11.xml"/><Relationship Id="rId38" Type="http://schemas.openxmlformats.org/officeDocument/2006/relationships/font" Target="fonts/InterLight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10" Type="http://schemas.openxmlformats.org/officeDocument/2006/relationships/image" Target="../media/image7.png"/><Relationship Id="rId9" Type="http://schemas.openxmlformats.org/officeDocument/2006/relationships/image" Target="../media/image13.png"/><Relationship Id="rId5" Type="http://schemas.openxmlformats.org/officeDocument/2006/relationships/image" Target="../media/image18.png"/><Relationship Id="rId6" Type="http://schemas.openxmlformats.org/officeDocument/2006/relationships/image" Target="../media/image3.png"/><Relationship Id="rId7" Type="http://schemas.openxmlformats.org/officeDocument/2006/relationships/image" Target="../media/image10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32.png"/><Relationship Id="rId5" Type="http://schemas.openxmlformats.org/officeDocument/2006/relationships/image" Target="../media/image21.png"/><Relationship Id="rId6" Type="http://schemas.openxmlformats.org/officeDocument/2006/relationships/image" Target="../media/image29.png"/><Relationship Id="rId7" Type="http://schemas.openxmlformats.org/officeDocument/2006/relationships/image" Target="../media/image17.png"/><Relationship Id="rId8" Type="http://schemas.openxmlformats.org/officeDocument/2006/relationships/image" Target="../media/image3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1.png"/><Relationship Id="rId9" Type="http://schemas.openxmlformats.org/officeDocument/2006/relationships/image" Target="../media/image24.png"/><Relationship Id="rId5" Type="http://schemas.openxmlformats.org/officeDocument/2006/relationships/image" Target="../media/image3.png"/><Relationship Id="rId6" Type="http://schemas.openxmlformats.org/officeDocument/2006/relationships/image" Target="../media/image19.png"/><Relationship Id="rId7" Type="http://schemas.openxmlformats.org/officeDocument/2006/relationships/image" Target="../media/image39.png"/><Relationship Id="rId8" Type="http://schemas.openxmlformats.org/officeDocument/2006/relationships/image" Target="../media/image3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50.png"/><Relationship Id="rId6" Type="http://schemas.openxmlformats.org/officeDocument/2006/relationships/image" Target="../media/image27.png"/><Relationship Id="rId7" Type="http://schemas.openxmlformats.org/officeDocument/2006/relationships/image" Target="../media/image20.png"/><Relationship Id="rId8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8.png"/><Relationship Id="rId5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40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44.png"/><Relationship Id="rId5" Type="http://schemas.openxmlformats.org/officeDocument/2006/relationships/image" Target="../media/image6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5" Type="http://schemas.openxmlformats.org/officeDocument/2006/relationships/image" Target="../media/image4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60.png"/><Relationship Id="rId5" Type="http://schemas.openxmlformats.org/officeDocument/2006/relationships/image" Target="../media/image43.png"/><Relationship Id="rId6" Type="http://schemas.openxmlformats.org/officeDocument/2006/relationships/image" Target="../media/image53.png"/><Relationship Id="rId7" Type="http://schemas.openxmlformats.org/officeDocument/2006/relationships/image" Target="../media/image6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4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5" Type="http://schemas.openxmlformats.org/officeDocument/2006/relationships/image" Target="../media/image5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44.png"/><Relationship Id="rId5" Type="http://schemas.openxmlformats.org/officeDocument/2006/relationships/image" Target="../media/image55.png"/><Relationship Id="rId6" Type="http://schemas.openxmlformats.org/officeDocument/2006/relationships/image" Target="../media/image5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6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44.png"/><Relationship Id="rId5" Type="http://schemas.openxmlformats.org/officeDocument/2006/relationships/image" Target="../media/image59.png"/><Relationship Id="rId6" Type="http://schemas.openxmlformats.org/officeDocument/2006/relationships/image" Target="../media/image4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6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31.png"/><Relationship Id="rId5" Type="http://schemas.openxmlformats.org/officeDocument/2006/relationships/image" Target="../media/image3.png"/><Relationship Id="rId6" Type="http://schemas.openxmlformats.org/officeDocument/2006/relationships/image" Target="../media/image63.png"/><Relationship Id="rId7" Type="http://schemas.openxmlformats.org/officeDocument/2006/relationships/image" Target="../media/image6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68.png"/><Relationship Id="rId5" Type="http://schemas.openxmlformats.org/officeDocument/2006/relationships/image" Target="../media/image70.png"/><Relationship Id="rId6" Type="http://schemas.openxmlformats.org/officeDocument/2006/relationships/image" Target="../media/image6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1487" y="4694634"/>
            <a:ext cx="3629025" cy="57909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375660" y="1584126"/>
            <a:ext cx="5440680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UI Development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by Prompting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005137" y="3587948"/>
            <a:ext cx="61817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Inter Light"/>
                <a:ea typeface="Inter Light"/>
                <a:cs typeface="Inter Light"/>
                <a:sym typeface="Inter Light"/>
              </a:rPr>
              <a:t>From Idea to Full-Stack App with Lovable AI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576762" y="4847034"/>
            <a:ext cx="3038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Complete, Step-by-Step Workshop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5478809"/>
            <a:ext cx="11220450" cy="8934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1371600"/>
            <a:ext cx="354955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21075" y="1371600"/>
            <a:ext cx="3549699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56525" y="1371600"/>
            <a:ext cx="354955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14375" y="5669309"/>
            <a:ext cx="108013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rPr>
              <a:t>OBJECTIVE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14375" y="5907434"/>
            <a:ext cx="10801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We will journey from "Hello World" to a fully deployed application with a live database.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1050" y="166687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781050" y="2238375"/>
            <a:ext cx="3106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Lovable Basics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81050" y="2752725"/>
            <a:ext cx="295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Understanding the AI app builder and interface.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16350" y="166687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4616350" y="2238375"/>
            <a:ext cx="310710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Prompt Strategy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616350" y="2752725"/>
            <a:ext cx="29591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Mastering meta-prompting and visual editing.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51800" y="16668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8451800" y="2238375"/>
            <a:ext cx="3106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Full Stack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451800" y="2752725"/>
            <a:ext cx="295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Integrating Supabase, Auth, and GitHub.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Agenda &amp; Roadmap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5478809"/>
            <a:ext cx="11220450" cy="8934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371600"/>
            <a:ext cx="5372100" cy="41072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714375" y="5669309"/>
            <a:ext cx="108013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rPr>
              <a:t>WHY WE ARE HERE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14375" y="5907434"/>
            <a:ext cx="10801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To eliminate the setup fatigue and syntax errors that slow down creativity.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85775" y="2205930"/>
            <a:ext cx="56407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Traditional Development Friction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1381125"/>
            <a:ext cx="5353050" cy="408815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619125" y="268218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23900" y="2682180"/>
            <a:ext cx="5133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High Barrier: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Requires deep syntax knowledge.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19125" y="312985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723900" y="3129855"/>
            <a:ext cx="5133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Slow Cycles: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Write Code → Save → Compile → Refresh.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19125" y="388233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723900" y="3882330"/>
            <a:ext cx="5133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Disconnect: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Figma designs rarely match the final code perfectly.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"Old" Way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5657850"/>
            <a:ext cx="11220450" cy="8934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1371600"/>
            <a:ext cx="53721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714375" y="5848350"/>
            <a:ext cx="108013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rPr>
              <a:t>KEY DIFFERENTIATOR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14375" y="6086475"/>
            <a:ext cx="10801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This isn't a mockup tool. It builds functional, deployable software.</a:t>
            </a:r>
            <a:endParaRPr/>
          </a:p>
        </p:txBody>
      </p:sp>
      <p:pic>
        <p:nvPicPr>
          <p:cNvPr descr="image.png" id="139" name="Google Shape;13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5300" y="1381125"/>
            <a:ext cx="53530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6467475" y="23860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572250" y="2386012"/>
            <a:ext cx="5133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AI App Builder: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Generates full-stack web apps from natural language.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467475" y="313848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572250" y="3138487"/>
            <a:ext cx="5133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 Tech Stack: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Builds on React, Tailwind, and Node.js.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467475" y="35861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572250" y="3586162"/>
            <a:ext cx="5133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 Lock-in: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It generates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 code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you can export and own.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467475" y="43386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572250" y="4338637"/>
            <a:ext cx="5133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Iterative: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Works best when you build in small steps.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What is Lovable?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5478809"/>
            <a:ext cx="11220450" cy="89341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714375" y="5669309"/>
            <a:ext cx="108013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rPr>
              <a:t>PROCESS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714375" y="5907434"/>
            <a:ext cx="10801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We will follow this cyclical nature of building, refining, and connecting.</a:t>
            </a:r>
            <a:endParaRPr/>
          </a:p>
        </p:txBody>
      </p:sp>
      <p:pic>
        <p:nvPicPr>
          <p:cNvPr descr="image.png" id="158" name="Google Shape;15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07765" y="1571625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642557" y="2143125"/>
            <a:ext cx="18161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Plan</a:t>
            </a:r>
            <a:endParaRPr/>
          </a:p>
        </p:txBody>
      </p:sp>
      <p:pic>
        <p:nvPicPr>
          <p:cNvPr descr="image.png" id="160" name="Google Shape;16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08933" y="157162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2915163" y="2143125"/>
            <a:ext cx="18161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Prompt</a:t>
            </a:r>
            <a:endParaRPr/>
          </a:p>
        </p:txBody>
      </p:sp>
      <p:pic>
        <p:nvPicPr>
          <p:cNvPr descr="image.png" id="162" name="Google Shape;16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05351" y="15716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5187765" y="2143125"/>
            <a:ext cx="181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Iterate</a:t>
            </a:r>
            <a:endParaRPr/>
          </a:p>
        </p:txBody>
      </p:sp>
      <p:pic>
        <p:nvPicPr>
          <p:cNvPr descr="image.png" id="164" name="Google Shape;16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01917" y="157162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7460523" y="2143125"/>
            <a:ext cx="18161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Connect</a:t>
            </a:r>
            <a:endParaRPr/>
          </a:p>
        </p:txBody>
      </p:sp>
      <p:pic>
        <p:nvPicPr>
          <p:cNvPr descr="image.png" id="166" name="Google Shape;166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450710" y="15716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9733124" y="2143125"/>
            <a:ext cx="181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Deploy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Workflow at a Glance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5478809"/>
            <a:ext cx="11220450" cy="89341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619125" y="15240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723900" y="1524000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Access: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Go to and sign in.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619125" y="19716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723900" y="1971675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Economy: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Every generation costs "Credits".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619125" y="24193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723900" y="2419350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Strategy: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Bigger builds cost more; small edits cost less.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619125" y="28670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723900" y="2867025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Tiers: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Paid plans unlock private projects and the built-in Code Browser.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714375" y="5669309"/>
            <a:ext cx="108013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rPr>
              <a:t>LOGISTICS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714375" y="5907434"/>
            <a:ext cx="10801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Efficient prompting saves credits. Think before you generate.</a:t>
            </a:r>
            <a:endParaRPr/>
          </a:p>
        </p:txBody>
      </p:sp>
      <p:pic>
        <p:nvPicPr>
          <p:cNvPr descr="image.png" id="186" name="Google Shape;18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95500" y="1533525"/>
            <a:ext cx="13049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Setup &amp; Credits</a:t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135659"/>
            <a:ext cx="5372100" cy="147250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485775" y="2957512"/>
            <a:ext cx="56407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Checklist before prompting: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519862" y="3440459"/>
            <a:ext cx="50006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Blank Page Syndrome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638925" y="3916709"/>
            <a:ext cx="47625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If you don't know what you want, the AI cannot guess it.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733425" y="3433762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866775" y="3433762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Define MVP: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What is the core function?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695325" y="3881437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866775" y="3881437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Structure: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List the required pages.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695325" y="4329112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866775" y="4329112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Aesthetics: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Define colors and tone.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Golden Rule: Plan First</a:t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2657475"/>
            <a:ext cx="354955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075" y="2657475"/>
            <a:ext cx="3549699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56525" y="2657475"/>
            <a:ext cx="354955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050" y="29527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781050" y="3524250"/>
            <a:ext cx="3106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Chat Input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781050" y="4038600"/>
            <a:ext cx="295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Your main communication line with the AI.</a:t>
            </a:r>
            <a:endParaRPr/>
          </a:p>
        </p:txBody>
      </p:sp>
      <p:pic>
        <p:nvPicPr>
          <p:cNvPr descr="image.png" id="217" name="Google Shape;217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6350" y="29527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 txBox="1"/>
          <p:nvPr/>
        </p:nvSpPr>
        <p:spPr>
          <a:xfrm>
            <a:off x="4616350" y="3524250"/>
            <a:ext cx="310710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History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4616350" y="4038600"/>
            <a:ext cx="29591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Version control to undo mistakes.</a:t>
            </a:r>
            <a:endParaRPr/>
          </a:p>
        </p:txBody>
      </p:sp>
      <p:pic>
        <p:nvPicPr>
          <p:cNvPr descr="image.png" id="220" name="Google Shape;220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51800" y="295275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8451800" y="3524250"/>
            <a:ext cx="3106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Knowledge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8451800" y="4038600"/>
            <a:ext cx="295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Persistent context and rules (covered later).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Interface Tour: Left Panel</a:t>
            </a: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1728787"/>
            <a:ext cx="53721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300" y="1738312"/>
            <a:ext cx="53530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 txBox="1"/>
          <p:nvPr/>
        </p:nvSpPr>
        <p:spPr>
          <a:xfrm>
            <a:off x="6334125" y="2440334"/>
            <a:ext cx="56407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Live Preview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6334125" y="4916834"/>
            <a:ext cx="53721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Tip: Always test responsiveness immediately.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6467475" y="2916584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6572250" y="2916584"/>
            <a:ext cx="5133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Live Preview: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Real-time rendering of your app.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6467475" y="3364259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6572250" y="3364259"/>
            <a:ext cx="5133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Device Toggles: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Switch between Desktop, Tablet, and Mobile.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6467475" y="4116734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6572250" y="4116734"/>
            <a:ext cx="5133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Route Picker: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Navigate between pages (e.g., /home, /login).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Interface Tour: Right Panel</a:t>
            </a:r>
            <a:endParaRPr/>
          </a:p>
        </p:txBody>
      </p:sp>
      <p:sp>
        <p:nvSpPr>
          <p:cNvPr id="241" name="Google Shape;241;p21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5478809"/>
            <a:ext cx="11220450" cy="8934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2525017"/>
            <a:ext cx="5372100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372617"/>
            <a:ext cx="537210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2"/>
          <p:cNvSpPr txBox="1"/>
          <p:nvPr/>
        </p:nvSpPr>
        <p:spPr>
          <a:xfrm>
            <a:off x="714375" y="5669309"/>
            <a:ext cx="108013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rPr>
              <a:t>WORKFLOW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714375" y="5907434"/>
            <a:ext cx="10801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Use Chat Mode to </a:t>
            </a:r>
            <a:r>
              <a:rPr b="0" i="1" lang="en-US" sz="13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think</a:t>
            </a:r>
            <a:r>
              <a:rPr b="0" i="0" lang="en-US" sz="13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, Default Mode to </a:t>
            </a:r>
            <a:r>
              <a:rPr b="0" i="1" lang="en-US" sz="13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build</a:t>
            </a:r>
            <a:r>
              <a:rPr b="0" i="0" lang="en-US" sz="13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781050" y="2820292"/>
            <a:ext cx="502062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286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Default (Build)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781050" y="3582292"/>
            <a:ext cx="47815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Lovable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acts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and modifies the project code directly.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6629400" y="2667892"/>
            <a:ext cx="502062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Chat Mode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6629400" y="3429892"/>
            <a:ext cx="47815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Lovable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answers questions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and plans. It does NOT change code.</a:t>
            </a:r>
            <a:endParaRPr/>
          </a:p>
        </p:txBody>
      </p:sp>
      <p:pic>
        <p:nvPicPr>
          <p:cNvPr descr="image.png" id="256" name="Google Shape;256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050" y="2820292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29400" y="266789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2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Build Mode vs. Chat Mode</a:t>
            </a:r>
            <a:endParaRPr/>
          </a:p>
        </p:txBody>
      </p:sp>
      <p:sp>
        <p:nvSpPr>
          <p:cNvPr id="259" name="Google Shape;259;p22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5478809"/>
            <a:ext cx="11220450" cy="89341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 txBox="1"/>
          <p:nvPr/>
        </p:nvSpPr>
        <p:spPr>
          <a:xfrm>
            <a:off x="619125" y="15240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723900" y="1524000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Safety Net: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Every prompt creates a save point.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619125" y="19716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723900" y="1971675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Restore: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If a prompt breaks the app, jump back to the previous state instantly.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619125" y="24193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723900" y="2419350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Code Diff: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(Paid) See exactly what lines of code the AI changed.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714375" y="5669309"/>
            <a:ext cx="108013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rPr>
              <a:t>CONFIDENCE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714375" y="5907434"/>
            <a:ext cx="10801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Encourages experimentation because you can always "undo".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History Tab</a:t>
            </a:r>
            <a:endParaRPr/>
          </a:p>
        </p:txBody>
      </p:sp>
      <p:sp>
        <p:nvSpPr>
          <p:cNvPr id="275" name="Google Shape;275;p23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4"/>
          <p:cNvSpPr txBox="1"/>
          <p:nvPr/>
        </p:nvSpPr>
        <p:spPr>
          <a:xfrm>
            <a:off x="485775" y="2957512"/>
            <a:ext cx="56407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Quality Assurance</a:t>
            </a:r>
            <a:endParaRPr/>
          </a:p>
        </p:txBody>
      </p:sp>
      <p:pic>
        <p:nvPicPr>
          <p:cNvPr descr="image.png" id="282" name="Google Shape;28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82050" y="321945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4"/>
          <p:cNvSpPr txBox="1"/>
          <p:nvPr/>
        </p:nvSpPr>
        <p:spPr>
          <a:xfrm>
            <a:off x="6629400" y="4076700"/>
            <a:ext cx="47815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AI makes logic errors. Always verify.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619125" y="34337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723900" y="3433762"/>
            <a:ext cx="5133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Input real data into the forms.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619125" y="38814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723900" y="3881437"/>
            <a:ext cx="5133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Verify the math logic (Calculators often fail first try).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619125" y="43291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723900" y="4329112"/>
            <a:ext cx="5133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Check button states and navigation.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Testing the MVP</a:t>
            </a:r>
            <a:endParaRPr/>
          </a:p>
        </p:txBody>
      </p:sp>
      <p:sp>
        <p:nvSpPr>
          <p:cNvPr id="291" name="Google Shape;291;p24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6" name="Google Shape;29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5478809"/>
            <a:ext cx="11220450" cy="89341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5"/>
          <p:cNvSpPr txBox="1"/>
          <p:nvPr/>
        </p:nvSpPr>
        <p:spPr>
          <a:xfrm>
            <a:off x="485775" y="1371600"/>
            <a:ext cx="117062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Using AI to Write AI</a:t>
            </a:r>
            <a:endParaRPr/>
          </a:p>
        </p:txBody>
      </p:sp>
      <p:sp>
        <p:nvSpPr>
          <p:cNvPr id="299" name="Google Shape;299;p25"/>
          <p:cNvSpPr txBox="1"/>
          <p:nvPr/>
        </p:nvSpPr>
        <p:spPr>
          <a:xfrm>
            <a:off x="733425" y="1990725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300" name="Google Shape;300;p25"/>
          <p:cNvSpPr txBox="1"/>
          <p:nvPr/>
        </p:nvSpPr>
        <p:spPr>
          <a:xfrm>
            <a:off x="866775" y="1990725"/>
            <a:ext cx="10839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Switch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to Chat Mode.</a:t>
            </a:r>
            <a:endParaRPr/>
          </a:p>
        </p:txBody>
      </p:sp>
      <p:sp>
        <p:nvSpPr>
          <p:cNvPr id="301" name="Google Shape;301;p25"/>
          <p:cNvSpPr txBox="1"/>
          <p:nvPr/>
        </p:nvSpPr>
        <p:spPr>
          <a:xfrm>
            <a:off x="695325" y="2438400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866775" y="2438400"/>
            <a:ext cx="10839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Ask: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"Help me craft a clear prompt to add a site-wide dark mode toggle."</a:t>
            </a:r>
            <a:endParaRPr/>
          </a:p>
        </p:txBody>
      </p:sp>
      <p:sp>
        <p:nvSpPr>
          <p:cNvPr id="303" name="Google Shape;303;p25"/>
          <p:cNvSpPr txBox="1"/>
          <p:nvPr/>
        </p:nvSpPr>
        <p:spPr>
          <a:xfrm>
            <a:off x="695325" y="2886075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304" name="Google Shape;304;p25"/>
          <p:cNvSpPr txBox="1"/>
          <p:nvPr/>
        </p:nvSpPr>
        <p:spPr>
          <a:xfrm>
            <a:off x="866775" y="2886075"/>
            <a:ext cx="10839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Copy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result.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695325" y="3333750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/>
          </a:p>
        </p:txBody>
      </p:sp>
      <p:sp>
        <p:nvSpPr>
          <p:cNvPr id="306" name="Google Shape;306;p25"/>
          <p:cNvSpPr txBox="1"/>
          <p:nvPr/>
        </p:nvSpPr>
        <p:spPr>
          <a:xfrm>
            <a:off x="866775" y="3333750"/>
            <a:ext cx="10839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Paste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into Build Mode.</a:t>
            </a:r>
            <a:endParaRPr/>
          </a:p>
        </p:txBody>
      </p:sp>
      <p:sp>
        <p:nvSpPr>
          <p:cNvPr id="307" name="Google Shape;307;p25"/>
          <p:cNvSpPr txBox="1"/>
          <p:nvPr/>
        </p:nvSpPr>
        <p:spPr>
          <a:xfrm>
            <a:off x="714375" y="5669309"/>
            <a:ext cx="108013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rPr>
              <a:t>THE SECRET WEAPON</a:t>
            </a:r>
            <a:endParaRPr/>
          </a:p>
        </p:txBody>
      </p:sp>
      <p:sp>
        <p:nvSpPr>
          <p:cNvPr id="308" name="Google Shape;308;p25"/>
          <p:cNvSpPr txBox="1"/>
          <p:nvPr/>
        </p:nvSpPr>
        <p:spPr>
          <a:xfrm>
            <a:off x="714375" y="5907434"/>
            <a:ext cx="10801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When you don't know the technical terms, let the AI write the instructions for you.</a:t>
            </a:r>
            <a:endParaRPr/>
          </a:p>
        </p:txBody>
      </p:sp>
      <p:sp>
        <p:nvSpPr>
          <p:cNvPr id="309" name="Google Shape;309;p25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Meta-Prompting</a:t>
            </a:r>
            <a:endParaRPr/>
          </a:p>
        </p:txBody>
      </p:sp>
      <p:sp>
        <p:nvSpPr>
          <p:cNvPr id="310" name="Google Shape;310;p25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5" name="Google Shape;31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1571625"/>
            <a:ext cx="11220450" cy="1533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3105150"/>
            <a:ext cx="11220450" cy="1533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4638675"/>
            <a:ext cx="11220450" cy="153352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6"/>
          <p:cNvSpPr txBox="1"/>
          <p:nvPr/>
        </p:nvSpPr>
        <p:spPr>
          <a:xfrm>
            <a:off x="723900" y="1962150"/>
            <a:ext cx="10782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TOP: Context &amp; Constraints</a:t>
            </a:r>
            <a:endParaRPr/>
          </a:p>
        </p:txBody>
      </p:sp>
      <p:sp>
        <p:nvSpPr>
          <p:cNvPr id="320" name="Google Shape;320;p26"/>
          <p:cNvSpPr txBox="1"/>
          <p:nvPr/>
        </p:nvSpPr>
        <p:spPr>
          <a:xfrm>
            <a:off x="723900" y="2457450"/>
            <a:ext cx="10782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"I want a dark/light mode toggle..."</a:t>
            </a:r>
            <a:endParaRPr/>
          </a:p>
        </p:txBody>
      </p:sp>
      <p:sp>
        <p:nvSpPr>
          <p:cNvPr id="321" name="Google Shape;321;p26"/>
          <p:cNvSpPr txBox="1"/>
          <p:nvPr/>
        </p:nvSpPr>
        <p:spPr>
          <a:xfrm>
            <a:off x="723900" y="3495675"/>
            <a:ext cx="10782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MIDDLE: The Request</a:t>
            </a:r>
            <a:endParaRPr/>
          </a:p>
        </p:txBody>
      </p:sp>
      <p:sp>
        <p:nvSpPr>
          <p:cNvPr id="322" name="Google Shape;322;p26"/>
          <p:cNvSpPr txBox="1"/>
          <p:nvPr/>
        </p:nvSpPr>
        <p:spPr>
          <a:xfrm>
            <a:off x="723900" y="3990975"/>
            <a:ext cx="10782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"...implement using Tailwind classes..."</a:t>
            </a:r>
            <a:endParaRPr/>
          </a:p>
        </p:txBody>
      </p:sp>
      <p:sp>
        <p:nvSpPr>
          <p:cNvPr id="323" name="Google Shape;323;p26"/>
          <p:cNvSpPr txBox="1"/>
          <p:nvPr/>
        </p:nvSpPr>
        <p:spPr>
          <a:xfrm>
            <a:off x="723900" y="5029200"/>
            <a:ext cx="10782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BOTTOM: Critical Constraints</a:t>
            </a:r>
            <a:endParaRPr/>
          </a:p>
        </p:txBody>
      </p:sp>
      <p:sp>
        <p:nvSpPr>
          <p:cNvPr id="324" name="Google Shape;324;p26"/>
          <p:cNvSpPr txBox="1"/>
          <p:nvPr/>
        </p:nvSpPr>
        <p:spPr>
          <a:xfrm>
            <a:off x="723900" y="5524500"/>
            <a:ext cx="10782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"...Ensure it persists on refresh."</a:t>
            </a:r>
            <a:endParaRPr/>
          </a:p>
        </p:txBody>
      </p:sp>
      <p:sp>
        <p:nvSpPr>
          <p:cNvPr id="325" name="Google Shape;325;p26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"Sandwich" Method</a:t>
            </a:r>
            <a:endParaRPr/>
          </a:p>
        </p:txBody>
      </p:sp>
      <p:sp>
        <p:nvSpPr>
          <p:cNvPr id="326" name="Google Shape;326;p26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1" name="Google Shape;33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5478809"/>
            <a:ext cx="11220450" cy="8934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2476500"/>
            <a:ext cx="3549550" cy="1938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21075" y="2476500"/>
            <a:ext cx="3549699" cy="1938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56525" y="2476500"/>
            <a:ext cx="3549550" cy="193863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7"/>
          <p:cNvSpPr txBox="1"/>
          <p:nvPr/>
        </p:nvSpPr>
        <p:spPr>
          <a:xfrm>
            <a:off x="485775" y="1371600"/>
            <a:ext cx="117062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Persistent Context</a:t>
            </a:r>
            <a:endParaRPr/>
          </a:p>
        </p:txBody>
      </p:sp>
      <p:sp>
        <p:nvSpPr>
          <p:cNvPr id="337" name="Google Shape;337;p27"/>
          <p:cNvSpPr txBox="1"/>
          <p:nvPr/>
        </p:nvSpPr>
        <p:spPr>
          <a:xfrm>
            <a:off x="485775" y="2028825"/>
            <a:ext cx="11220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Define global rules the AI must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always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follow.</a:t>
            </a:r>
            <a:endParaRPr/>
          </a:p>
        </p:txBody>
      </p:sp>
      <p:sp>
        <p:nvSpPr>
          <p:cNvPr id="338" name="Google Shape;338;p27"/>
          <p:cNvSpPr txBox="1"/>
          <p:nvPr/>
        </p:nvSpPr>
        <p:spPr>
          <a:xfrm>
            <a:off x="714375" y="5669309"/>
            <a:ext cx="108013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rPr>
              <a:t>CONSISTENCY</a:t>
            </a:r>
            <a:endParaRPr/>
          </a:p>
        </p:txBody>
      </p:sp>
      <p:sp>
        <p:nvSpPr>
          <p:cNvPr id="339" name="Google Shape;339;p27"/>
          <p:cNvSpPr txBox="1"/>
          <p:nvPr/>
        </p:nvSpPr>
        <p:spPr>
          <a:xfrm>
            <a:off x="714375" y="5907434"/>
            <a:ext cx="10801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Prevents you from repeating the same style instructions in every single prompt.</a:t>
            </a:r>
            <a:endParaRPr/>
          </a:p>
        </p:txBody>
      </p:sp>
      <p:sp>
        <p:nvSpPr>
          <p:cNvPr id="340" name="Google Shape;340;p27"/>
          <p:cNvSpPr txBox="1"/>
          <p:nvPr/>
        </p:nvSpPr>
        <p:spPr>
          <a:xfrm>
            <a:off x="781050" y="2974330"/>
            <a:ext cx="3106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Rule 1</a:t>
            </a:r>
            <a:endParaRPr/>
          </a:p>
        </p:txBody>
      </p:sp>
      <p:sp>
        <p:nvSpPr>
          <p:cNvPr id="341" name="Google Shape;341;p27"/>
          <p:cNvSpPr txBox="1"/>
          <p:nvPr/>
        </p:nvSpPr>
        <p:spPr>
          <a:xfrm>
            <a:off x="781050" y="3367385"/>
            <a:ext cx="295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"Always support Dark Mode."</a:t>
            </a:r>
            <a:endParaRPr/>
          </a:p>
        </p:txBody>
      </p:sp>
      <p:sp>
        <p:nvSpPr>
          <p:cNvPr id="342" name="Google Shape;342;p27"/>
          <p:cNvSpPr txBox="1"/>
          <p:nvPr/>
        </p:nvSpPr>
        <p:spPr>
          <a:xfrm>
            <a:off x="4616350" y="2974330"/>
            <a:ext cx="310710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Rule 2</a:t>
            </a:r>
            <a:endParaRPr/>
          </a:p>
        </p:txBody>
      </p:sp>
      <p:sp>
        <p:nvSpPr>
          <p:cNvPr id="343" name="Google Shape;343;p27"/>
          <p:cNvSpPr txBox="1"/>
          <p:nvPr/>
        </p:nvSpPr>
        <p:spPr>
          <a:xfrm>
            <a:off x="4616350" y="3367385"/>
            <a:ext cx="295914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"Use rounded corners (20px)."</a:t>
            </a:r>
            <a:endParaRPr/>
          </a:p>
        </p:txBody>
      </p:sp>
      <p:sp>
        <p:nvSpPr>
          <p:cNvPr id="344" name="Google Shape;344;p27"/>
          <p:cNvSpPr txBox="1"/>
          <p:nvPr/>
        </p:nvSpPr>
        <p:spPr>
          <a:xfrm>
            <a:off x="8451800" y="2974330"/>
            <a:ext cx="3106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Rule 3</a:t>
            </a:r>
            <a:endParaRPr/>
          </a:p>
        </p:txBody>
      </p:sp>
      <p:sp>
        <p:nvSpPr>
          <p:cNvPr id="345" name="Google Shape;345;p27"/>
          <p:cNvSpPr txBox="1"/>
          <p:nvPr/>
        </p:nvSpPr>
        <p:spPr>
          <a:xfrm>
            <a:off x="8451800" y="3367385"/>
            <a:ext cx="295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"Primary Brand Color is #FF5733."</a:t>
            </a:r>
            <a:endParaRPr/>
          </a:p>
        </p:txBody>
      </p:sp>
      <p:sp>
        <p:nvSpPr>
          <p:cNvPr id="346" name="Google Shape;346;p27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Project Knowledge</a:t>
            </a:r>
            <a:endParaRPr/>
          </a:p>
        </p:txBody>
      </p:sp>
      <p:sp>
        <p:nvSpPr>
          <p:cNvPr id="347" name="Google Shape;347;p27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2" name="Google Shape;35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28787"/>
            <a:ext cx="53721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8"/>
          <p:cNvSpPr txBox="1"/>
          <p:nvPr/>
        </p:nvSpPr>
        <p:spPr>
          <a:xfrm>
            <a:off x="485775" y="2805112"/>
            <a:ext cx="56407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Image Upload</a:t>
            </a:r>
            <a:endParaRPr/>
          </a:p>
        </p:txBody>
      </p:sp>
      <p:pic>
        <p:nvPicPr>
          <p:cNvPr descr="image.png" id="355" name="Google Shape;35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738312"/>
            <a:ext cx="53530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8"/>
          <p:cNvSpPr txBox="1"/>
          <p:nvPr/>
        </p:nvSpPr>
        <p:spPr>
          <a:xfrm>
            <a:off x="619125" y="32813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57" name="Google Shape;357;p28"/>
          <p:cNvSpPr txBox="1"/>
          <p:nvPr/>
        </p:nvSpPr>
        <p:spPr>
          <a:xfrm>
            <a:off x="723900" y="3281362"/>
            <a:ext cx="5133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Upload a screenshot or Figma export.</a:t>
            </a:r>
            <a:endParaRPr/>
          </a:p>
        </p:txBody>
      </p:sp>
      <p:sp>
        <p:nvSpPr>
          <p:cNvPr id="358" name="Google Shape;358;p28"/>
          <p:cNvSpPr txBox="1"/>
          <p:nvPr/>
        </p:nvSpPr>
        <p:spPr>
          <a:xfrm>
            <a:off x="619125" y="37290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59" name="Google Shape;359;p28"/>
          <p:cNvSpPr txBox="1"/>
          <p:nvPr/>
        </p:nvSpPr>
        <p:spPr>
          <a:xfrm>
            <a:off x="723900" y="3729037"/>
            <a:ext cx="5133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Prompt: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"Make the layout look exactly like this image."</a:t>
            </a:r>
            <a:endParaRPr/>
          </a:p>
        </p:txBody>
      </p:sp>
      <p:sp>
        <p:nvSpPr>
          <p:cNvPr id="360" name="Google Shape;360;p28"/>
          <p:cNvSpPr txBox="1"/>
          <p:nvPr/>
        </p:nvSpPr>
        <p:spPr>
          <a:xfrm>
            <a:off x="619125" y="41767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1" name="Google Shape;361;p28"/>
          <p:cNvSpPr txBox="1"/>
          <p:nvPr/>
        </p:nvSpPr>
        <p:spPr>
          <a:xfrm>
            <a:off x="723900" y="4176712"/>
            <a:ext cx="5133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Lovable analyzes the visual structure and replicates it in code.</a:t>
            </a:r>
            <a:endParaRPr/>
          </a:p>
        </p:txBody>
      </p:sp>
      <p:sp>
        <p:nvSpPr>
          <p:cNvPr id="362" name="Google Shape;362;p28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Design to Code</a:t>
            </a:r>
            <a:endParaRPr/>
          </a:p>
        </p:txBody>
      </p:sp>
      <p:sp>
        <p:nvSpPr>
          <p:cNvPr id="363" name="Google Shape;363;p28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8" name="Google Shape;36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9" name="Google Shape;36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1728787"/>
            <a:ext cx="53721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0" name="Google Shape;37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300" y="1738312"/>
            <a:ext cx="53530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9"/>
          <p:cNvSpPr txBox="1"/>
          <p:nvPr/>
        </p:nvSpPr>
        <p:spPr>
          <a:xfrm>
            <a:off x="6334125" y="2562225"/>
            <a:ext cx="56407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Setup Steps</a:t>
            </a:r>
            <a:endParaRPr/>
          </a:p>
        </p:txBody>
      </p:sp>
      <p:sp>
        <p:nvSpPr>
          <p:cNvPr id="372" name="Google Shape;372;p29"/>
          <p:cNvSpPr txBox="1"/>
          <p:nvPr/>
        </p:nvSpPr>
        <p:spPr>
          <a:xfrm>
            <a:off x="6334125" y="4429125"/>
            <a:ext cx="5372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ensures you have a backup and true ownership of your code.</a:t>
            </a:r>
            <a:endParaRPr/>
          </a:p>
        </p:txBody>
      </p:sp>
      <p:sp>
        <p:nvSpPr>
          <p:cNvPr id="373" name="Google Shape;373;p29"/>
          <p:cNvSpPr txBox="1"/>
          <p:nvPr/>
        </p:nvSpPr>
        <p:spPr>
          <a:xfrm>
            <a:off x="6581775" y="3038475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374" name="Google Shape;374;p29"/>
          <p:cNvSpPr txBox="1"/>
          <p:nvPr/>
        </p:nvSpPr>
        <p:spPr>
          <a:xfrm>
            <a:off x="6715125" y="3038475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Click the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Sync to GitHub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button in header.</a:t>
            </a:r>
            <a:endParaRPr/>
          </a:p>
        </p:txBody>
      </p:sp>
      <p:sp>
        <p:nvSpPr>
          <p:cNvPr id="375" name="Google Shape;375;p29"/>
          <p:cNvSpPr txBox="1"/>
          <p:nvPr/>
        </p:nvSpPr>
        <p:spPr>
          <a:xfrm>
            <a:off x="6543675" y="3486150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376" name="Google Shape;376;p29"/>
          <p:cNvSpPr txBox="1"/>
          <p:nvPr/>
        </p:nvSpPr>
        <p:spPr>
          <a:xfrm>
            <a:off x="6715125" y="3486150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Connect your GitHub account.</a:t>
            </a:r>
            <a:endParaRPr/>
          </a:p>
        </p:txBody>
      </p:sp>
      <p:sp>
        <p:nvSpPr>
          <p:cNvPr id="377" name="Google Shape;377;p29"/>
          <p:cNvSpPr txBox="1"/>
          <p:nvPr/>
        </p:nvSpPr>
        <p:spPr>
          <a:xfrm>
            <a:off x="6543675" y="3933825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378" name="Google Shape;378;p29"/>
          <p:cNvSpPr txBox="1"/>
          <p:nvPr/>
        </p:nvSpPr>
        <p:spPr>
          <a:xfrm>
            <a:off x="6715125" y="3933825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Create a new repository.</a:t>
            </a:r>
            <a:endParaRPr/>
          </a:p>
        </p:txBody>
      </p:sp>
      <p:sp>
        <p:nvSpPr>
          <p:cNvPr id="379" name="Google Shape;379;p29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Connecting GitHub</a:t>
            </a:r>
            <a:endParaRPr/>
          </a:p>
        </p:txBody>
      </p:sp>
      <p:sp>
        <p:nvSpPr>
          <p:cNvPr id="380" name="Google Shape;380;p29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5" name="Google Shape;38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2819400"/>
            <a:ext cx="546735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819400"/>
            <a:ext cx="546735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0"/>
          <p:cNvSpPr txBox="1"/>
          <p:nvPr/>
        </p:nvSpPr>
        <p:spPr>
          <a:xfrm>
            <a:off x="659129" y="3114675"/>
            <a:ext cx="512064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Lovable → GitHub</a:t>
            </a:r>
            <a:endParaRPr/>
          </a:p>
        </p:txBody>
      </p:sp>
      <p:sp>
        <p:nvSpPr>
          <p:cNvPr id="389" name="Google Shape;389;p30"/>
          <p:cNvSpPr txBox="1"/>
          <p:nvPr/>
        </p:nvSpPr>
        <p:spPr>
          <a:xfrm>
            <a:off x="781050" y="3876675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Push changes from the AI builder to your repo.</a:t>
            </a:r>
            <a:endParaRPr/>
          </a:p>
        </p:txBody>
      </p:sp>
      <p:sp>
        <p:nvSpPr>
          <p:cNvPr id="390" name="Google Shape;390;p30"/>
          <p:cNvSpPr txBox="1"/>
          <p:nvPr/>
        </p:nvSpPr>
        <p:spPr>
          <a:xfrm>
            <a:off x="6412230" y="3114675"/>
            <a:ext cx="512064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GitHub → Lovable</a:t>
            </a:r>
            <a:endParaRPr/>
          </a:p>
        </p:txBody>
      </p:sp>
      <p:sp>
        <p:nvSpPr>
          <p:cNvPr id="391" name="Google Shape;391;p30"/>
          <p:cNvSpPr txBox="1"/>
          <p:nvPr/>
        </p:nvSpPr>
        <p:spPr>
          <a:xfrm>
            <a:off x="6534150" y="3876675"/>
            <a:ext cx="4876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Edit code in VS Code, push to Git, and Lovable updates its preview.</a:t>
            </a:r>
            <a:endParaRPr/>
          </a:p>
        </p:txBody>
      </p:sp>
      <p:pic>
        <p:nvPicPr>
          <p:cNvPr descr="image.png" id="392" name="Google Shape;392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76425" y="3114675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3" name="Google Shape;393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9525" y="3114675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0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Two-Way Sync</a:t>
            </a:r>
            <a:endParaRPr/>
          </a:p>
        </p:txBody>
      </p:sp>
      <p:sp>
        <p:nvSpPr>
          <p:cNvPr id="395" name="Google Shape;395;p30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0" name="Google Shape;40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1"/>
          <p:cNvSpPr txBox="1"/>
          <p:nvPr/>
        </p:nvSpPr>
        <p:spPr>
          <a:xfrm>
            <a:off x="485775" y="2814637"/>
            <a:ext cx="117062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No Vendor Lock-in</a:t>
            </a:r>
            <a:endParaRPr/>
          </a:p>
        </p:txBody>
      </p:sp>
      <p:sp>
        <p:nvSpPr>
          <p:cNvPr id="402" name="Google Shape;402;p31"/>
          <p:cNvSpPr txBox="1"/>
          <p:nvPr/>
        </p:nvSpPr>
        <p:spPr>
          <a:xfrm>
            <a:off x="619125" y="34337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03" name="Google Shape;403;p31"/>
          <p:cNvSpPr txBox="1"/>
          <p:nvPr/>
        </p:nvSpPr>
        <p:spPr>
          <a:xfrm>
            <a:off x="723900" y="3433762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You can download the full source code as a ZIP.</a:t>
            </a:r>
            <a:endParaRPr/>
          </a:p>
        </p:txBody>
      </p:sp>
      <p:sp>
        <p:nvSpPr>
          <p:cNvPr id="404" name="Google Shape;404;p31"/>
          <p:cNvSpPr txBox="1"/>
          <p:nvPr/>
        </p:nvSpPr>
        <p:spPr>
          <a:xfrm>
            <a:off x="619125" y="38814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05" name="Google Shape;405;p31"/>
          <p:cNvSpPr txBox="1"/>
          <p:nvPr/>
        </p:nvSpPr>
        <p:spPr>
          <a:xfrm>
            <a:off x="723900" y="3881437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Stack: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Vite, React, Tailwind CSS, Supabase.</a:t>
            </a:r>
            <a:endParaRPr/>
          </a:p>
        </p:txBody>
      </p:sp>
      <p:sp>
        <p:nvSpPr>
          <p:cNvPr id="406" name="Google Shape;406;p31"/>
          <p:cNvSpPr txBox="1"/>
          <p:nvPr/>
        </p:nvSpPr>
        <p:spPr>
          <a:xfrm>
            <a:off x="619125" y="43291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07" name="Google Shape;407;p31"/>
          <p:cNvSpPr txBox="1"/>
          <p:nvPr/>
        </p:nvSpPr>
        <p:spPr>
          <a:xfrm>
            <a:off x="723900" y="4329112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You can host this code on Vercel, Netlify, or AWS without Lovable.</a:t>
            </a:r>
            <a:endParaRPr/>
          </a:p>
        </p:txBody>
      </p:sp>
      <p:sp>
        <p:nvSpPr>
          <p:cNvPr id="408" name="Google Shape;408;p31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Code Export</a:t>
            </a:r>
            <a:endParaRPr/>
          </a:p>
        </p:txBody>
      </p:sp>
      <p:sp>
        <p:nvSpPr>
          <p:cNvPr id="409" name="Google Shape;409;p31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4" name="Google Shape;41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5" name="Google Shape;41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485775"/>
            <a:ext cx="11220450" cy="588645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2"/>
          <p:cNvSpPr txBox="1"/>
          <p:nvPr/>
        </p:nvSpPr>
        <p:spPr>
          <a:xfrm>
            <a:off x="3610689" y="2241202"/>
            <a:ext cx="4970621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The Backend</a:t>
            </a:r>
            <a:endParaRPr/>
          </a:p>
        </p:txBody>
      </p:sp>
      <p:sp>
        <p:nvSpPr>
          <p:cNvPr id="417" name="Google Shape;417;p32"/>
          <p:cNvSpPr/>
          <p:nvPr/>
        </p:nvSpPr>
        <p:spPr>
          <a:xfrm>
            <a:off x="5619750" y="3555652"/>
            <a:ext cx="952500" cy="3810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2"/>
          <p:cNvSpPr txBox="1"/>
          <p:nvPr/>
        </p:nvSpPr>
        <p:spPr>
          <a:xfrm>
            <a:off x="4138612" y="4108102"/>
            <a:ext cx="39147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Database, Auth, and Edge Functions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3" name="Google Shape;42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4" name="Google Shape;42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1728787"/>
            <a:ext cx="53721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5" name="Google Shape;425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300" y="1738312"/>
            <a:ext cx="53530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33"/>
          <p:cNvSpPr txBox="1"/>
          <p:nvPr/>
        </p:nvSpPr>
        <p:spPr>
          <a:xfrm>
            <a:off x="6334125" y="2562225"/>
            <a:ext cx="56407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One-Click Connect</a:t>
            </a:r>
            <a:endParaRPr/>
          </a:p>
        </p:txBody>
      </p:sp>
      <p:sp>
        <p:nvSpPr>
          <p:cNvPr id="427" name="Google Shape;427;p33"/>
          <p:cNvSpPr txBox="1"/>
          <p:nvPr/>
        </p:nvSpPr>
        <p:spPr>
          <a:xfrm>
            <a:off x="6334125" y="4429125"/>
            <a:ext cx="5372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provisions a full Postgres database connected to your app.</a:t>
            </a:r>
            <a:endParaRPr/>
          </a:p>
        </p:txBody>
      </p:sp>
      <p:sp>
        <p:nvSpPr>
          <p:cNvPr id="428" name="Google Shape;428;p33"/>
          <p:cNvSpPr txBox="1"/>
          <p:nvPr/>
        </p:nvSpPr>
        <p:spPr>
          <a:xfrm>
            <a:off x="6581775" y="3038475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429" name="Google Shape;429;p33"/>
          <p:cNvSpPr txBox="1"/>
          <p:nvPr/>
        </p:nvSpPr>
        <p:spPr>
          <a:xfrm>
            <a:off x="6715125" y="3038475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Click the Supabase icon in Lovable.</a:t>
            </a:r>
            <a:endParaRPr/>
          </a:p>
        </p:txBody>
      </p:sp>
      <p:sp>
        <p:nvSpPr>
          <p:cNvPr id="430" name="Google Shape;430;p33"/>
          <p:cNvSpPr txBox="1"/>
          <p:nvPr/>
        </p:nvSpPr>
        <p:spPr>
          <a:xfrm>
            <a:off x="6543675" y="3486150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431" name="Google Shape;431;p33"/>
          <p:cNvSpPr txBox="1"/>
          <p:nvPr/>
        </p:nvSpPr>
        <p:spPr>
          <a:xfrm>
            <a:off x="6715125" y="3486150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Create a new project (Select Region).</a:t>
            </a:r>
            <a:endParaRPr/>
          </a:p>
        </p:txBody>
      </p:sp>
      <p:sp>
        <p:nvSpPr>
          <p:cNvPr id="432" name="Google Shape;432;p33"/>
          <p:cNvSpPr txBox="1"/>
          <p:nvPr/>
        </p:nvSpPr>
        <p:spPr>
          <a:xfrm>
            <a:off x="6543675" y="3933825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433" name="Google Shape;433;p33"/>
          <p:cNvSpPr txBox="1"/>
          <p:nvPr/>
        </p:nvSpPr>
        <p:spPr>
          <a:xfrm>
            <a:off x="6715125" y="3933825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Set a database password.</a:t>
            </a:r>
            <a:endParaRPr/>
          </a:p>
        </p:txBody>
      </p:sp>
      <p:sp>
        <p:nvSpPr>
          <p:cNvPr id="434" name="Google Shape;434;p33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Integrating Supabase</a:t>
            </a:r>
            <a:endParaRPr/>
          </a:p>
        </p:txBody>
      </p:sp>
      <p:sp>
        <p:nvSpPr>
          <p:cNvPr id="435" name="Google Shape;435;p33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0" name="Google Shape;44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1" name="Google Shape;44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28787"/>
            <a:ext cx="53721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2" name="Google Shape;442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3357562"/>
            <a:ext cx="5372100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4"/>
          <p:cNvSpPr txBox="1"/>
          <p:nvPr/>
        </p:nvSpPr>
        <p:spPr>
          <a:xfrm>
            <a:off x="485775" y="2843212"/>
            <a:ext cx="56407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User Management</a:t>
            </a:r>
            <a:endParaRPr/>
          </a:p>
        </p:txBody>
      </p:sp>
      <p:sp>
        <p:nvSpPr>
          <p:cNvPr id="444" name="Google Shape;444;p34"/>
          <p:cNvSpPr txBox="1"/>
          <p:nvPr/>
        </p:nvSpPr>
        <p:spPr>
          <a:xfrm>
            <a:off x="485775" y="4148137"/>
            <a:ext cx="5372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Lovable will auto-generate the Login/Register forms and handle the Supabase Auth logic.</a:t>
            </a:r>
            <a:endParaRPr/>
          </a:p>
        </p:txBody>
      </p:sp>
      <p:pic>
        <p:nvPicPr>
          <p:cNvPr descr="image.png" id="445" name="Google Shape;445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1738312"/>
            <a:ext cx="53530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4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Authentication Flow</a:t>
            </a:r>
            <a:endParaRPr/>
          </a:p>
        </p:txBody>
      </p:sp>
      <p:sp>
        <p:nvSpPr>
          <p:cNvPr id="447" name="Google Shape;447;p34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2" name="Google Shape;45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3" name="Google Shape;45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2505075"/>
            <a:ext cx="354955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4" name="Google Shape;454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075" y="2505075"/>
            <a:ext cx="3549699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5" name="Google Shape;455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050" y="28003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5"/>
          <p:cNvSpPr txBox="1"/>
          <p:nvPr/>
        </p:nvSpPr>
        <p:spPr>
          <a:xfrm>
            <a:off x="781050" y="3371850"/>
            <a:ext cx="3106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Email Confirmation</a:t>
            </a:r>
            <a:endParaRPr/>
          </a:p>
        </p:txBody>
      </p:sp>
      <p:sp>
        <p:nvSpPr>
          <p:cNvPr id="457" name="Google Shape;457;p35"/>
          <p:cNvSpPr txBox="1"/>
          <p:nvPr/>
        </p:nvSpPr>
        <p:spPr>
          <a:xfrm>
            <a:off x="781050" y="3886200"/>
            <a:ext cx="295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Sign-in might fail if the user hasn't verified their email (default Supabase setting).</a:t>
            </a:r>
            <a:endParaRPr/>
          </a:p>
        </p:txBody>
      </p:sp>
      <p:pic>
        <p:nvPicPr>
          <p:cNvPr descr="image.png" id="458" name="Google Shape;458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16350" y="28003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35"/>
          <p:cNvSpPr txBox="1"/>
          <p:nvPr/>
        </p:nvSpPr>
        <p:spPr>
          <a:xfrm>
            <a:off x="4616350" y="3371850"/>
            <a:ext cx="310710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RLS Blocks</a:t>
            </a:r>
            <a:endParaRPr/>
          </a:p>
        </p:txBody>
      </p:sp>
      <p:sp>
        <p:nvSpPr>
          <p:cNvPr id="460" name="Google Shape;460;p35"/>
          <p:cNvSpPr txBox="1"/>
          <p:nvPr/>
        </p:nvSpPr>
        <p:spPr>
          <a:xfrm>
            <a:off x="4616350" y="3886200"/>
            <a:ext cx="29591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If data won't save, check if the RLS policy allows "INSERT" for authenticated users.</a:t>
            </a:r>
            <a:endParaRPr/>
          </a:p>
        </p:txBody>
      </p:sp>
      <p:sp>
        <p:nvSpPr>
          <p:cNvPr id="461" name="Google Shape;461;p35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Supabase "Gotchas"</a:t>
            </a:r>
            <a:endParaRPr/>
          </a:p>
        </p:txBody>
      </p:sp>
      <p:sp>
        <p:nvSpPr>
          <p:cNvPr id="462" name="Google Shape;462;p35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7" name="Google Shape;46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36"/>
          <p:cNvSpPr txBox="1"/>
          <p:nvPr/>
        </p:nvSpPr>
        <p:spPr>
          <a:xfrm>
            <a:off x="485775" y="3038475"/>
            <a:ext cx="117062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Advanced Data Modeling</a:t>
            </a:r>
            <a:endParaRPr/>
          </a:p>
        </p:txBody>
      </p:sp>
      <p:sp>
        <p:nvSpPr>
          <p:cNvPr id="469" name="Google Shape;469;p36"/>
          <p:cNvSpPr txBox="1"/>
          <p:nvPr/>
        </p:nvSpPr>
        <p:spPr>
          <a:xfrm>
            <a:off x="619125" y="36576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70" name="Google Shape;470;p36"/>
          <p:cNvSpPr txBox="1"/>
          <p:nvPr/>
        </p:nvSpPr>
        <p:spPr>
          <a:xfrm>
            <a:off x="723900" y="3657600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Auth table is private. You need a public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profiles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table for avatars/names.</a:t>
            </a:r>
            <a:endParaRPr/>
          </a:p>
        </p:txBody>
      </p:sp>
      <p:sp>
        <p:nvSpPr>
          <p:cNvPr id="471" name="Google Shape;471;p36"/>
          <p:cNvSpPr txBox="1"/>
          <p:nvPr/>
        </p:nvSpPr>
        <p:spPr>
          <a:xfrm>
            <a:off x="619125" y="41052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72" name="Google Shape;472;p36"/>
          <p:cNvSpPr txBox="1"/>
          <p:nvPr/>
        </p:nvSpPr>
        <p:spPr>
          <a:xfrm>
            <a:off x="723900" y="4105275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Prompt: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"Create a profiles table linked to auth.users. Add avatar_url and username."</a:t>
            </a:r>
            <a:endParaRPr/>
          </a:p>
        </p:txBody>
      </p:sp>
      <p:sp>
        <p:nvSpPr>
          <p:cNvPr id="473" name="Google Shape;473;p36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Profiles &amp; User Data</a:t>
            </a:r>
            <a:endParaRPr/>
          </a:p>
        </p:txBody>
      </p:sp>
      <p:sp>
        <p:nvSpPr>
          <p:cNvPr id="474" name="Google Shape;474;p36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0" name="Google Shape;480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28787"/>
            <a:ext cx="53721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1" name="Google Shape;481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738312"/>
            <a:ext cx="53530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7"/>
          <p:cNvSpPr txBox="1"/>
          <p:nvPr/>
        </p:nvSpPr>
        <p:spPr>
          <a:xfrm>
            <a:off x="723900" y="3048000"/>
            <a:ext cx="5133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Test all routes (Login, Home, App).</a:t>
            </a:r>
            <a:endParaRPr/>
          </a:p>
        </p:txBody>
      </p:sp>
      <p:sp>
        <p:nvSpPr>
          <p:cNvPr id="483" name="Google Shape;483;p37"/>
          <p:cNvSpPr txBox="1"/>
          <p:nvPr/>
        </p:nvSpPr>
        <p:spPr>
          <a:xfrm>
            <a:off x="723900" y="3495675"/>
            <a:ext cx="5133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Check mobile responsiveness.</a:t>
            </a:r>
            <a:endParaRPr/>
          </a:p>
        </p:txBody>
      </p:sp>
      <p:sp>
        <p:nvSpPr>
          <p:cNvPr id="484" name="Google Shape;484;p37"/>
          <p:cNvSpPr txBox="1"/>
          <p:nvPr/>
        </p:nvSpPr>
        <p:spPr>
          <a:xfrm>
            <a:off x="723900" y="3943350"/>
            <a:ext cx="5133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Verify Auth flow (Sign up new user).</a:t>
            </a:r>
            <a:endParaRPr/>
          </a:p>
        </p:txBody>
      </p:sp>
      <p:sp>
        <p:nvSpPr>
          <p:cNvPr id="485" name="Google Shape;485;p37"/>
          <p:cNvSpPr txBox="1"/>
          <p:nvPr/>
        </p:nvSpPr>
        <p:spPr>
          <a:xfrm>
            <a:off x="723900" y="4391025"/>
            <a:ext cx="5133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Check Browser Console for red errors.</a:t>
            </a:r>
            <a:endParaRPr/>
          </a:p>
        </p:txBody>
      </p:sp>
      <p:pic>
        <p:nvPicPr>
          <p:cNvPr descr="image.png" id="486" name="Google Shape;486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3900" y="31003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7" name="Google Shape;487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3900" y="35480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8" name="Google Shape;488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3900" y="39957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9" name="Google Shape;489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3900" y="4443412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37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Pre-Deployment Checklist</a:t>
            </a:r>
            <a:endParaRPr/>
          </a:p>
        </p:txBody>
      </p:sp>
      <p:sp>
        <p:nvSpPr>
          <p:cNvPr id="491" name="Google Shape;491;p37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96" name="Google Shape;49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7" name="Google Shape;497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3033712"/>
            <a:ext cx="3048000" cy="752475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38"/>
          <p:cNvSpPr txBox="1"/>
          <p:nvPr/>
        </p:nvSpPr>
        <p:spPr>
          <a:xfrm>
            <a:off x="485775" y="4262437"/>
            <a:ext cx="11220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Lovable builds the production assets and deploys to a hosted URL (lovable.app).</a:t>
            </a:r>
            <a:endParaRPr/>
          </a:p>
        </p:txBody>
      </p:sp>
      <p:sp>
        <p:nvSpPr>
          <p:cNvPr id="499" name="Google Shape;499;p38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Publishing</a:t>
            </a:r>
            <a:endParaRPr/>
          </a:p>
        </p:txBody>
      </p:sp>
      <p:sp>
        <p:nvSpPr>
          <p:cNvPr id="500" name="Google Shape;500;p38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5" name="Google Shape;50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39"/>
          <p:cNvSpPr txBox="1"/>
          <p:nvPr/>
        </p:nvSpPr>
        <p:spPr>
          <a:xfrm>
            <a:off x="485775" y="2814637"/>
            <a:ext cx="117062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Professional Polish</a:t>
            </a:r>
            <a:endParaRPr/>
          </a:p>
        </p:txBody>
      </p:sp>
      <p:sp>
        <p:nvSpPr>
          <p:cNvPr id="507" name="Google Shape;507;p39"/>
          <p:cNvSpPr txBox="1"/>
          <p:nvPr/>
        </p:nvSpPr>
        <p:spPr>
          <a:xfrm>
            <a:off x="619125" y="34337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08" name="Google Shape;508;p39"/>
          <p:cNvSpPr txBox="1"/>
          <p:nvPr/>
        </p:nvSpPr>
        <p:spPr>
          <a:xfrm>
            <a:off x="723900" y="3433762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Domains: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Configure in Project Settings (CNAME records).</a:t>
            </a:r>
            <a:endParaRPr/>
          </a:p>
        </p:txBody>
      </p:sp>
      <p:sp>
        <p:nvSpPr>
          <p:cNvPr id="509" name="Google Shape;509;p39"/>
          <p:cNvSpPr txBox="1"/>
          <p:nvPr/>
        </p:nvSpPr>
        <p:spPr>
          <a:xfrm>
            <a:off x="619125" y="38814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10" name="Google Shape;510;p39"/>
          <p:cNvSpPr txBox="1"/>
          <p:nvPr/>
        </p:nvSpPr>
        <p:spPr>
          <a:xfrm>
            <a:off x="723900" y="3881437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SEO Prompt: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"Add meta description and title tags for SEO optimization."</a:t>
            </a:r>
            <a:endParaRPr/>
          </a:p>
        </p:txBody>
      </p:sp>
      <p:sp>
        <p:nvSpPr>
          <p:cNvPr id="511" name="Google Shape;511;p39"/>
          <p:cNvSpPr txBox="1"/>
          <p:nvPr/>
        </p:nvSpPr>
        <p:spPr>
          <a:xfrm>
            <a:off x="619125" y="43291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12" name="Google Shape;512;p39"/>
          <p:cNvSpPr txBox="1"/>
          <p:nvPr/>
        </p:nvSpPr>
        <p:spPr>
          <a:xfrm>
            <a:off x="723900" y="4329112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Social: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"Add Open Graph tags for social media sharing cards."</a:t>
            </a:r>
            <a:endParaRPr/>
          </a:p>
        </p:txBody>
      </p:sp>
      <p:sp>
        <p:nvSpPr>
          <p:cNvPr id="513" name="Google Shape;513;p39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Custom Domains &amp; SEO</a:t>
            </a:r>
            <a:endParaRPr/>
          </a:p>
        </p:txBody>
      </p:sp>
      <p:sp>
        <p:nvSpPr>
          <p:cNvPr id="514" name="Google Shape;514;p39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19" name="Google Shape;51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0" name="Google Shape;520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5478809"/>
            <a:ext cx="11220450" cy="893415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40"/>
          <p:cNvSpPr txBox="1"/>
          <p:nvPr/>
        </p:nvSpPr>
        <p:spPr>
          <a:xfrm>
            <a:off x="485775" y="1371600"/>
            <a:ext cx="117062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When things break...</a:t>
            </a:r>
            <a:endParaRPr/>
          </a:p>
        </p:txBody>
      </p:sp>
      <p:sp>
        <p:nvSpPr>
          <p:cNvPr id="522" name="Google Shape;522;p40"/>
          <p:cNvSpPr txBox="1"/>
          <p:nvPr/>
        </p:nvSpPr>
        <p:spPr>
          <a:xfrm>
            <a:off x="733425" y="1990725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523" name="Google Shape;523;p40"/>
          <p:cNvSpPr txBox="1"/>
          <p:nvPr/>
        </p:nvSpPr>
        <p:spPr>
          <a:xfrm>
            <a:off x="866775" y="1990725"/>
            <a:ext cx="10839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Paste Errors: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Copy the red error text into Chat.</a:t>
            </a:r>
            <a:endParaRPr/>
          </a:p>
        </p:txBody>
      </p:sp>
      <p:sp>
        <p:nvSpPr>
          <p:cNvPr id="524" name="Google Shape;524;p40"/>
          <p:cNvSpPr txBox="1"/>
          <p:nvPr/>
        </p:nvSpPr>
        <p:spPr>
          <a:xfrm>
            <a:off x="695325" y="2438400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525" name="Google Shape;525;p40"/>
          <p:cNvSpPr txBox="1"/>
          <p:nvPr/>
        </p:nvSpPr>
        <p:spPr>
          <a:xfrm>
            <a:off x="866775" y="2438400"/>
            <a:ext cx="10839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Ask "Why":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"Why is the login button not responding?"</a:t>
            </a:r>
            <a:endParaRPr/>
          </a:p>
        </p:txBody>
      </p:sp>
      <p:sp>
        <p:nvSpPr>
          <p:cNvPr id="526" name="Google Shape;526;p40"/>
          <p:cNvSpPr txBox="1"/>
          <p:nvPr/>
        </p:nvSpPr>
        <p:spPr>
          <a:xfrm>
            <a:off x="695325" y="2886075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527" name="Google Shape;527;p40"/>
          <p:cNvSpPr txBox="1"/>
          <p:nvPr/>
        </p:nvSpPr>
        <p:spPr>
          <a:xfrm>
            <a:off x="866775" y="2886075"/>
            <a:ext cx="10839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Isolate: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Revert the last change (History) to see if that fixes it.</a:t>
            </a:r>
            <a:endParaRPr/>
          </a:p>
        </p:txBody>
      </p:sp>
      <p:sp>
        <p:nvSpPr>
          <p:cNvPr id="528" name="Google Shape;528;p40"/>
          <p:cNvSpPr txBox="1"/>
          <p:nvPr/>
        </p:nvSpPr>
        <p:spPr>
          <a:xfrm>
            <a:off x="714375" y="5669309"/>
            <a:ext cx="108013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rPr>
              <a:t>PROBLEM SOLVING</a:t>
            </a:r>
            <a:endParaRPr/>
          </a:p>
        </p:txBody>
      </p:sp>
      <p:sp>
        <p:nvSpPr>
          <p:cNvPr id="529" name="Google Shape;529;p40"/>
          <p:cNvSpPr txBox="1"/>
          <p:nvPr/>
        </p:nvSpPr>
        <p:spPr>
          <a:xfrm>
            <a:off x="714375" y="5907434"/>
            <a:ext cx="10801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Treat the AI as a junior developer. It needs clear error reports to fix bugs.</a:t>
            </a:r>
            <a:endParaRPr/>
          </a:p>
        </p:txBody>
      </p:sp>
      <p:sp>
        <p:nvSpPr>
          <p:cNvPr id="530" name="Google Shape;530;p40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Debugging Tactics</a:t>
            </a:r>
            <a:endParaRPr/>
          </a:p>
        </p:txBody>
      </p:sp>
      <p:sp>
        <p:nvSpPr>
          <p:cNvPr id="531" name="Google Shape;531;p40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36" name="Google Shape;53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7" name="Google Shape;53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2657475"/>
            <a:ext cx="354955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8" name="Google Shape;538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075" y="2657475"/>
            <a:ext cx="3549699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9" name="Google Shape;539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050" y="29527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41"/>
          <p:cNvSpPr txBox="1"/>
          <p:nvPr/>
        </p:nvSpPr>
        <p:spPr>
          <a:xfrm>
            <a:off x="781050" y="3524250"/>
            <a:ext cx="3106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Analytics</a:t>
            </a:r>
            <a:endParaRPr/>
          </a:p>
        </p:txBody>
      </p:sp>
      <p:sp>
        <p:nvSpPr>
          <p:cNvPr id="541" name="Google Shape;541;p41"/>
          <p:cNvSpPr txBox="1"/>
          <p:nvPr/>
        </p:nvSpPr>
        <p:spPr>
          <a:xfrm>
            <a:off x="781050" y="4038600"/>
            <a:ext cx="295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Prompt to add Google Analytics or PostHog.</a:t>
            </a:r>
            <a:endParaRPr/>
          </a:p>
        </p:txBody>
      </p:sp>
      <p:pic>
        <p:nvPicPr>
          <p:cNvPr descr="image.png" id="542" name="Google Shape;542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16350" y="295275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41"/>
          <p:cNvSpPr txBox="1"/>
          <p:nvPr/>
        </p:nvSpPr>
        <p:spPr>
          <a:xfrm>
            <a:off x="4616350" y="3524250"/>
            <a:ext cx="310710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Feedback</a:t>
            </a:r>
            <a:endParaRPr/>
          </a:p>
        </p:txBody>
      </p:sp>
      <p:sp>
        <p:nvSpPr>
          <p:cNvPr id="544" name="Google Shape;544;p41"/>
          <p:cNvSpPr txBox="1"/>
          <p:nvPr/>
        </p:nvSpPr>
        <p:spPr>
          <a:xfrm>
            <a:off x="4616350" y="4038600"/>
            <a:ext cx="29591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Gather user feedback and iterate.</a:t>
            </a:r>
            <a:endParaRPr/>
          </a:p>
        </p:txBody>
      </p:sp>
      <p:sp>
        <p:nvSpPr>
          <p:cNvPr id="545" name="Google Shape;545;p41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Continuous Improvement</a:t>
            </a:r>
            <a:endParaRPr/>
          </a:p>
        </p:txBody>
      </p:sp>
      <p:sp>
        <p:nvSpPr>
          <p:cNvPr id="546" name="Google Shape;546;p41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51" name="Google Shape;55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42"/>
          <p:cNvSpPr txBox="1"/>
          <p:nvPr/>
        </p:nvSpPr>
        <p:spPr>
          <a:xfrm>
            <a:off x="485775" y="2814637"/>
            <a:ext cx="117062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Sustainability</a:t>
            </a:r>
            <a:endParaRPr/>
          </a:p>
        </p:txBody>
      </p:sp>
      <p:sp>
        <p:nvSpPr>
          <p:cNvPr id="553" name="Google Shape;553;p42"/>
          <p:cNvSpPr txBox="1"/>
          <p:nvPr/>
        </p:nvSpPr>
        <p:spPr>
          <a:xfrm>
            <a:off x="619125" y="34337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54" name="Google Shape;554;p42"/>
          <p:cNvSpPr txBox="1"/>
          <p:nvPr/>
        </p:nvSpPr>
        <p:spPr>
          <a:xfrm>
            <a:off x="723900" y="3433762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Monitor Credits: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Check your Lovable balance daily.</a:t>
            </a:r>
            <a:endParaRPr/>
          </a:p>
        </p:txBody>
      </p:sp>
      <p:sp>
        <p:nvSpPr>
          <p:cNvPr id="555" name="Google Shape;555;p42"/>
          <p:cNvSpPr txBox="1"/>
          <p:nvPr/>
        </p:nvSpPr>
        <p:spPr>
          <a:xfrm>
            <a:off x="619125" y="38814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56" name="Google Shape;556;p42"/>
          <p:cNvSpPr txBox="1"/>
          <p:nvPr/>
        </p:nvSpPr>
        <p:spPr>
          <a:xfrm>
            <a:off x="723900" y="3881437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Supabase Limits: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Be aware of the Free Tier limits (Database size, Monthly Active Users).</a:t>
            </a:r>
            <a:endParaRPr/>
          </a:p>
        </p:txBody>
      </p:sp>
      <p:sp>
        <p:nvSpPr>
          <p:cNvPr id="557" name="Google Shape;557;p42"/>
          <p:cNvSpPr txBox="1"/>
          <p:nvPr/>
        </p:nvSpPr>
        <p:spPr>
          <a:xfrm>
            <a:off x="619125" y="43291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58" name="Google Shape;558;p42"/>
          <p:cNvSpPr txBox="1"/>
          <p:nvPr/>
        </p:nvSpPr>
        <p:spPr>
          <a:xfrm>
            <a:off x="723900" y="4329112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Efficiency: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Combine small edits into one prompt to save credits.</a:t>
            </a:r>
            <a:endParaRPr/>
          </a:p>
        </p:txBody>
      </p:sp>
      <p:sp>
        <p:nvSpPr>
          <p:cNvPr id="559" name="Google Shape;559;p42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Cost Management</a:t>
            </a:r>
            <a:endParaRPr/>
          </a:p>
        </p:txBody>
      </p:sp>
      <p:sp>
        <p:nvSpPr>
          <p:cNvPr id="560" name="Google Shape;560;p42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65" name="Google Shape;56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6" name="Google Shape;56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2813000"/>
            <a:ext cx="2590800" cy="9004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7" name="Google Shape;567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62325" y="2813000"/>
            <a:ext cx="2590800" cy="9004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8" name="Google Shape;568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813000"/>
            <a:ext cx="2590800" cy="9004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9" name="Google Shape;569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15425" y="2813000"/>
            <a:ext cx="2590800" cy="90041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43"/>
          <p:cNvSpPr txBox="1"/>
          <p:nvPr/>
        </p:nvSpPr>
        <p:spPr>
          <a:xfrm>
            <a:off x="485775" y="4361110"/>
            <a:ext cx="112204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single person can now execute the work of a full stack team.</a:t>
            </a:r>
            <a:endParaRPr/>
          </a:p>
        </p:txBody>
      </p:sp>
      <p:sp>
        <p:nvSpPr>
          <p:cNvPr id="571" name="Google Shape;571;p43"/>
          <p:cNvSpPr txBox="1"/>
          <p:nvPr/>
        </p:nvSpPr>
        <p:spPr>
          <a:xfrm>
            <a:off x="638175" y="3167955"/>
            <a:ext cx="2400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Prompt → UI</a:t>
            </a:r>
            <a:endParaRPr/>
          </a:p>
        </p:txBody>
      </p:sp>
      <p:sp>
        <p:nvSpPr>
          <p:cNvPr id="572" name="Google Shape;572;p43"/>
          <p:cNvSpPr txBox="1"/>
          <p:nvPr/>
        </p:nvSpPr>
        <p:spPr>
          <a:xfrm>
            <a:off x="3514725" y="3167955"/>
            <a:ext cx="2400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Prompt → DB</a:t>
            </a:r>
            <a:endParaRPr/>
          </a:p>
        </p:txBody>
      </p:sp>
      <p:sp>
        <p:nvSpPr>
          <p:cNvPr id="573" name="Google Shape;573;p43"/>
          <p:cNvSpPr txBox="1"/>
          <p:nvPr/>
        </p:nvSpPr>
        <p:spPr>
          <a:xfrm>
            <a:off x="6391275" y="3167955"/>
            <a:ext cx="2400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Prompt → Auth</a:t>
            </a:r>
            <a:endParaRPr/>
          </a:p>
        </p:txBody>
      </p:sp>
      <p:sp>
        <p:nvSpPr>
          <p:cNvPr id="574" name="Google Shape;574;p43"/>
          <p:cNvSpPr txBox="1"/>
          <p:nvPr/>
        </p:nvSpPr>
        <p:spPr>
          <a:xfrm>
            <a:off x="9267825" y="3167955"/>
            <a:ext cx="2400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Prompt → Deploy</a:t>
            </a:r>
            <a:endParaRPr/>
          </a:p>
        </p:txBody>
      </p:sp>
      <p:sp>
        <p:nvSpPr>
          <p:cNvPr id="575" name="Google Shape;575;p43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Summary of Capabilities</a:t>
            </a:r>
            <a:endParaRPr/>
          </a:p>
        </p:txBody>
      </p:sp>
      <p:sp>
        <p:nvSpPr>
          <p:cNvPr id="576" name="Google Shape;576;p43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81" name="Google Shape;58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44"/>
          <p:cNvSpPr txBox="1"/>
          <p:nvPr/>
        </p:nvSpPr>
        <p:spPr>
          <a:xfrm>
            <a:off x="242887" y="2264122"/>
            <a:ext cx="11706225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rPr>
              <a:t>Build your first app today.</a:t>
            </a:r>
            <a:endParaRPr/>
          </a:p>
        </p:txBody>
      </p:sp>
      <p:sp>
        <p:nvSpPr>
          <p:cNvPr id="583" name="Google Shape;583;p44"/>
          <p:cNvSpPr txBox="1"/>
          <p:nvPr/>
        </p:nvSpPr>
        <p:spPr>
          <a:xfrm>
            <a:off x="485775" y="3639442"/>
            <a:ext cx="112204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lovable.dev</a:t>
            </a:r>
            <a:endParaRPr/>
          </a:p>
        </p:txBody>
      </p:sp>
      <p:sp>
        <p:nvSpPr>
          <p:cNvPr id="584" name="Google Shape;584;p44"/>
          <p:cNvSpPr txBox="1"/>
          <p:nvPr/>
        </p:nvSpPr>
        <p:spPr>
          <a:xfrm>
            <a:off x="485775" y="4176563"/>
            <a:ext cx="11220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Start small. Iterate fast. Deploy often.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