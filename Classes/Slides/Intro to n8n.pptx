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embeddedFontLst>
    <p:embeddedFont>
      <p:font typeface="Inter" panose="020B0604020202020204" charset="0"/>
      <p:regular r:id="rId24"/>
      <p:bold r:id="rId25"/>
      <p:italic r:id="rId26"/>
      <p:boldItalic r:id="rId27"/>
    </p:embeddedFont>
    <p:embeddedFont>
      <p:font typeface="JetBrains Mono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64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de1e0fc6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de1e0fc6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951922" y="2551807"/>
            <a:ext cx="3840600" cy="17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Intro to n8n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714625" y="4449067"/>
            <a:ext cx="646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The Orchestrator: Workflow Automation &amp; AI</a:t>
            </a:r>
            <a:endParaRPr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76850" y="1113532"/>
            <a:ext cx="1190625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636490"/>
            <a:ext cx="5229225" cy="2868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67737" y="2941290"/>
            <a:ext cx="857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653462" y="4036665"/>
            <a:ext cx="72009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Goal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300912" y="4829026"/>
            <a:ext cx="33909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 understand the full ecosystem of n8n.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85800" y="233734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19150" y="2337345"/>
            <a:ext cx="4991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Fundamentals: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What is n8n, why use it, and the concept of "The Orchestrator".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85800" y="311839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19150" y="3118395"/>
            <a:ext cx="4991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Interface: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Navigating Nodes, Edges, and Executions.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85800" y="389944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19150" y="3899445"/>
            <a:ext cx="4991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Understanding JSON and why we use it.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85800" y="468049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19150" y="4680495"/>
            <a:ext cx="4991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 Integration: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Using AI Agents, Tools, and Output Parsers.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85800" y="546154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19150" y="5461545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Resources: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Certification, Docs, and Pricing.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Class Objectives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989707"/>
            <a:ext cx="5372101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989707"/>
            <a:ext cx="5372101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123307"/>
            <a:ext cx="5372101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5" y="3123307"/>
            <a:ext cx="5372101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5256907"/>
            <a:ext cx="11029950" cy="11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781050" y="1189732"/>
            <a:ext cx="4972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r>
              <a:rPr lang="en-US" sz="18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Introduction &amp; Setup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781050" y="1580257"/>
            <a:ext cx="4972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1257300" y="1732657"/>
            <a:ext cx="449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What is n8n &amp; The Orchestrator No-Code vs. Low-Code Pricing, Trial &amp; Self-Hosted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438900" y="1189732"/>
            <a:ext cx="4972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r>
              <a:rPr lang="en-US" sz="18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The Core Concepts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6438900" y="1580257"/>
            <a:ext cx="4972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915150" y="1732657"/>
            <a:ext cx="449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Interface Tour (Canvas, Sidebar) Nodes, Edges &amp; Workflows Triggers vs. Actions Executions &amp; Credentials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81050" y="3323332"/>
            <a:ext cx="4972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r>
              <a:rPr lang="en-US" sz="18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Data &amp; JSON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781050" y="3713857"/>
            <a:ext cx="4972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1257300" y="3866257"/>
            <a:ext cx="449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Saving Workflows (.json) JSON Structure (Keys, Arrays, Objects) Using Templates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438900" y="3323332"/>
            <a:ext cx="4972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r>
              <a:rPr lang="en-US" sz="18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AI Integration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6438900" y="3713857"/>
            <a:ext cx="4972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6915150" y="3866257"/>
            <a:ext cx="449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AI Agent Node &amp; Models Tools &amp; Capabilities Output Parsers &amp; Logic Chat Interface Node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781050" y="5456932"/>
            <a:ext cx="10629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r>
              <a:rPr lang="en-US" sz="18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Resources &amp; Support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781050" y="5847457"/>
            <a:ext cx="106299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1257300" y="5999857"/>
            <a:ext cx="10153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Level 1 Course Certification Official Documentation Community Forums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581025" y="86766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Table of Contents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581025" y="780157"/>
            <a:ext cx="110301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27770"/>
            <a:ext cx="522922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543276"/>
            <a:ext cx="5229225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581025" y="2188815"/>
            <a:ext cx="5490686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Definition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81025" y="2752576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n8n is a </a:t>
            </a:r>
            <a:r>
              <a:rPr lang="en-US" sz="1800" b="0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workflow automation tool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581025" y="3324076"/>
            <a:ext cx="52292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allows you to connect anything to everything. You can link Google Sheets to OpenAI, or Slack to email, without writing complex code.</a:t>
            </a:r>
            <a:endParaRPr/>
          </a:p>
        </p:txBody>
      </p:sp>
      <p:pic>
        <p:nvPicPr>
          <p:cNvPr id="147" name="Google Shape;147;p16" title="intro.jpg"/>
          <p:cNvPicPr preferRelativeResize="0"/>
          <p:nvPr/>
        </p:nvPicPr>
        <p:blipFill rotWithShape="1">
          <a:blip r:embed="rId6">
            <a:alphaModFix/>
          </a:blip>
          <a:srcRect l="24358" r="24358"/>
          <a:stretch/>
        </p:blipFill>
        <p:spPr>
          <a:xfrm>
            <a:off x="6391275" y="1937295"/>
            <a:ext cx="521017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809625" y="4962376"/>
            <a:ext cx="48101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is "Fair-code" (source available) and can be self-hosted or run in the cloud.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What is n8n?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64965"/>
            <a:ext cx="3486150" cy="4412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864965"/>
            <a:ext cx="3486150" cy="4412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864965"/>
            <a:ext cx="3486150" cy="441200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876300" y="2865090"/>
            <a:ext cx="304038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Orchestrator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76300" y="3714601"/>
            <a:ext cx="28956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Instead of apps talking randomly to each other (Spaghetti Code), n8n sits in the middle and manages the flow of data.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4648200" y="2865090"/>
            <a:ext cx="304038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Visibility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4648200" y="3714601"/>
            <a:ext cx="2895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 can see exactly where data goes. If an error happens, you see exactly which node failed.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420100" y="2865090"/>
            <a:ext cx="304038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Flexibility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8420100" y="3714601"/>
            <a:ext cx="28956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connects to 200+ built-in apps, but also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any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API via HTTP Request.</a:t>
            </a:r>
            <a:endParaRPr/>
          </a:p>
        </p:txBody>
      </p:sp>
      <p:pic>
        <p:nvPicPr>
          <p:cNvPr id="165" name="Google Shape;16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19834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19834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19834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Why use n8n?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/>
        </p:nvSpPr>
        <p:spPr>
          <a:xfrm>
            <a:off x="581025" y="2217390"/>
            <a:ext cx="5490686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Spectrum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581025" y="2781151"/>
            <a:ext cx="52292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n8n sits in the "sweet spot" between simplicity and power.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85800" y="3619351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19150" y="3619351"/>
            <a:ext cx="49911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No-Code: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Drag and drop nodes. Select "Gmail" and click "Send". No programming needed.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85800" y="4743301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819150" y="4743301"/>
            <a:ext cx="49911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Low-Code: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When you need complex logic, you can write small snippets of JavaScript or Python directly inside the nodes.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No-Code vs. Low-Code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26250" y="2851825"/>
            <a:ext cx="3724951" cy="275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39112" y="3123158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7351939" y="4218533"/>
            <a:ext cx="26955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Accessible to beginners.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Powerful for developers.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0" y="2355502"/>
            <a:ext cx="2857500" cy="3621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24375" y="2174438"/>
            <a:ext cx="3143250" cy="3983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10500" y="2355502"/>
            <a:ext cx="2857500" cy="362128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1762601" y="2650777"/>
            <a:ext cx="2380297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Free Trial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1819275" y="3176438"/>
            <a:ext cx="22669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14 Days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1819275" y="3967013"/>
            <a:ext cx="2266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Full feature access to test the platform.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4786836" y="2499240"/>
            <a:ext cx="2618327" cy="36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Starter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4849177" y="3077467"/>
            <a:ext cx="2493645" cy="618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$24/mo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4849177" y="3947100"/>
            <a:ext cx="2493645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1,000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Executions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4849177" y="4575750"/>
            <a:ext cx="2493645" cy="1131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Great for individuals and small automations.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8049101" y="2650777"/>
            <a:ext cx="2380297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Self-Hosted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8105775" y="3176438"/>
            <a:ext cx="22669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Free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8105775" y="3967013"/>
            <a:ext cx="2266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Host it on your own server.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8105775" y="4881413"/>
            <a:ext cx="2266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Requires technical maintenance.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Pricing &amp; Plans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598390"/>
            <a:ext cx="5229225" cy="2945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771876"/>
            <a:ext cx="5229225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581025" y="1960215"/>
            <a:ext cx="5490686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Container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581025" y="2523976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Workflow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the complete automation script.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677025" y="3598515"/>
            <a:ext cx="4870608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JSON Representation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677025" y="4448026"/>
            <a:ext cx="46386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Every workflow is actually just a big JSON text file. This makes them easy to share.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685800" y="3019276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819150" y="3019276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consists of Nodes and Edges.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85800" y="3457426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819150" y="3457426"/>
            <a:ext cx="4991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can be active (running automatically) or inactive.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85800" y="4238476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819150" y="4238476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 can organize them with Tags.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809625" y="5190976"/>
            <a:ext cx="48101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Think of a workflow as a single "Robot" dedicated to one job.</a:t>
            </a:r>
            <a:endParaRPr/>
          </a:p>
        </p:txBody>
      </p:sp>
      <p:pic>
        <p:nvPicPr>
          <p:cNvPr id="224" name="Google Shape;22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293176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Concept: Workflows</a:t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64965"/>
            <a:ext cx="3486150" cy="4412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864965"/>
            <a:ext cx="3486150" cy="4412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864965"/>
            <a:ext cx="3486150" cy="441200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876300" y="2865090"/>
            <a:ext cx="304038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Nodes (Steps)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876300" y="3714601"/>
            <a:ext cx="2895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dots on the board. Each node performs an action (Get Data, Send Data, Process Data).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4648200" y="2865090"/>
            <a:ext cx="304038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Edges (Wires)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4648200" y="3714601"/>
            <a:ext cx="28956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lines connecting nodes. They define the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flow of execution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pass data from left to right.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8420100" y="2865090"/>
            <a:ext cx="304038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On Click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8420100" y="3714601"/>
            <a:ext cx="28956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 can trigger nodes manually. The "Execute Node" button allows you to test just one step at a time.</a:t>
            </a:r>
            <a:endParaRPr/>
          </a:p>
        </p:txBody>
      </p:sp>
      <p:pic>
        <p:nvPicPr>
          <p:cNvPr id="241" name="Google Shape;24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19834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19834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198340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Concept: Nodes &amp; Edges</a:t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299370"/>
            <a:ext cx="5229225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581025" y="2293590"/>
            <a:ext cx="5490686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Starting the Engine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581025" y="2857351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Every workflow needs a Trigger Node to start.</a:t>
            </a:r>
            <a:endParaRPr/>
          </a:p>
        </p:txBody>
      </p:sp>
      <p:pic>
        <p:nvPicPr>
          <p:cNvPr id="254" name="Google Shape;25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20112" y="359464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685800" y="3352651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819150" y="3352651"/>
            <a:ext cx="4991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App Trigger: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"When a new row is added to Sheets".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685800" y="4133701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819150" y="4133701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Schedule Trigger: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"Every morning at 9 AM".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685800" y="4571851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819150" y="4571851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Webhook Trigger: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"When a URL is visited".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685800" y="5010001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819150" y="5010001"/>
            <a:ext cx="4991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Manual Trigger: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"When I click 'Test Workflow'".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Concept: Triggers</a:t>
            </a: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22214"/>
            <a:ext cx="5229225" cy="5097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12751"/>
            <a:ext cx="5229225" cy="411658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3"/>
          <p:cNvSpPr txBox="1"/>
          <p:nvPr/>
        </p:nvSpPr>
        <p:spPr>
          <a:xfrm>
            <a:off x="876300" y="2522339"/>
            <a:ext cx="4870608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Executions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876300" y="3371850"/>
            <a:ext cx="46386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history log. Shows every time the workflow ran.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876300" y="5867400"/>
            <a:ext cx="46386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Vital for debugging errors.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6677025" y="3012876"/>
            <a:ext cx="4870608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Credentials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6677025" y="3862387"/>
            <a:ext cx="46386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Where you store API Keys and Passwords.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6677025" y="4691062"/>
            <a:ext cx="463867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Stored securely and separated from the workflow logic so you don't accidentally share your passwords.</a:t>
            </a:r>
            <a:endParaRPr/>
          </a:p>
        </p:txBody>
      </p:sp>
      <p:pic>
        <p:nvPicPr>
          <p:cNvPr id="278" name="Google Shape;27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185558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3"/>
          <p:cNvSpPr txBox="1"/>
          <p:nvPr/>
        </p:nvSpPr>
        <p:spPr>
          <a:xfrm>
            <a:off x="981075" y="446722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1114425" y="4467225"/>
            <a:ext cx="44005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Green: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Success.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981075" y="490537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1114425" y="4905375"/>
            <a:ext cx="44005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Red: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Error.</a:t>
            </a:r>
            <a:endParaRPr/>
          </a:p>
        </p:txBody>
      </p:sp>
      <p:pic>
        <p:nvPicPr>
          <p:cNvPr id="283" name="Google Shape;283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34612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3"/>
          <p:cNvSpPr txBox="1"/>
          <p:nvPr/>
        </p:nvSpPr>
        <p:spPr>
          <a:xfrm>
            <a:off x="581025" y="238273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Executions &amp; Credentials</a:t>
            </a:r>
            <a:endParaRPr/>
          </a:p>
        </p:txBody>
      </p:sp>
      <p:sp>
        <p:nvSpPr>
          <p:cNvPr id="285" name="Google Shape;285;p23"/>
          <p:cNvSpPr/>
          <p:nvPr/>
        </p:nvSpPr>
        <p:spPr>
          <a:xfrm>
            <a:off x="581025" y="931664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794670"/>
            <a:ext cx="5229225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 txBox="1"/>
          <p:nvPr/>
        </p:nvSpPr>
        <p:spPr>
          <a:xfrm>
            <a:off x="581025" y="2112615"/>
            <a:ext cx="5490686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Portability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581025" y="2676376"/>
            <a:ext cx="52292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 can "Download" or "Copy" your entire workflow.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581025" y="3590776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saves as a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.json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file.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581025" y="4162276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Why?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685800" y="4657576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819150" y="4657576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Backups: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Save versions of your work.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685800" y="5095726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819150" y="5095726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Sharing: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Send your automation to a friend.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685800" y="5533876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819150" y="5533876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Migration: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Move from Cloud to Self-Hosted.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Saving Workflow as JSON</a:t>
            </a:r>
            <a:endParaRPr/>
          </a:p>
        </p:txBody>
      </p:sp>
      <p:sp>
        <p:nvSpPr>
          <p:cNvPr id="303" name="Google Shape;303;p24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219301"/>
            <a:ext cx="3486150" cy="3057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3219301"/>
            <a:ext cx="3486150" cy="3057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3219301"/>
            <a:ext cx="3486150" cy="3057673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5"/>
          <p:cNvSpPr txBox="1"/>
          <p:nvPr/>
        </p:nvSpPr>
        <p:spPr>
          <a:xfrm>
            <a:off x="581025" y="1864965"/>
            <a:ext cx="11581447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JavaScript Object Notation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581025" y="2571601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is the standard format for data on the web.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876300" y="3514576"/>
            <a:ext cx="304038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Key-Value Pairs</a:t>
            </a:r>
            <a:endParaRPr/>
          </a:p>
        </p:txBody>
      </p:sp>
      <p:sp>
        <p:nvSpPr>
          <p:cNvPr id="315" name="Google Shape;315;p25"/>
          <p:cNvSpPr/>
          <p:nvPr/>
        </p:nvSpPr>
        <p:spPr>
          <a:xfrm>
            <a:off x="876300" y="4272557"/>
            <a:ext cx="2895600" cy="282029"/>
          </a:xfrm>
          <a:prstGeom prst="roundRect">
            <a:avLst>
              <a:gd name="adj" fmla="val 20263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 txBox="1"/>
          <p:nvPr/>
        </p:nvSpPr>
        <p:spPr>
          <a:xfrm>
            <a:off x="952500" y="4310657"/>
            <a:ext cx="2743200" cy="205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i="0" u="none" strike="noStrike" cap="none">
                <a:solidFill>
                  <a:srgbClr val="A5B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"name": "John"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876300" y="5040362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label and a value.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4648200" y="3514576"/>
            <a:ext cx="304038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Objects { }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4648200" y="4364087"/>
            <a:ext cx="289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Curly braces hold a single item.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8420100" y="3514576"/>
            <a:ext cx="304038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Arrays [ ]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8420100" y="4364087"/>
            <a:ext cx="289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Square brackets hold a list of items.</a:t>
            </a:r>
            <a:endParaRPr/>
          </a:p>
        </p:txBody>
      </p:sp>
      <p:sp>
        <p:nvSpPr>
          <p:cNvPr id="322" name="Google Shape;322;p25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What is JSON?</a:t>
            </a:r>
            <a:endParaRPr/>
          </a:p>
        </p:txBody>
      </p:sp>
      <p:sp>
        <p:nvSpPr>
          <p:cNvPr id="323" name="Google Shape;323;p25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6"/>
          <p:cNvSpPr txBox="1"/>
          <p:nvPr/>
        </p:nvSpPr>
        <p:spPr>
          <a:xfrm>
            <a:off x="581025" y="2684115"/>
            <a:ext cx="5490686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Universal Language</a:t>
            </a:r>
            <a:endParaRPr/>
          </a:p>
        </p:txBody>
      </p:sp>
      <p:sp>
        <p:nvSpPr>
          <p:cNvPr id="330" name="Google Shape;330;p26"/>
          <p:cNvSpPr txBox="1"/>
          <p:nvPr/>
        </p:nvSpPr>
        <p:spPr>
          <a:xfrm>
            <a:off x="581025" y="3247876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Computers need a standard way to talk.</a:t>
            </a:r>
            <a:endParaRPr/>
          </a:p>
        </p:txBody>
      </p:sp>
      <p:sp>
        <p:nvSpPr>
          <p:cNvPr id="331" name="Google Shape;331;p26"/>
          <p:cNvSpPr txBox="1"/>
          <p:nvPr/>
        </p:nvSpPr>
        <p:spPr>
          <a:xfrm>
            <a:off x="685800" y="3743176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2" name="Google Shape;332;p26"/>
          <p:cNvSpPr txBox="1"/>
          <p:nvPr/>
        </p:nvSpPr>
        <p:spPr>
          <a:xfrm>
            <a:off x="819150" y="3743176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Lightweight: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Uses very little memory.</a:t>
            </a:r>
            <a:endParaRPr/>
          </a:p>
        </p:txBody>
      </p:sp>
      <p:sp>
        <p:nvSpPr>
          <p:cNvPr id="333" name="Google Shape;333;p26"/>
          <p:cNvSpPr txBox="1"/>
          <p:nvPr/>
        </p:nvSpPr>
        <p:spPr>
          <a:xfrm>
            <a:off x="685800" y="4181326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4" name="Google Shape;334;p26"/>
          <p:cNvSpPr txBox="1"/>
          <p:nvPr/>
        </p:nvSpPr>
        <p:spPr>
          <a:xfrm>
            <a:off x="819150" y="4181326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Readable: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Humans can read it (unlike binary).</a:t>
            </a:r>
            <a:endParaRPr/>
          </a:p>
        </p:txBody>
      </p:sp>
      <p:sp>
        <p:nvSpPr>
          <p:cNvPr id="335" name="Google Shape;335;p26"/>
          <p:cNvSpPr txBox="1"/>
          <p:nvPr/>
        </p:nvSpPr>
        <p:spPr>
          <a:xfrm>
            <a:off x="685800" y="4619476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6" name="Google Shape;336;p26"/>
          <p:cNvSpPr txBox="1"/>
          <p:nvPr/>
        </p:nvSpPr>
        <p:spPr>
          <a:xfrm>
            <a:off x="819150" y="4619476"/>
            <a:ext cx="4991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Supported Everywhere: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Every modern API (Google, OpenAI, Slack) speaks JSON.</a:t>
            </a:r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Why JSON?</a:t>
            </a:r>
            <a:endParaRPr/>
          </a:p>
        </p:txBody>
      </p:sp>
      <p:sp>
        <p:nvSpPr>
          <p:cNvPr id="338" name="Google Shape;338;p26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9" name="Google Shape;339;p26" title="imag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7756" y="3019281"/>
            <a:ext cx="4991100" cy="197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495651"/>
            <a:ext cx="5229225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7"/>
          <p:cNvSpPr txBox="1"/>
          <p:nvPr/>
        </p:nvSpPr>
        <p:spPr>
          <a:xfrm>
            <a:off x="6381750" y="1893540"/>
            <a:ext cx="5490686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Cheat Sheets</a:t>
            </a:r>
            <a:endParaRPr/>
          </a:p>
        </p:txBody>
      </p:sp>
      <p:sp>
        <p:nvSpPr>
          <p:cNvPr id="347" name="Google Shape;347;p27"/>
          <p:cNvSpPr txBox="1"/>
          <p:nvPr/>
        </p:nvSpPr>
        <p:spPr>
          <a:xfrm>
            <a:off x="6381750" y="2457301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n8n provides a library of pre-built workflows.</a:t>
            </a:r>
            <a:endParaRPr/>
          </a:p>
        </p:txBody>
      </p:sp>
      <p:sp>
        <p:nvSpPr>
          <p:cNvPr id="348" name="Google Shape;348;p27"/>
          <p:cNvSpPr txBox="1"/>
          <p:nvPr/>
        </p:nvSpPr>
        <p:spPr>
          <a:xfrm>
            <a:off x="6381750" y="3028801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 Cases:</a:t>
            </a:r>
            <a:endParaRPr/>
          </a:p>
        </p:txBody>
      </p:sp>
      <p:sp>
        <p:nvSpPr>
          <p:cNvPr id="349" name="Google Shape;349;p27"/>
          <p:cNvSpPr txBox="1"/>
          <p:nvPr/>
        </p:nvSpPr>
        <p:spPr>
          <a:xfrm>
            <a:off x="6486525" y="3524101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0" name="Google Shape;350;p27"/>
          <p:cNvSpPr txBox="1"/>
          <p:nvPr/>
        </p:nvSpPr>
        <p:spPr>
          <a:xfrm>
            <a:off x="6619875" y="3524101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"Sync HubSpot to Slack"</a:t>
            </a:r>
            <a:endParaRPr/>
          </a:p>
        </p:txBody>
      </p:sp>
      <p:sp>
        <p:nvSpPr>
          <p:cNvPr id="351" name="Google Shape;351;p27"/>
          <p:cNvSpPr txBox="1"/>
          <p:nvPr/>
        </p:nvSpPr>
        <p:spPr>
          <a:xfrm>
            <a:off x="6486525" y="3962251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2" name="Google Shape;352;p27"/>
          <p:cNvSpPr txBox="1"/>
          <p:nvPr/>
        </p:nvSpPr>
        <p:spPr>
          <a:xfrm>
            <a:off x="6619875" y="3962251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"Summarize News with AI"</a:t>
            </a:r>
            <a:endParaRPr/>
          </a:p>
        </p:txBody>
      </p:sp>
      <p:sp>
        <p:nvSpPr>
          <p:cNvPr id="353" name="Google Shape;353;p27"/>
          <p:cNvSpPr txBox="1"/>
          <p:nvPr/>
        </p:nvSpPr>
        <p:spPr>
          <a:xfrm>
            <a:off x="6610350" y="4914751"/>
            <a:ext cx="48101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Don't build from scratch. Search the templates, copy the JSON, and paste it into your canvas.</a:t>
            </a:r>
            <a:endParaRPr/>
          </a:p>
        </p:txBody>
      </p:sp>
      <p:sp>
        <p:nvSpPr>
          <p:cNvPr id="354" name="Google Shape;354;p27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Templates</a:t>
            </a:r>
            <a:endParaRPr/>
          </a:p>
        </p:txBody>
      </p:sp>
      <p:sp>
        <p:nvSpPr>
          <p:cNvPr id="355" name="Google Shape;355;p27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6" name="Google Shape;35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725" y="2457300"/>
            <a:ext cx="5699198" cy="28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8"/>
          <p:cNvSpPr txBox="1"/>
          <p:nvPr/>
        </p:nvSpPr>
        <p:spPr>
          <a:xfrm>
            <a:off x="2722364" y="3243262"/>
            <a:ext cx="6075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n8n AI Features</a:t>
            </a:r>
            <a:endParaRPr/>
          </a:p>
        </p:txBody>
      </p:sp>
      <p:sp>
        <p:nvSpPr>
          <p:cNvPr id="363" name="Google Shape;363;p28"/>
          <p:cNvSpPr txBox="1"/>
          <p:nvPr/>
        </p:nvSpPr>
        <p:spPr>
          <a:xfrm>
            <a:off x="3659981" y="4576762"/>
            <a:ext cx="420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Agents, Models, and Parsers</a:t>
            </a:r>
            <a:endParaRPr/>
          </a:p>
        </p:txBody>
      </p:sp>
      <p:pic>
        <p:nvPicPr>
          <p:cNvPr id="364" name="Google Shape;364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64931" y="1804987"/>
            <a:ext cx="1190625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299370"/>
            <a:ext cx="5229225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9"/>
          <p:cNvSpPr txBox="1"/>
          <p:nvPr/>
        </p:nvSpPr>
        <p:spPr>
          <a:xfrm>
            <a:off x="581025" y="2160240"/>
            <a:ext cx="5490686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Brain</a:t>
            </a:r>
            <a:endParaRPr/>
          </a:p>
        </p:txBody>
      </p:sp>
      <p:sp>
        <p:nvSpPr>
          <p:cNvPr id="372" name="Google Shape;372;p29"/>
          <p:cNvSpPr txBox="1"/>
          <p:nvPr/>
        </p:nvSpPr>
        <p:spPr>
          <a:xfrm>
            <a:off x="581025" y="2724001"/>
            <a:ext cx="52292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is a special node that connects to an LLM (Like GPT-4).</a:t>
            </a:r>
            <a:endParaRPr/>
          </a:p>
        </p:txBody>
      </p:sp>
      <p:sp>
        <p:nvSpPr>
          <p:cNvPr id="373" name="Google Shape;373;p29"/>
          <p:cNvSpPr txBox="1"/>
          <p:nvPr/>
        </p:nvSpPr>
        <p:spPr>
          <a:xfrm>
            <a:off x="581025" y="3638401"/>
            <a:ext cx="52292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is not just a chatbot; it can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reason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use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tools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74" name="Google Shape;374;p29"/>
          <p:cNvSpPr txBox="1"/>
          <p:nvPr/>
        </p:nvSpPr>
        <p:spPr>
          <a:xfrm>
            <a:off x="581025" y="4552801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Inputs:</a:t>
            </a:r>
            <a:endParaRPr/>
          </a:p>
        </p:txBody>
      </p:sp>
      <p:pic>
        <p:nvPicPr>
          <p:cNvPr id="375" name="Google Shape;375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20112" y="359464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9"/>
          <p:cNvSpPr txBox="1"/>
          <p:nvPr/>
        </p:nvSpPr>
        <p:spPr>
          <a:xfrm>
            <a:off x="685800" y="5048101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7" name="Google Shape;377;p29"/>
          <p:cNvSpPr txBox="1"/>
          <p:nvPr/>
        </p:nvSpPr>
        <p:spPr>
          <a:xfrm>
            <a:off x="819150" y="5048101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User Query: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What you ask it.</a:t>
            </a:r>
            <a:endParaRPr/>
          </a:p>
        </p:txBody>
      </p:sp>
      <p:sp>
        <p:nvSpPr>
          <p:cNvPr id="378" name="Google Shape;378;p29"/>
          <p:cNvSpPr txBox="1"/>
          <p:nvPr/>
        </p:nvSpPr>
        <p:spPr>
          <a:xfrm>
            <a:off x="685800" y="5486251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9" name="Google Shape;379;p29"/>
          <p:cNvSpPr txBox="1"/>
          <p:nvPr/>
        </p:nvSpPr>
        <p:spPr>
          <a:xfrm>
            <a:off x="819150" y="5486251"/>
            <a:ext cx="499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Context: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Information from previous nodes.</a:t>
            </a:r>
            <a:endParaRPr/>
          </a:p>
        </p:txBody>
      </p:sp>
      <p:sp>
        <p:nvSpPr>
          <p:cNvPr id="380" name="Google Shape;380;p29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The AI Agent Node</a:t>
            </a:r>
            <a:endParaRPr/>
          </a:p>
        </p:txBody>
      </p:sp>
      <p:sp>
        <p:nvSpPr>
          <p:cNvPr id="381" name="Google Shape;381;p29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88777"/>
            <a:ext cx="5229225" cy="4364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12602"/>
            <a:ext cx="5229225" cy="411658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0"/>
          <p:cNvSpPr txBox="1"/>
          <p:nvPr/>
        </p:nvSpPr>
        <p:spPr>
          <a:xfrm>
            <a:off x="876300" y="2888902"/>
            <a:ext cx="4870608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Model</a:t>
            </a:r>
            <a:endParaRPr/>
          </a:p>
        </p:txBody>
      </p:sp>
      <p:sp>
        <p:nvSpPr>
          <p:cNvPr id="390" name="Google Shape;390;p30"/>
          <p:cNvSpPr txBox="1"/>
          <p:nvPr/>
        </p:nvSpPr>
        <p:spPr>
          <a:xfrm>
            <a:off x="876300" y="3738413"/>
            <a:ext cx="46386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engine that does the thinking.</a:t>
            </a:r>
            <a:endParaRPr/>
          </a:p>
        </p:txBody>
      </p:sp>
      <p:sp>
        <p:nvSpPr>
          <p:cNvPr id="391" name="Google Shape;391;p30"/>
          <p:cNvSpPr txBox="1"/>
          <p:nvPr/>
        </p:nvSpPr>
        <p:spPr>
          <a:xfrm>
            <a:off x="6677025" y="3012727"/>
            <a:ext cx="4870608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Tool</a:t>
            </a:r>
            <a:endParaRPr/>
          </a:p>
        </p:txBody>
      </p:sp>
      <p:sp>
        <p:nvSpPr>
          <p:cNvPr id="392" name="Google Shape;392;p30"/>
          <p:cNvSpPr txBox="1"/>
          <p:nvPr/>
        </p:nvSpPr>
        <p:spPr>
          <a:xfrm>
            <a:off x="6677025" y="3862238"/>
            <a:ext cx="46386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Abilities you give the AI.</a:t>
            </a:r>
            <a:endParaRPr/>
          </a:p>
        </p:txBody>
      </p:sp>
      <p:sp>
        <p:nvSpPr>
          <p:cNvPr id="393" name="Google Shape;393;p30"/>
          <p:cNvSpPr txBox="1"/>
          <p:nvPr/>
        </p:nvSpPr>
        <p:spPr>
          <a:xfrm>
            <a:off x="6677025" y="4690913"/>
            <a:ext cx="463867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AI cannot browse the web or check your calendar </a:t>
            </a:r>
            <a:r>
              <a:rPr lang="en-US" sz="18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unless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you attach a specific "Tool" node to it.</a:t>
            </a:r>
            <a:endParaRPr/>
          </a:p>
        </p:txBody>
      </p:sp>
      <p:pic>
        <p:nvPicPr>
          <p:cNvPr id="394" name="Google Shape;394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22215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0"/>
          <p:cNvSpPr txBox="1"/>
          <p:nvPr/>
        </p:nvSpPr>
        <p:spPr>
          <a:xfrm>
            <a:off x="981075" y="4490888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6" name="Google Shape;396;p30"/>
          <p:cNvSpPr txBox="1"/>
          <p:nvPr/>
        </p:nvSpPr>
        <p:spPr>
          <a:xfrm>
            <a:off x="1114425" y="4490888"/>
            <a:ext cx="44005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OpenAI (GPT-4o)</a:t>
            </a:r>
            <a:endParaRPr/>
          </a:p>
        </p:txBody>
      </p:sp>
      <p:sp>
        <p:nvSpPr>
          <p:cNvPr id="397" name="Google Shape;397;p30"/>
          <p:cNvSpPr txBox="1"/>
          <p:nvPr/>
        </p:nvSpPr>
        <p:spPr>
          <a:xfrm>
            <a:off x="981075" y="4929038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8" name="Google Shape;398;p30"/>
          <p:cNvSpPr txBox="1"/>
          <p:nvPr/>
        </p:nvSpPr>
        <p:spPr>
          <a:xfrm>
            <a:off x="1114425" y="4929038"/>
            <a:ext cx="44005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Anthropic (Claude 3.5)</a:t>
            </a:r>
            <a:endParaRPr/>
          </a:p>
        </p:txBody>
      </p:sp>
      <p:sp>
        <p:nvSpPr>
          <p:cNvPr id="399" name="Google Shape;399;p30"/>
          <p:cNvSpPr txBox="1"/>
          <p:nvPr/>
        </p:nvSpPr>
        <p:spPr>
          <a:xfrm>
            <a:off x="981075" y="5367188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0" name="Google Shape;400;p30"/>
          <p:cNvSpPr txBox="1"/>
          <p:nvPr/>
        </p:nvSpPr>
        <p:spPr>
          <a:xfrm>
            <a:off x="1114425" y="5367188"/>
            <a:ext cx="44005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Mistral / Llama</a:t>
            </a:r>
            <a:endParaRPr/>
          </a:p>
        </p:txBody>
      </p:sp>
      <p:pic>
        <p:nvPicPr>
          <p:cNvPr id="401" name="Google Shape;401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34597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0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Agent Components: Model &amp; Tool</a:t>
            </a:r>
            <a:endParaRPr/>
          </a:p>
        </p:txBody>
      </p:sp>
      <p:sp>
        <p:nvSpPr>
          <p:cNvPr id="403" name="Google Shape;403;p30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122265"/>
            <a:ext cx="5229225" cy="208776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1"/>
          <p:cNvSpPr txBox="1"/>
          <p:nvPr/>
        </p:nvSpPr>
        <p:spPr>
          <a:xfrm>
            <a:off x="581025" y="2303115"/>
            <a:ext cx="5490686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/>
          </a:p>
        </p:txBody>
      </p:sp>
      <p:sp>
        <p:nvSpPr>
          <p:cNvPr id="411" name="Google Shape;411;p31"/>
          <p:cNvSpPr txBox="1"/>
          <p:nvPr/>
        </p:nvSpPr>
        <p:spPr>
          <a:xfrm>
            <a:off x="581025" y="2866876"/>
            <a:ext cx="52292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 speaks English (Unstructured).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Computers speak JSON (Structured).</a:t>
            </a:r>
            <a:endParaRPr/>
          </a:p>
        </p:txBody>
      </p:sp>
      <p:sp>
        <p:nvSpPr>
          <p:cNvPr id="412" name="Google Shape;412;p31"/>
          <p:cNvSpPr txBox="1"/>
          <p:nvPr/>
        </p:nvSpPr>
        <p:spPr>
          <a:xfrm>
            <a:off x="581025" y="3781276"/>
            <a:ext cx="52292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you ask AI for a list, it might say: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"Sure! Here is your list: 1. Apple, 2. Banana"</a:t>
            </a:r>
            <a:endParaRPr/>
          </a:p>
        </p:txBody>
      </p:sp>
      <p:sp>
        <p:nvSpPr>
          <p:cNvPr id="413" name="Google Shape;413;p31"/>
          <p:cNvSpPr txBox="1"/>
          <p:nvPr/>
        </p:nvSpPr>
        <p:spPr>
          <a:xfrm>
            <a:off x="581025" y="4695676"/>
            <a:ext cx="52292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breaks automation because the next node expects: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["Apple", "Banana"]</a:t>
            </a:r>
            <a:endParaRPr/>
          </a:p>
        </p:txBody>
      </p:sp>
      <p:sp>
        <p:nvSpPr>
          <p:cNvPr id="414" name="Google Shape;414;p31"/>
          <p:cNvSpPr txBox="1"/>
          <p:nvPr/>
        </p:nvSpPr>
        <p:spPr>
          <a:xfrm>
            <a:off x="6610350" y="3312765"/>
            <a:ext cx="5050631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Solution</a:t>
            </a:r>
            <a:endParaRPr/>
          </a:p>
        </p:txBody>
      </p:sp>
      <p:sp>
        <p:nvSpPr>
          <p:cNvPr id="415" name="Google Shape;415;p31"/>
          <p:cNvSpPr txBox="1"/>
          <p:nvPr/>
        </p:nvSpPr>
        <p:spPr>
          <a:xfrm>
            <a:off x="6610350" y="3876526"/>
            <a:ext cx="48101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Output Parser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forces the AI to reply in strict JSON format so the rest of your workflow doesn't crash.</a:t>
            </a:r>
            <a:endParaRPr/>
          </a:p>
        </p:txBody>
      </p:sp>
      <p:sp>
        <p:nvSpPr>
          <p:cNvPr id="416" name="Google Shape;416;p31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Why Output Parser is "Needy"</a:t>
            </a:r>
            <a:endParaRPr/>
          </a:p>
        </p:txBody>
      </p:sp>
      <p:sp>
        <p:nvSpPr>
          <p:cNvPr id="417" name="Google Shape;417;p31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2"/>
          <p:cNvSpPr txBox="1"/>
          <p:nvPr/>
        </p:nvSpPr>
        <p:spPr>
          <a:xfrm>
            <a:off x="6381750" y="2474565"/>
            <a:ext cx="5490686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Interactive Interface</a:t>
            </a:r>
            <a:endParaRPr/>
          </a:p>
        </p:txBody>
      </p:sp>
      <p:sp>
        <p:nvSpPr>
          <p:cNvPr id="424" name="Google Shape;424;p32"/>
          <p:cNvSpPr txBox="1"/>
          <p:nvPr/>
        </p:nvSpPr>
        <p:spPr>
          <a:xfrm>
            <a:off x="6381750" y="3038326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Normally, workflows run in the background.</a:t>
            </a:r>
            <a:endParaRPr/>
          </a:p>
        </p:txBody>
      </p:sp>
      <p:sp>
        <p:nvSpPr>
          <p:cNvPr id="425" name="Google Shape;425;p32"/>
          <p:cNvSpPr txBox="1"/>
          <p:nvPr/>
        </p:nvSpPr>
        <p:spPr>
          <a:xfrm>
            <a:off x="6381750" y="3609826"/>
            <a:ext cx="52292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Chat Trigger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allows you to build a chat interface (like ChatGPT) powered by your custom n8n workflow.</a:t>
            </a:r>
            <a:endParaRPr/>
          </a:p>
        </p:txBody>
      </p:sp>
      <p:sp>
        <p:nvSpPr>
          <p:cNvPr id="426" name="Google Shape;426;p32"/>
          <p:cNvSpPr txBox="1"/>
          <p:nvPr/>
        </p:nvSpPr>
        <p:spPr>
          <a:xfrm>
            <a:off x="6381750" y="4867126"/>
            <a:ext cx="52292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Great for building internal support bots or customer service agents.</a:t>
            </a:r>
            <a:endParaRPr/>
          </a:p>
        </p:txBody>
      </p:sp>
      <p:sp>
        <p:nvSpPr>
          <p:cNvPr id="427" name="Google Shape;427;p32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The Chat Node</a:t>
            </a:r>
            <a:endParaRPr/>
          </a:p>
        </p:txBody>
      </p:sp>
      <p:sp>
        <p:nvSpPr>
          <p:cNvPr id="428" name="Google Shape;428;p32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9" name="Google Shape;42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1463" y="1545988"/>
            <a:ext cx="4543425" cy="454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64965"/>
            <a:ext cx="3486150" cy="4412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864965"/>
            <a:ext cx="3486150" cy="4412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864965"/>
            <a:ext cx="3486150" cy="4412009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3"/>
          <p:cNvSpPr txBox="1"/>
          <p:nvPr/>
        </p:nvSpPr>
        <p:spPr>
          <a:xfrm>
            <a:off x="876300" y="2865090"/>
            <a:ext cx="304038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Level 1 Course</a:t>
            </a:r>
            <a:endParaRPr/>
          </a:p>
        </p:txBody>
      </p:sp>
      <p:sp>
        <p:nvSpPr>
          <p:cNvPr id="439" name="Google Shape;439;p33"/>
          <p:cNvSpPr txBox="1"/>
          <p:nvPr/>
        </p:nvSpPr>
        <p:spPr>
          <a:xfrm>
            <a:off x="876300" y="3714601"/>
            <a:ext cx="289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official starting point for certification.</a:t>
            </a:r>
            <a:endParaRPr/>
          </a:p>
        </p:txBody>
      </p:sp>
      <p:sp>
        <p:nvSpPr>
          <p:cNvPr id="440" name="Google Shape;440;p33"/>
          <p:cNvSpPr txBox="1"/>
          <p:nvPr/>
        </p:nvSpPr>
        <p:spPr>
          <a:xfrm>
            <a:off x="876300" y="4657576"/>
            <a:ext cx="2895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docs.n8n.io/courses/level-one/</a:t>
            </a:r>
            <a:endParaRPr/>
          </a:p>
        </p:txBody>
      </p:sp>
      <p:sp>
        <p:nvSpPr>
          <p:cNvPr id="441" name="Google Shape;441;p33"/>
          <p:cNvSpPr txBox="1"/>
          <p:nvPr/>
        </p:nvSpPr>
        <p:spPr>
          <a:xfrm>
            <a:off x="4648200" y="2865090"/>
            <a:ext cx="304038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Official Docs</a:t>
            </a:r>
            <a:endParaRPr/>
          </a:p>
        </p:txBody>
      </p:sp>
      <p:sp>
        <p:nvSpPr>
          <p:cNvPr id="442" name="Google Shape;442;p33"/>
          <p:cNvSpPr txBox="1"/>
          <p:nvPr/>
        </p:nvSpPr>
        <p:spPr>
          <a:xfrm>
            <a:off x="4648200" y="3714601"/>
            <a:ext cx="289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Detailed manual for every node.</a:t>
            </a:r>
            <a:endParaRPr/>
          </a:p>
        </p:txBody>
      </p:sp>
      <p:sp>
        <p:nvSpPr>
          <p:cNvPr id="443" name="Google Shape;443;p33"/>
          <p:cNvSpPr txBox="1"/>
          <p:nvPr/>
        </p:nvSpPr>
        <p:spPr>
          <a:xfrm>
            <a:off x="8420100" y="2865090"/>
            <a:ext cx="304038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Community</a:t>
            </a:r>
            <a:endParaRPr/>
          </a:p>
        </p:txBody>
      </p:sp>
      <p:sp>
        <p:nvSpPr>
          <p:cNvPr id="444" name="Google Shape;444;p33"/>
          <p:cNvSpPr txBox="1"/>
          <p:nvPr/>
        </p:nvSpPr>
        <p:spPr>
          <a:xfrm>
            <a:off x="8420100" y="3714601"/>
            <a:ext cx="289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Forums where experts share help and templates.</a:t>
            </a:r>
            <a:endParaRPr/>
          </a:p>
        </p:txBody>
      </p:sp>
      <p:pic>
        <p:nvPicPr>
          <p:cNvPr id="445" name="Google Shape;445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19834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19834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19834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3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6D5A"/>
                </a:solidFill>
                <a:latin typeface="Inter"/>
                <a:ea typeface="Inter"/>
                <a:cs typeface="Inter"/>
                <a:sym typeface="Inter"/>
              </a:rPr>
              <a:t>Resources &amp; Learning</a:t>
            </a:r>
            <a:endParaRPr/>
          </a:p>
        </p:txBody>
      </p:sp>
      <p:sp>
        <p:nvSpPr>
          <p:cNvPr id="449" name="Google Shape;449;p33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1198</Words>
  <Application>Microsoft Office PowerPoint</Application>
  <PresentationFormat>Widescreen</PresentationFormat>
  <Paragraphs>181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</vt:lpstr>
      <vt:lpstr>Arial</vt:lpstr>
      <vt:lpstr>Inter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Muhammad Hamza Ali</cp:lastModifiedBy>
  <cp:revision>1</cp:revision>
  <dcterms:modified xsi:type="dcterms:W3CDTF">2026-01-10T10:00:40Z</dcterms:modified>
</cp:coreProperties>
</file>