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embeddedFontLst>
    <p:embeddedFont>
      <p:font typeface="Inter" panose="020B0604020202020204" charset="0"/>
      <p:regular r:id="rId53"/>
      <p:bold r:id="rId54"/>
      <p:italic r:id="rId55"/>
      <p:boldItalic r:id="rId56"/>
    </p:embeddedFont>
    <p:embeddedFont>
      <p:font typeface="JetBrains Mono" panose="020B060402020202020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00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88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de00fcf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de00fcf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de00fcf0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de00fcf0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2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65.png"/><Relationship Id="rId4" Type="http://schemas.openxmlformats.org/officeDocument/2006/relationships/image" Target="../media/image7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422987" y="1779334"/>
            <a:ext cx="520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86" name="Google Shape;86;p13"/>
          <p:cNvSpPr txBox="1"/>
          <p:nvPr/>
        </p:nvSpPr>
        <p:spPr>
          <a:xfrm>
            <a:off x="4038242" y="2169868"/>
            <a:ext cx="4115400" cy="16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Advanced AI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Engineering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033712" y="3785249"/>
            <a:ext cx="61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From LLM Fundamentals to Autonomous Agents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89535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77200" y="2681287"/>
            <a:ext cx="17907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Class Objectives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1825" y="1400175"/>
            <a:ext cx="53961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will transition from a "User" to a "Prompt Engineer".</a:t>
            </a:r>
            <a:endParaRPr sz="2200"/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2590800"/>
            <a:ext cx="4896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 the physics of LLMs (Latent Space).</a:t>
            </a:r>
            <a:endParaRPr sz="1800"/>
          </a:p>
        </p:txBody>
      </p:sp>
      <p:sp>
        <p:nvSpPr>
          <p:cNvPr id="105" name="Google Shape;105;p14"/>
          <p:cNvSpPr txBox="1"/>
          <p:nvPr/>
        </p:nvSpPr>
        <p:spPr>
          <a:xfrm>
            <a:off x="962025" y="3475759"/>
            <a:ext cx="4896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Master the "Six-Part Framework" for reliability.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62025" y="4304434"/>
            <a:ext cx="489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 specialized Custom GPTs.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62025" y="4790209"/>
            <a:ext cx="489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Deploy autonomous agents with RAG.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877425" y="390525"/>
            <a:ext cx="1733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FOUNDATIONS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64795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53290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6158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84735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58175" y="3157537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133475" y="1733550"/>
            <a:ext cx="5378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Foundations of AI Engineering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Evolution (Predictive vs Agentic), Latent </a:t>
            </a:r>
            <a:endParaRPr sz="180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Space, Physics of LLMs.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33475" y="2905125"/>
            <a:ext cx="4724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Hyperparameters (Control)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Temperature, Top-P, Top-K,</a:t>
            </a: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          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Configuration Recipes.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133475" y="4075206"/>
            <a:ext cx="4724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Anatomy of AI Agents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6 Components: Model, Tools, Knowledge, Guardrails.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33475" y="5248275"/>
            <a:ext cx="4486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Engineering Basics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Zero-Shot, Few-Shot, System vs User Prompts.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81025" y="485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Table of Contents (1/2)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57225" y="1791074"/>
            <a:ext cx="39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2400"/>
          </a:p>
        </p:txBody>
      </p:sp>
      <p:sp>
        <p:nvSpPr>
          <p:cNvPr id="126" name="Google Shape;126;p15"/>
          <p:cNvSpPr txBox="1"/>
          <p:nvPr/>
        </p:nvSpPr>
        <p:spPr>
          <a:xfrm>
            <a:off x="581025" y="2981325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2400"/>
          </a:p>
        </p:txBody>
      </p:sp>
      <p:sp>
        <p:nvSpPr>
          <p:cNvPr id="127" name="Google Shape;127;p15"/>
          <p:cNvSpPr txBox="1"/>
          <p:nvPr/>
        </p:nvSpPr>
        <p:spPr>
          <a:xfrm>
            <a:off x="581025" y="4152900"/>
            <a:ext cx="472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2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81025" y="5324475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48662" y="3157537"/>
            <a:ext cx="12477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133475" y="1381125"/>
            <a:ext cx="4543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Advanced Reasoning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CoT, Tree of Thoughts, ReAct, Self-Consistency.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133475" y="2600325"/>
            <a:ext cx="4724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6-Part Framework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Role, Command, Strategy, Context, Output, Constraints.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33475" y="3734547"/>
            <a:ext cx="4381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&amp; Context (RAG)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JSON Structures, Embeddings, Vector Search.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133475" y="4914900"/>
            <a:ext cx="4286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Lab: CyberSec Guardian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and testing a specialized SOC Agent.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81025" y="485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Table of Contents (2/2)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81025" y="1533525"/>
            <a:ext cx="55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sz="2400"/>
          </a:p>
        </p:txBody>
      </p:sp>
      <p:sp>
        <p:nvSpPr>
          <p:cNvPr id="142" name="Google Shape;142;p16"/>
          <p:cNvSpPr txBox="1"/>
          <p:nvPr/>
        </p:nvSpPr>
        <p:spPr>
          <a:xfrm>
            <a:off x="581025" y="2676525"/>
            <a:ext cx="55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sz="2400"/>
          </a:p>
        </p:txBody>
      </p:sp>
      <p:sp>
        <p:nvSpPr>
          <p:cNvPr id="143" name="Google Shape;143;p16"/>
          <p:cNvSpPr txBox="1"/>
          <p:nvPr/>
        </p:nvSpPr>
        <p:spPr>
          <a:xfrm>
            <a:off x="581025" y="3810747"/>
            <a:ext cx="55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sz="2400"/>
          </a:p>
        </p:txBody>
      </p:sp>
      <p:sp>
        <p:nvSpPr>
          <p:cNvPr id="144" name="Google Shape;144;p16"/>
          <p:cNvSpPr txBox="1"/>
          <p:nvPr/>
        </p:nvSpPr>
        <p:spPr>
          <a:xfrm>
            <a:off x="581025" y="4991100"/>
            <a:ext cx="55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71600"/>
            <a:ext cx="34861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371600"/>
            <a:ext cx="34861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371600"/>
            <a:ext cx="34861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2586470"/>
            <a:ext cx="28956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0100" y="2586470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AI Evolution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19595" y="3157970"/>
            <a:ext cx="3040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Predictive AI</a:t>
            </a:r>
            <a:endParaRPr sz="2800"/>
          </a:p>
        </p:txBody>
      </p:sp>
      <p:sp>
        <p:nvSpPr>
          <p:cNvPr id="157" name="Google Shape;157;p17"/>
          <p:cNvSpPr txBox="1"/>
          <p:nvPr/>
        </p:nvSpPr>
        <p:spPr>
          <a:xfrm>
            <a:off x="876300" y="3892261"/>
            <a:ext cx="28956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Forecasting numbers based on history.</a:t>
            </a:r>
            <a:endParaRPr sz="2200"/>
          </a:p>
        </p:txBody>
      </p:sp>
      <p:sp>
        <p:nvSpPr>
          <p:cNvPr id="158" name="Google Shape;158;p17"/>
          <p:cNvSpPr txBox="1"/>
          <p:nvPr/>
        </p:nvSpPr>
        <p:spPr>
          <a:xfrm>
            <a:off x="4648200" y="3157970"/>
            <a:ext cx="3040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Generative AI</a:t>
            </a:r>
            <a:endParaRPr sz="2800"/>
          </a:p>
        </p:txBody>
      </p:sp>
      <p:sp>
        <p:nvSpPr>
          <p:cNvPr id="159" name="Google Shape;159;p17"/>
          <p:cNvSpPr txBox="1"/>
          <p:nvPr/>
        </p:nvSpPr>
        <p:spPr>
          <a:xfrm>
            <a:off x="4648200" y="3892261"/>
            <a:ext cx="28956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Creating text/pixels from training data.</a:t>
            </a:r>
            <a:endParaRPr sz="2200"/>
          </a:p>
        </p:txBody>
      </p:sp>
      <p:sp>
        <p:nvSpPr>
          <p:cNvPr id="160" name="Google Shape;160;p17"/>
          <p:cNvSpPr txBox="1"/>
          <p:nvPr/>
        </p:nvSpPr>
        <p:spPr>
          <a:xfrm>
            <a:off x="8420100" y="3157970"/>
            <a:ext cx="3040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Agentic AI</a:t>
            </a:r>
            <a:endParaRPr sz="2800"/>
          </a:p>
        </p:txBody>
      </p:sp>
      <p:sp>
        <p:nvSpPr>
          <p:cNvPr id="161" name="Google Shape;161;p17"/>
          <p:cNvSpPr txBox="1"/>
          <p:nvPr/>
        </p:nvSpPr>
        <p:spPr>
          <a:xfrm>
            <a:off x="8420100" y="3892261"/>
            <a:ext cx="28956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Executing tasks and using tools autonomously.</a:t>
            </a:r>
            <a:endParaRPr sz="2200"/>
          </a:p>
        </p:txBody>
      </p:sp>
      <p:sp>
        <p:nvSpPr>
          <p:cNvPr id="162" name="Google Shape;162;p17"/>
          <p:cNvSpPr txBox="1"/>
          <p:nvPr/>
        </p:nvSpPr>
        <p:spPr>
          <a:xfrm>
            <a:off x="9877425" y="390525"/>
            <a:ext cx="1733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FOUNDATIONS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5550" y="1033658"/>
            <a:ext cx="5324701" cy="505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title="images (1).jpeg"/>
          <p:cNvPicPr preferRelativeResize="0"/>
          <p:nvPr/>
        </p:nvPicPr>
        <p:blipFill rotWithShape="1">
          <a:blip r:embed="rId5">
            <a:alphaModFix/>
          </a:blip>
          <a:srcRect l="20818" r="20818"/>
          <a:stretch/>
        </p:blipFill>
        <p:spPr>
          <a:xfrm>
            <a:off x="6343650" y="1078057"/>
            <a:ext cx="5257802" cy="4981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What is an LLM?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81025" y="1844819"/>
            <a:ext cx="52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Large Language Model</a:t>
            </a:r>
            <a:endParaRPr sz="2800"/>
          </a:p>
        </p:txBody>
      </p:sp>
      <p:sp>
        <p:nvSpPr>
          <p:cNvPr id="172" name="Google Shape;172;p18"/>
          <p:cNvSpPr txBox="1"/>
          <p:nvPr/>
        </p:nvSpPr>
        <p:spPr>
          <a:xfrm>
            <a:off x="581025" y="2633662"/>
            <a:ext cx="52770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probabilistic statistical model trained on vast datasets to predict the </a:t>
            </a:r>
            <a:r>
              <a:rPr lang="en-US" sz="2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next likely token</a:t>
            </a: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a sequence.</a:t>
            </a:r>
            <a:endParaRPr sz="2200"/>
          </a:p>
        </p:txBody>
      </p:sp>
      <p:sp>
        <p:nvSpPr>
          <p:cNvPr id="173" name="Google Shape;173;p18"/>
          <p:cNvSpPr txBox="1"/>
          <p:nvPr/>
        </p:nvSpPr>
        <p:spPr>
          <a:xfrm>
            <a:off x="581025" y="4285817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 does not "know" facts. It knows "correlations" between words.</a:t>
            </a:r>
            <a:endParaRPr sz="2200"/>
          </a:p>
        </p:txBody>
      </p:sp>
      <p:sp>
        <p:nvSpPr>
          <p:cNvPr id="174" name="Google Shape;174;p18"/>
          <p:cNvSpPr txBox="1"/>
          <p:nvPr/>
        </p:nvSpPr>
        <p:spPr>
          <a:xfrm>
            <a:off x="9877425" y="390525"/>
            <a:ext cx="1733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FOUNDATIONS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47912"/>
            <a:ext cx="110299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57468" y="3470588"/>
            <a:ext cx="1733550" cy="91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07332" y="3470595"/>
            <a:ext cx="1747841" cy="91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41297" y="3499917"/>
            <a:ext cx="1733550" cy="887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22493" y="3499925"/>
            <a:ext cx="1733550" cy="8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81025" y="1247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Next Token Prediction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76300" y="2643187"/>
            <a:ext cx="10439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"The cat sat on the </a:t>
            </a:r>
            <a:r>
              <a:rPr lang="en-US" sz="2800" b="0" i="0" u="none" strike="noStrike" cap="non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______</a:t>
            </a:r>
            <a:r>
              <a:rPr lang="en-US" sz="2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 sz="2800"/>
          </a:p>
        </p:txBody>
      </p:sp>
      <p:sp>
        <p:nvSpPr>
          <p:cNvPr id="187" name="Google Shape;187;p19"/>
          <p:cNvSpPr txBox="1"/>
          <p:nvPr/>
        </p:nvSpPr>
        <p:spPr>
          <a:xfrm>
            <a:off x="713678" y="4614862"/>
            <a:ext cx="10439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model rolls a weighted dice to choose the next word.</a:t>
            </a:r>
            <a:endParaRPr sz="2200"/>
          </a:p>
        </p:txBody>
      </p:sp>
      <p:sp>
        <p:nvSpPr>
          <p:cNvPr id="188" name="Google Shape;188;p19"/>
          <p:cNvSpPr txBox="1"/>
          <p:nvPr/>
        </p:nvSpPr>
        <p:spPr>
          <a:xfrm>
            <a:off x="9877425" y="390525"/>
            <a:ext cx="1733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FOUNDATIONS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Latent Space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334125" y="1815093"/>
            <a:ext cx="554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Map of Meaning</a:t>
            </a:r>
            <a:endParaRPr sz="2800"/>
          </a:p>
        </p:txBody>
      </p:sp>
      <p:sp>
        <p:nvSpPr>
          <p:cNvPr id="196" name="Google Shape;196;p20"/>
          <p:cNvSpPr txBox="1"/>
          <p:nvPr/>
        </p:nvSpPr>
        <p:spPr>
          <a:xfrm>
            <a:off x="6334125" y="2505075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LLMs organize concepts in a multi-dimensional mathematical space.</a:t>
            </a:r>
            <a:endParaRPr sz="2200"/>
          </a:p>
        </p:txBody>
      </p:sp>
      <p:sp>
        <p:nvSpPr>
          <p:cNvPr id="197" name="Google Shape;197;p20"/>
          <p:cNvSpPr txBox="1"/>
          <p:nvPr/>
        </p:nvSpPr>
        <p:spPr>
          <a:xfrm>
            <a:off x="6334125" y="3486150"/>
            <a:ext cx="52770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Words with similar meanings (King, Queen, Royalty) are "close" to each other.</a:t>
            </a:r>
            <a:endParaRPr sz="2200"/>
          </a:p>
        </p:txBody>
      </p:sp>
      <p:sp>
        <p:nvSpPr>
          <p:cNvPr id="198" name="Google Shape;198;p20"/>
          <p:cNvSpPr txBox="1"/>
          <p:nvPr/>
        </p:nvSpPr>
        <p:spPr>
          <a:xfrm>
            <a:off x="6334125" y="5000625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Prompting</a:t>
            </a: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simply navigating to the right coordinates in this space.</a:t>
            </a:r>
            <a:endParaRPr sz="2200"/>
          </a:p>
        </p:txBody>
      </p:sp>
      <p:sp>
        <p:nvSpPr>
          <p:cNvPr id="199" name="Google Shape;199;p20"/>
          <p:cNvSpPr txBox="1"/>
          <p:nvPr/>
        </p:nvSpPr>
        <p:spPr>
          <a:xfrm>
            <a:off x="9877425" y="390525"/>
            <a:ext cx="1733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FOUNDATIONS</a:t>
            </a:r>
            <a:endParaRPr/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925" y="120015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00300" y="2925220"/>
            <a:ext cx="17907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30684"/>
            <a:ext cx="52768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30684"/>
            <a:ext cx="52768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381500"/>
            <a:ext cx="5276850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Controlling the Chaos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81025" y="13716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LLMs have "Knobs" and "Dials" that control their creativity.</a:t>
            </a:r>
            <a:endParaRPr sz="2200"/>
          </a:p>
        </p:txBody>
      </p:sp>
      <p:sp>
        <p:nvSpPr>
          <p:cNvPr id="212" name="Google Shape;212;p21"/>
          <p:cNvSpPr txBox="1"/>
          <p:nvPr/>
        </p:nvSpPr>
        <p:spPr>
          <a:xfrm>
            <a:off x="876300" y="2409825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Temperature</a:t>
            </a:r>
            <a:endParaRPr sz="2800"/>
          </a:p>
        </p:txBody>
      </p:sp>
      <p:sp>
        <p:nvSpPr>
          <p:cNvPr id="213" name="Google Shape;213;p21"/>
          <p:cNvSpPr txBox="1"/>
          <p:nvPr/>
        </p:nvSpPr>
        <p:spPr>
          <a:xfrm>
            <a:off x="876300" y="2924175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Controls randomness.</a:t>
            </a:r>
            <a:endParaRPr sz="2200"/>
          </a:p>
        </p:txBody>
      </p:sp>
      <p:sp>
        <p:nvSpPr>
          <p:cNvPr id="214" name="Google Shape;214;p21"/>
          <p:cNvSpPr txBox="1"/>
          <p:nvPr/>
        </p:nvSpPr>
        <p:spPr>
          <a:xfrm>
            <a:off x="6629400" y="2409825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Top-P (Nucleus)</a:t>
            </a:r>
            <a:endParaRPr sz="2800"/>
          </a:p>
        </p:txBody>
      </p:sp>
      <p:sp>
        <p:nvSpPr>
          <p:cNvPr id="215" name="Google Shape;215;p21"/>
          <p:cNvSpPr txBox="1"/>
          <p:nvPr/>
        </p:nvSpPr>
        <p:spPr>
          <a:xfrm>
            <a:off x="6629400" y="2924175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Controls the breadth of word choices.</a:t>
            </a:r>
            <a:endParaRPr sz="2200"/>
          </a:p>
        </p:txBody>
      </p:sp>
      <p:sp>
        <p:nvSpPr>
          <p:cNvPr id="216" name="Google Shape;216;p21"/>
          <p:cNvSpPr txBox="1"/>
          <p:nvPr/>
        </p:nvSpPr>
        <p:spPr>
          <a:xfrm>
            <a:off x="876300" y="487680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Top-K</a:t>
            </a:r>
            <a:endParaRPr sz="2800"/>
          </a:p>
        </p:txBody>
      </p:sp>
      <p:sp>
        <p:nvSpPr>
          <p:cNvPr id="217" name="Google Shape;217;p21"/>
          <p:cNvSpPr txBox="1"/>
          <p:nvPr/>
        </p:nvSpPr>
        <p:spPr>
          <a:xfrm>
            <a:off x="876300" y="5391150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Limits the candidate pool size.</a:t>
            </a:r>
            <a:endParaRPr sz="2200"/>
          </a:p>
        </p:txBody>
      </p:sp>
      <p:sp>
        <p:nvSpPr>
          <p:cNvPr id="218" name="Google Shape;218;p21"/>
          <p:cNvSpPr txBox="1"/>
          <p:nvPr/>
        </p:nvSpPr>
        <p:spPr>
          <a:xfrm>
            <a:off x="10001250" y="390525"/>
            <a:ext cx="16097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PARAMETERS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00975" y="2471715"/>
            <a:ext cx="2633025" cy="263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581025" y="7905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Temperature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581025" y="1912296"/>
            <a:ext cx="52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Range: 0.0 to 1.0 (or 2.0)</a:t>
            </a:r>
            <a:endParaRPr sz="2800"/>
          </a:p>
        </p:txBody>
      </p:sp>
      <p:sp>
        <p:nvSpPr>
          <p:cNvPr id="228" name="Google Shape;228;p22"/>
          <p:cNvSpPr txBox="1"/>
          <p:nvPr/>
        </p:nvSpPr>
        <p:spPr>
          <a:xfrm>
            <a:off x="962025" y="2657475"/>
            <a:ext cx="48960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Low (0.1):</a:t>
            </a: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Deterministic. Always picks the most likely word. Good for coding, math, facts.</a:t>
            </a:r>
            <a:endParaRPr sz="2200"/>
          </a:p>
        </p:txBody>
      </p:sp>
      <p:sp>
        <p:nvSpPr>
          <p:cNvPr id="229" name="Google Shape;229;p22"/>
          <p:cNvSpPr txBox="1"/>
          <p:nvPr/>
        </p:nvSpPr>
        <p:spPr>
          <a:xfrm>
            <a:off x="962025" y="4286250"/>
            <a:ext cx="48960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(0.9):</a:t>
            </a: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Creative. Takes risks. Good for poetry, brainstorming, fiction.</a:t>
            </a:r>
            <a:endParaRPr sz="2200"/>
          </a:p>
        </p:txBody>
      </p:sp>
      <p:sp>
        <p:nvSpPr>
          <p:cNvPr id="230" name="Google Shape;230;p22"/>
          <p:cNvSpPr txBox="1"/>
          <p:nvPr/>
        </p:nvSpPr>
        <p:spPr>
          <a:xfrm>
            <a:off x="10001250" y="390525"/>
            <a:ext cx="16097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PARAMETERS</a:t>
            </a:r>
            <a:endParaRPr/>
          </a:p>
        </p:txBody>
      </p:sp>
      <p:pic>
        <p:nvPicPr>
          <p:cNvPr id="231" name="Google Shape;23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7146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43400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13624"/>
            <a:ext cx="5276850" cy="30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13624"/>
            <a:ext cx="5276850" cy="301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81025" y="866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Top-P &amp; Top-K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76300" y="230107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Top-K</a:t>
            </a:r>
            <a:endParaRPr sz="2800"/>
          </a:p>
        </p:txBody>
      </p:sp>
      <p:sp>
        <p:nvSpPr>
          <p:cNvPr id="242" name="Google Shape;242;p23"/>
          <p:cNvSpPr txBox="1"/>
          <p:nvPr/>
        </p:nvSpPr>
        <p:spPr>
          <a:xfrm>
            <a:off x="876300" y="2987873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Hard cutoff. "Only consider the top K (e.g., 20) most likely words."</a:t>
            </a:r>
            <a:endParaRPr sz="2200"/>
          </a:p>
        </p:txBody>
      </p:sp>
      <p:sp>
        <p:nvSpPr>
          <p:cNvPr id="243" name="Google Shape;243;p23"/>
          <p:cNvSpPr txBox="1"/>
          <p:nvPr/>
        </p:nvSpPr>
        <p:spPr>
          <a:xfrm>
            <a:off x="952500" y="4140398"/>
            <a:ext cx="453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Top-K: 20</a:t>
            </a:r>
            <a:endParaRPr sz="2000"/>
          </a:p>
        </p:txBody>
      </p:sp>
      <p:sp>
        <p:nvSpPr>
          <p:cNvPr id="244" name="Google Shape;244;p23"/>
          <p:cNvSpPr txBox="1"/>
          <p:nvPr/>
        </p:nvSpPr>
        <p:spPr>
          <a:xfrm>
            <a:off x="6629400" y="2322126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Top-P (Nucleus)</a:t>
            </a:r>
            <a:endParaRPr sz="2800"/>
          </a:p>
        </p:txBody>
      </p:sp>
      <p:sp>
        <p:nvSpPr>
          <p:cNvPr id="245" name="Google Shape;245;p23"/>
          <p:cNvSpPr txBox="1"/>
          <p:nvPr/>
        </p:nvSpPr>
        <p:spPr>
          <a:xfrm>
            <a:off x="6629400" y="2836476"/>
            <a:ext cx="46863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Dynamic cutoff. "Consider words until their combined probability hits P (e.g., 90%)."</a:t>
            </a:r>
            <a:endParaRPr sz="2200"/>
          </a:p>
        </p:txBody>
      </p:sp>
      <p:sp>
        <p:nvSpPr>
          <p:cNvPr id="246" name="Google Shape;246;p23"/>
          <p:cNvSpPr txBox="1"/>
          <p:nvPr/>
        </p:nvSpPr>
        <p:spPr>
          <a:xfrm>
            <a:off x="6705600" y="4368998"/>
            <a:ext cx="453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Top-P: 0.9</a:t>
            </a:r>
            <a:endParaRPr sz="2000"/>
          </a:p>
        </p:txBody>
      </p:sp>
      <p:sp>
        <p:nvSpPr>
          <p:cNvPr id="247" name="Google Shape;247;p23"/>
          <p:cNvSpPr txBox="1"/>
          <p:nvPr/>
        </p:nvSpPr>
        <p:spPr>
          <a:xfrm>
            <a:off x="10001250" y="390525"/>
            <a:ext cx="16097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PARAMETERS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71600"/>
            <a:ext cx="35495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1371600"/>
            <a:ext cx="3549699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1371600"/>
            <a:ext cx="35495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Recommended Configurations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76300" y="2582019"/>
            <a:ext cx="31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Conservative</a:t>
            </a:r>
            <a:endParaRPr sz="2800"/>
          </a:p>
        </p:txBody>
      </p:sp>
      <p:sp>
        <p:nvSpPr>
          <p:cNvPr id="258" name="Google Shape;258;p24"/>
          <p:cNvSpPr txBox="1"/>
          <p:nvPr/>
        </p:nvSpPr>
        <p:spPr>
          <a:xfrm>
            <a:off x="876300" y="3096369"/>
            <a:ext cx="295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Coding / Facts</a:t>
            </a:r>
            <a:endParaRPr sz="2200"/>
          </a:p>
        </p:txBody>
      </p:sp>
      <p:sp>
        <p:nvSpPr>
          <p:cNvPr id="259" name="Google Shape;259;p24"/>
          <p:cNvSpPr txBox="1"/>
          <p:nvPr/>
        </p:nvSpPr>
        <p:spPr>
          <a:xfrm>
            <a:off x="952500" y="3708567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Temp: 0.1</a:t>
            </a:r>
            <a:endParaRPr sz="1800"/>
          </a:p>
        </p:txBody>
      </p:sp>
      <p:sp>
        <p:nvSpPr>
          <p:cNvPr id="260" name="Google Shape;260;p24"/>
          <p:cNvSpPr txBox="1"/>
          <p:nvPr/>
        </p:nvSpPr>
        <p:spPr>
          <a:xfrm>
            <a:off x="952500" y="4095371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Top-P: 0.9</a:t>
            </a:r>
            <a:endParaRPr sz="1800"/>
          </a:p>
        </p:txBody>
      </p:sp>
      <p:sp>
        <p:nvSpPr>
          <p:cNvPr id="261" name="Google Shape;261;p24"/>
          <p:cNvSpPr txBox="1"/>
          <p:nvPr/>
        </p:nvSpPr>
        <p:spPr>
          <a:xfrm>
            <a:off x="952500" y="4482175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Top-K: 20</a:t>
            </a:r>
            <a:endParaRPr sz="1800"/>
          </a:p>
        </p:txBody>
      </p:sp>
      <p:sp>
        <p:nvSpPr>
          <p:cNvPr id="262" name="Google Shape;262;p24"/>
          <p:cNvSpPr txBox="1"/>
          <p:nvPr/>
        </p:nvSpPr>
        <p:spPr>
          <a:xfrm>
            <a:off x="4616350" y="2582019"/>
            <a:ext cx="31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Balanced</a:t>
            </a:r>
            <a:endParaRPr sz="2800"/>
          </a:p>
        </p:txBody>
      </p:sp>
      <p:sp>
        <p:nvSpPr>
          <p:cNvPr id="263" name="Google Shape;263;p24"/>
          <p:cNvSpPr txBox="1"/>
          <p:nvPr/>
        </p:nvSpPr>
        <p:spPr>
          <a:xfrm>
            <a:off x="4616350" y="3096369"/>
            <a:ext cx="2959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Writing / Chat</a:t>
            </a:r>
            <a:endParaRPr sz="2200"/>
          </a:p>
        </p:txBody>
      </p:sp>
      <p:sp>
        <p:nvSpPr>
          <p:cNvPr id="264" name="Google Shape;264;p24"/>
          <p:cNvSpPr txBox="1"/>
          <p:nvPr/>
        </p:nvSpPr>
        <p:spPr>
          <a:xfrm>
            <a:off x="4692550" y="3708567"/>
            <a:ext cx="280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Temp: 0.2  -  0.5</a:t>
            </a:r>
            <a:endParaRPr sz="1800"/>
          </a:p>
        </p:txBody>
      </p:sp>
      <p:sp>
        <p:nvSpPr>
          <p:cNvPr id="265" name="Google Shape;265;p24"/>
          <p:cNvSpPr txBox="1"/>
          <p:nvPr/>
        </p:nvSpPr>
        <p:spPr>
          <a:xfrm>
            <a:off x="4692550" y="4095371"/>
            <a:ext cx="280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Top-P: 0.95</a:t>
            </a:r>
            <a:endParaRPr sz="1800"/>
          </a:p>
        </p:txBody>
      </p:sp>
      <p:sp>
        <p:nvSpPr>
          <p:cNvPr id="266" name="Google Shape;266;p24"/>
          <p:cNvSpPr txBox="1"/>
          <p:nvPr/>
        </p:nvSpPr>
        <p:spPr>
          <a:xfrm>
            <a:off x="4692550" y="4482175"/>
            <a:ext cx="280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Top-K: 30</a:t>
            </a:r>
            <a:endParaRPr sz="1800"/>
          </a:p>
        </p:txBody>
      </p:sp>
      <p:sp>
        <p:nvSpPr>
          <p:cNvPr id="267" name="Google Shape;267;p24"/>
          <p:cNvSpPr txBox="1"/>
          <p:nvPr/>
        </p:nvSpPr>
        <p:spPr>
          <a:xfrm>
            <a:off x="8356550" y="2582019"/>
            <a:ext cx="31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Creative</a:t>
            </a:r>
            <a:endParaRPr sz="2800"/>
          </a:p>
        </p:txBody>
      </p:sp>
      <p:sp>
        <p:nvSpPr>
          <p:cNvPr id="268" name="Google Shape;268;p24"/>
          <p:cNvSpPr txBox="1"/>
          <p:nvPr/>
        </p:nvSpPr>
        <p:spPr>
          <a:xfrm>
            <a:off x="8356550" y="3096369"/>
            <a:ext cx="295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Stories / Ideation</a:t>
            </a:r>
            <a:endParaRPr sz="2200"/>
          </a:p>
        </p:txBody>
      </p:sp>
      <p:sp>
        <p:nvSpPr>
          <p:cNvPr id="269" name="Google Shape;269;p24"/>
          <p:cNvSpPr txBox="1"/>
          <p:nvPr/>
        </p:nvSpPr>
        <p:spPr>
          <a:xfrm>
            <a:off x="8432750" y="4095371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Top-P: 0.99</a:t>
            </a:r>
            <a:endParaRPr sz="1800"/>
          </a:p>
        </p:txBody>
      </p:sp>
      <p:sp>
        <p:nvSpPr>
          <p:cNvPr id="270" name="Google Shape;270;p24"/>
          <p:cNvSpPr txBox="1"/>
          <p:nvPr/>
        </p:nvSpPr>
        <p:spPr>
          <a:xfrm>
            <a:off x="10001250" y="390525"/>
            <a:ext cx="16097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PARAMETERS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8432750" y="4482175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Top-K: 40</a:t>
            </a:r>
            <a:endParaRPr sz="1800"/>
          </a:p>
        </p:txBody>
      </p:sp>
      <p:sp>
        <p:nvSpPr>
          <p:cNvPr id="272" name="Google Shape;272;p24"/>
          <p:cNvSpPr txBox="1"/>
          <p:nvPr/>
        </p:nvSpPr>
        <p:spPr>
          <a:xfrm>
            <a:off x="8432750" y="3708567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Temp: 0.7  -  0.9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43125"/>
            <a:ext cx="11029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 title="AI-Agents-Architecture-by-falkordb-qwm0qxz4ufo0rgq34ti2jh09fp4771feaxtkfmld3o.jpg"/>
          <p:cNvPicPr preferRelativeResize="0"/>
          <p:nvPr/>
        </p:nvPicPr>
        <p:blipFill rotWithShape="1">
          <a:blip r:embed="rId5">
            <a:alphaModFix/>
          </a:blip>
          <a:srcRect t="4043" b="4052"/>
          <a:stretch/>
        </p:blipFill>
        <p:spPr>
          <a:xfrm>
            <a:off x="590550" y="1714500"/>
            <a:ext cx="11010900" cy="494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6 Essential Components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581025" y="1220066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Agent is more than just a Model. It is a System.</a:t>
            </a:r>
            <a:endParaRPr sz="2200"/>
          </a:p>
        </p:txBody>
      </p:sp>
      <p:sp>
        <p:nvSpPr>
          <p:cNvPr id="282" name="Google Shape;282;p25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AI AGENTS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71600"/>
            <a:ext cx="5276850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71600"/>
            <a:ext cx="5276850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110037"/>
            <a:ext cx="5276850" cy="226218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Core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876300" y="1831181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Model</a:t>
            </a:r>
            <a:endParaRPr sz="2800"/>
          </a:p>
        </p:txBody>
      </p:sp>
      <p:sp>
        <p:nvSpPr>
          <p:cNvPr id="293" name="Google Shape;293;p26"/>
          <p:cNvSpPr txBox="1"/>
          <p:nvPr/>
        </p:nvSpPr>
        <p:spPr>
          <a:xfrm>
            <a:off x="876300" y="2345531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Brain (GPT-4, Claude). Performs reasoning.</a:t>
            </a:r>
            <a:endParaRPr sz="2200"/>
          </a:p>
        </p:txBody>
      </p:sp>
      <p:sp>
        <p:nvSpPr>
          <p:cNvPr id="294" name="Google Shape;294;p26"/>
          <p:cNvSpPr txBox="1"/>
          <p:nvPr/>
        </p:nvSpPr>
        <p:spPr>
          <a:xfrm>
            <a:off x="6629400" y="1831181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Tools</a:t>
            </a:r>
            <a:endParaRPr sz="2800"/>
          </a:p>
        </p:txBody>
      </p:sp>
      <p:sp>
        <p:nvSpPr>
          <p:cNvPr id="295" name="Google Shape;295;p26"/>
          <p:cNvSpPr txBox="1"/>
          <p:nvPr/>
        </p:nvSpPr>
        <p:spPr>
          <a:xfrm>
            <a:off x="6629400" y="2345531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Hands. APIs, Web Search, Calculator, Code Interpreter.</a:t>
            </a:r>
            <a:endParaRPr sz="2200"/>
          </a:p>
        </p:txBody>
      </p:sp>
      <p:sp>
        <p:nvSpPr>
          <p:cNvPr id="296" name="Google Shape;296;p26"/>
          <p:cNvSpPr txBox="1"/>
          <p:nvPr/>
        </p:nvSpPr>
        <p:spPr>
          <a:xfrm>
            <a:off x="876300" y="4569618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 Knowledge / Context</a:t>
            </a:r>
            <a:endParaRPr sz="2800" dirty="0"/>
          </a:p>
        </p:txBody>
      </p:sp>
      <p:sp>
        <p:nvSpPr>
          <p:cNvPr id="297" name="Google Shape;297;p26"/>
          <p:cNvSpPr txBox="1"/>
          <p:nvPr/>
        </p:nvSpPr>
        <p:spPr>
          <a:xfrm>
            <a:off x="876300" y="5083968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Memory. RAG, Vector Databases, File Uploads.</a:t>
            </a:r>
            <a:endParaRPr sz="2200"/>
          </a:p>
        </p:txBody>
      </p:sp>
      <p:sp>
        <p:nvSpPr>
          <p:cNvPr id="298" name="Google Shape;298;p26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AI AGENTS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71600"/>
            <a:ext cx="5276850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371600"/>
            <a:ext cx="5276850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10037"/>
            <a:ext cx="5276850" cy="2262187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7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Interface &amp; Control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876300" y="2002631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 Speech/Audio</a:t>
            </a:r>
            <a:endParaRPr sz="2800"/>
          </a:p>
        </p:txBody>
      </p:sp>
      <p:sp>
        <p:nvSpPr>
          <p:cNvPr id="309" name="Google Shape;309;p27"/>
          <p:cNvSpPr txBox="1"/>
          <p:nvPr/>
        </p:nvSpPr>
        <p:spPr>
          <a:xfrm>
            <a:off x="876300" y="2516981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Ears/Mouth. STT (Whisper) and TTS.</a:t>
            </a:r>
            <a:endParaRPr sz="2200"/>
          </a:p>
        </p:txBody>
      </p:sp>
      <p:sp>
        <p:nvSpPr>
          <p:cNvPr id="310" name="Google Shape;310;p27"/>
          <p:cNvSpPr txBox="1"/>
          <p:nvPr/>
        </p:nvSpPr>
        <p:spPr>
          <a:xfrm>
            <a:off x="6629400" y="1831181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5. Guardrails</a:t>
            </a:r>
            <a:endParaRPr sz="2800"/>
          </a:p>
        </p:txBody>
      </p:sp>
      <p:sp>
        <p:nvSpPr>
          <p:cNvPr id="311" name="Google Shape;311;p27"/>
          <p:cNvSpPr txBox="1"/>
          <p:nvPr/>
        </p:nvSpPr>
        <p:spPr>
          <a:xfrm>
            <a:off x="6629400" y="2345531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Safety. Filters preventing data leaks or toxic output.</a:t>
            </a:r>
            <a:endParaRPr sz="2200"/>
          </a:p>
        </p:txBody>
      </p:sp>
      <p:sp>
        <p:nvSpPr>
          <p:cNvPr id="312" name="Google Shape;312;p27"/>
          <p:cNvSpPr txBox="1"/>
          <p:nvPr/>
        </p:nvSpPr>
        <p:spPr>
          <a:xfrm>
            <a:off x="876300" y="4569618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6. Orchestration</a:t>
            </a:r>
            <a:endParaRPr sz="2800"/>
          </a:p>
        </p:txBody>
      </p:sp>
      <p:sp>
        <p:nvSpPr>
          <p:cNvPr id="313" name="Google Shape;313;p27"/>
          <p:cNvSpPr txBox="1"/>
          <p:nvPr/>
        </p:nvSpPr>
        <p:spPr>
          <a:xfrm>
            <a:off x="876300" y="5083975"/>
            <a:ext cx="49206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Manager. Logic loops  connecting everything.</a:t>
            </a:r>
            <a:endParaRPr sz="2200"/>
          </a:p>
        </p:txBody>
      </p:sp>
      <p:sp>
        <p:nvSpPr>
          <p:cNvPr id="314" name="Google Shape;314;p27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AI AGENTS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19350"/>
            <a:ext cx="52768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19350"/>
            <a:ext cx="527685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 txBox="1"/>
          <p:nvPr/>
        </p:nvSpPr>
        <p:spPr>
          <a:xfrm>
            <a:off x="581025" y="1400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Distinction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876300" y="2714625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Prompt Engineering</a:t>
            </a:r>
            <a:endParaRPr sz="2800"/>
          </a:p>
        </p:txBody>
      </p:sp>
      <p:sp>
        <p:nvSpPr>
          <p:cNvPr id="324" name="Google Shape;324;p28"/>
          <p:cNvSpPr txBox="1"/>
          <p:nvPr/>
        </p:nvSpPr>
        <p:spPr>
          <a:xfrm>
            <a:off x="876300" y="3228975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Instructions.</a:t>
            </a:r>
            <a:endParaRPr sz="2200"/>
          </a:p>
        </p:txBody>
      </p:sp>
      <p:sp>
        <p:nvSpPr>
          <p:cNvPr id="325" name="Google Shape;325;p28"/>
          <p:cNvSpPr txBox="1"/>
          <p:nvPr/>
        </p:nvSpPr>
        <p:spPr>
          <a:xfrm>
            <a:off x="876300" y="3714750"/>
            <a:ext cx="4686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Crafting the query to guide the model's reasoning.</a:t>
            </a:r>
            <a:endParaRPr sz="2000" dirty="0"/>
          </a:p>
        </p:txBody>
      </p:sp>
      <p:sp>
        <p:nvSpPr>
          <p:cNvPr id="326" name="Google Shape;326;p28"/>
          <p:cNvSpPr txBox="1"/>
          <p:nvPr/>
        </p:nvSpPr>
        <p:spPr>
          <a:xfrm>
            <a:off x="876300" y="4543425"/>
            <a:ext cx="468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"Act as a chef..."</a:t>
            </a:r>
            <a:endParaRPr sz="2000"/>
          </a:p>
        </p:txBody>
      </p:sp>
      <p:sp>
        <p:nvSpPr>
          <p:cNvPr id="327" name="Google Shape;327;p28"/>
          <p:cNvSpPr txBox="1"/>
          <p:nvPr/>
        </p:nvSpPr>
        <p:spPr>
          <a:xfrm>
            <a:off x="6629400" y="2714625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Context Engineering</a:t>
            </a:r>
            <a:endParaRPr sz="2800"/>
          </a:p>
        </p:txBody>
      </p:sp>
      <p:sp>
        <p:nvSpPr>
          <p:cNvPr id="328" name="Google Shape;328;p28"/>
          <p:cNvSpPr txBox="1"/>
          <p:nvPr/>
        </p:nvSpPr>
        <p:spPr>
          <a:xfrm>
            <a:off x="6629400" y="3228975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Knowledge.</a:t>
            </a:r>
            <a:endParaRPr sz="2200"/>
          </a:p>
        </p:txBody>
      </p:sp>
      <p:sp>
        <p:nvSpPr>
          <p:cNvPr id="329" name="Google Shape;329;p28"/>
          <p:cNvSpPr txBox="1"/>
          <p:nvPr/>
        </p:nvSpPr>
        <p:spPr>
          <a:xfrm>
            <a:off x="6629400" y="3714750"/>
            <a:ext cx="4686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Curating the data the model uses to answer.</a:t>
            </a:r>
            <a:endParaRPr sz="2000"/>
          </a:p>
        </p:txBody>
      </p:sp>
      <p:sp>
        <p:nvSpPr>
          <p:cNvPr id="330" name="Google Shape;330;p28"/>
          <p:cNvSpPr txBox="1"/>
          <p:nvPr/>
        </p:nvSpPr>
        <p:spPr>
          <a:xfrm>
            <a:off x="6629400" y="4543425"/>
            <a:ext cx="468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"Use this PDF recipe book..."</a:t>
            </a:r>
            <a:endParaRPr sz="2000"/>
          </a:p>
        </p:txBody>
      </p:sp>
      <p:sp>
        <p:nvSpPr>
          <p:cNvPr id="331" name="Google Shape;331;p28"/>
          <p:cNvSpPr txBox="1"/>
          <p:nvPr/>
        </p:nvSpPr>
        <p:spPr>
          <a:xfrm>
            <a:off x="9258300" y="390525"/>
            <a:ext cx="2352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PROMPTING BASICS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9" descr="image.png"/>
          <p:cNvPicPr preferRelativeResize="0"/>
          <p:nvPr/>
        </p:nvPicPr>
        <p:blipFill rotWithShape="1">
          <a:blip r:embed="rId4">
            <a:alphaModFix/>
          </a:blip>
          <a:srcRect l="2641" r="22305" b="65727"/>
          <a:stretch/>
        </p:blipFill>
        <p:spPr>
          <a:xfrm>
            <a:off x="579582" y="2771775"/>
            <a:ext cx="11030101" cy="175292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 txBox="1"/>
          <p:nvPr/>
        </p:nvSpPr>
        <p:spPr>
          <a:xfrm>
            <a:off x="581025" y="11715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Zero-Shot Prompting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581025" y="20574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Asking the model to perform a task without any examples.</a:t>
            </a:r>
            <a:endParaRPr sz="2200"/>
          </a:p>
        </p:txBody>
      </p:sp>
      <p:sp>
        <p:nvSpPr>
          <p:cNvPr id="340" name="Google Shape;340;p29"/>
          <p:cNvSpPr txBox="1"/>
          <p:nvPr/>
        </p:nvSpPr>
        <p:spPr>
          <a:xfrm>
            <a:off x="624320" y="4798002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Relying purely on pre-training data.</a:t>
            </a:r>
            <a:endParaRPr sz="2200"/>
          </a:p>
        </p:txBody>
      </p:sp>
      <p:sp>
        <p:nvSpPr>
          <p:cNvPr id="341" name="Google Shape;341;p29"/>
          <p:cNvSpPr txBox="1"/>
          <p:nvPr/>
        </p:nvSpPr>
        <p:spPr>
          <a:xfrm>
            <a:off x="9258300" y="390525"/>
            <a:ext cx="2352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PROMPTING BASICS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0" descr="image.png"/>
          <p:cNvPicPr preferRelativeResize="0"/>
          <p:nvPr/>
        </p:nvPicPr>
        <p:blipFill rotWithShape="1">
          <a:blip r:embed="rId4">
            <a:alphaModFix/>
          </a:blip>
          <a:srcRect l="1865" t="3164" r="5300" b="69856"/>
          <a:stretch/>
        </p:blipFill>
        <p:spPr>
          <a:xfrm>
            <a:off x="405525" y="3349336"/>
            <a:ext cx="11581449" cy="13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0"/>
          <p:cNvSpPr txBox="1"/>
          <p:nvPr/>
        </p:nvSpPr>
        <p:spPr>
          <a:xfrm>
            <a:off x="581025" y="1834861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One-Shot Prompting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581025" y="2720686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Providing a single example to guide the structure.</a:t>
            </a:r>
            <a:endParaRPr sz="2200"/>
          </a:p>
        </p:txBody>
      </p:sp>
      <p:sp>
        <p:nvSpPr>
          <p:cNvPr id="350" name="Google Shape;350;p30"/>
          <p:cNvSpPr txBox="1"/>
          <p:nvPr/>
        </p:nvSpPr>
        <p:spPr>
          <a:xfrm>
            <a:off x="9258300" y="390525"/>
            <a:ext cx="2352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PROMPTING BASICS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1" descr="image.png"/>
          <p:cNvPicPr preferRelativeResize="0"/>
          <p:nvPr/>
        </p:nvPicPr>
        <p:blipFill rotWithShape="1">
          <a:blip r:embed="rId4">
            <a:alphaModFix/>
          </a:blip>
          <a:srcRect l="1960" t="3612" r="-1959" b="68494"/>
          <a:stretch/>
        </p:blipFill>
        <p:spPr>
          <a:xfrm>
            <a:off x="352425" y="3291450"/>
            <a:ext cx="11922074" cy="11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1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Few-Shot Prompting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581025" y="26670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Providing multiple examples (3-5) to establish a pattern.</a:t>
            </a:r>
            <a:endParaRPr sz="2200"/>
          </a:p>
        </p:txBody>
      </p:sp>
      <p:sp>
        <p:nvSpPr>
          <p:cNvPr id="359" name="Google Shape;359;p31"/>
          <p:cNvSpPr txBox="1"/>
          <p:nvPr/>
        </p:nvSpPr>
        <p:spPr>
          <a:xfrm>
            <a:off x="581025" y="459105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Highly Recommended for Agents.</a:t>
            </a:r>
            <a:endParaRPr sz="2200"/>
          </a:p>
        </p:txBody>
      </p:sp>
      <p:sp>
        <p:nvSpPr>
          <p:cNvPr id="360" name="Google Shape;360;p31"/>
          <p:cNvSpPr txBox="1"/>
          <p:nvPr/>
        </p:nvSpPr>
        <p:spPr>
          <a:xfrm>
            <a:off x="9258300" y="390525"/>
            <a:ext cx="2352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PROMPTING BASICS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2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System vs User Prompts</a:t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876300" y="2549723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System Prompt</a:t>
            </a:r>
            <a:endParaRPr sz="2800"/>
          </a:p>
        </p:txBody>
      </p:sp>
      <p:sp>
        <p:nvSpPr>
          <p:cNvPr id="370" name="Google Shape;370;p32"/>
          <p:cNvSpPr txBox="1"/>
          <p:nvPr/>
        </p:nvSpPr>
        <p:spPr>
          <a:xfrm>
            <a:off x="876300" y="3064073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</a:t>
            </a:r>
            <a:r>
              <a:rPr lang="en-US" sz="2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instruction. Invisible to the end user. Sets the behavior.</a:t>
            </a:r>
            <a:endParaRPr sz="2200"/>
          </a:p>
        </p:txBody>
      </p:sp>
      <p:sp>
        <p:nvSpPr>
          <p:cNvPr id="371" name="Google Shape;371;p32"/>
          <p:cNvSpPr txBox="1"/>
          <p:nvPr/>
        </p:nvSpPr>
        <p:spPr>
          <a:xfrm>
            <a:off x="952500" y="4216598"/>
            <a:ext cx="4533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"You are a helpful assistant."</a:t>
            </a:r>
            <a:endParaRPr sz="2000"/>
          </a:p>
        </p:txBody>
      </p:sp>
      <p:sp>
        <p:nvSpPr>
          <p:cNvPr id="372" name="Google Shape;372;p32"/>
          <p:cNvSpPr txBox="1"/>
          <p:nvPr/>
        </p:nvSpPr>
        <p:spPr>
          <a:xfrm>
            <a:off x="6629400" y="2721173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User Prompt</a:t>
            </a:r>
            <a:endParaRPr sz="2800"/>
          </a:p>
        </p:txBody>
      </p:sp>
      <p:sp>
        <p:nvSpPr>
          <p:cNvPr id="373" name="Google Shape;373;p32"/>
          <p:cNvSpPr txBox="1"/>
          <p:nvPr/>
        </p:nvSpPr>
        <p:spPr>
          <a:xfrm>
            <a:off x="6629400" y="3235523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input from the person chatting.</a:t>
            </a:r>
            <a:endParaRPr sz="2200"/>
          </a:p>
        </p:txBody>
      </p:sp>
      <p:sp>
        <p:nvSpPr>
          <p:cNvPr id="374" name="Google Shape;374;p32"/>
          <p:cNvSpPr txBox="1"/>
          <p:nvPr/>
        </p:nvSpPr>
        <p:spPr>
          <a:xfrm>
            <a:off x="6705600" y="4121348"/>
            <a:ext cx="4533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"What is the capital of France?"</a:t>
            </a:r>
            <a:endParaRPr sz="2000"/>
          </a:p>
        </p:txBody>
      </p:sp>
      <p:sp>
        <p:nvSpPr>
          <p:cNvPr id="375" name="Google Shape;375;p32"/>
          <p:cNvSpPr txBox="1"/>
          <p:nvPr/>
        </p:nvSpPr>
        <p:spPr>
          <a:xfrm>
            <a:off x="9258300" y="390525"/>
            <a:ext cx="2352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PROMPTING BASICS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54275"/>
            <a:ext cx="5276850" cy="2684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3"/>
          <p:cNvSpPr txBox="1"/>
          <p:nvPr/>
        </p:nvSpPr>
        <p:spPr>
          <a:xfrm>
            <a:off x="581025" y="1247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Role Prompting</a:t>
            </a:r>
            <a:endParaRPr/>
          </a:p>
        </p:txBody>
      </p:sp>
      <p:sp>
        <p:nvSpPr>
          <p:cNvPr id="383" name="Google Shape;383;p33"/>
          <p:cNvSpPr txBox="1"/>
          <p:nvPr/>
        </p:nvSpPr>
        <p:spPr>
          <a:xfrm>
            <a:off x="581025" y="2308770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Assigning a specific persona to access expert latent space.</a:t>
            </a:r>
            <a:endParaRPr sz="2200"/>
          </a:p>
        </p:txBody>
      </p:sp>
      <p:sp>
        <p:nvSpPr>
          <p:cNvPr id="384" name="Google Shape;384;p33"/>
          <p:cNvSpPr txBox="1"/>
          <p:nvPr/>
        </p:nvSpPr>
        <p:spPr>
          <a:xfrm>
            <a:off x="657225" y="3461295"/>
            <a:ext cx="51246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"Act as a Senior Python Engineer..."</a:t>
            </a:r>
            <a:endParaRPr sz="2000"/>
          </a:p>
        </p:txBody>
      </p:sp>
      <p:sp>
        <p:nvSpPr>
          <p:cNvPr id="385" name="Google Shape;385;p33"/>
          <p:cNvSpPr txBox="1"/>
          <p:nvPr/>
        </p:nvSpPr>
        <p:spPr>
          <a:xfrm>
            <a:off x="657225" y="4533900"/>
            <a:ext cx="51246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"Act as a empathetic therapist..."</a:t>
            </a:r>
            <a:endParaRPr sz="2000"/>
          </a:p>
        </p:txBody>
      </p:sp>
      <p:sp>
        <p:nvSpPr>
          <p:cNvPr id="386" name="Google Shape;386;p33"/>
          <p:cNvSpPr txBox="1"/>
          <p:nvPr/>
        </p:nvSpPr>
        <p:spPr>
          <a:xfrm>
            <a:off x="6629400" y="260759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Why?</a:t>
            </a:r>
            <a:endParaRPr sz="2800"/>
          </a:p>
        </p:txBody>
      </p:sp>
      <p:sp>
        <p:nvSpPr>
          <p:cNvPr id="387" name="Google Shape;387;p33"/>
          <p:cNvSpPr txBox="1"/>
          <p:nvPr/>
        </p:nvSpPr>
        <p:spPr>
          <a:xfrm>
            <a:off x="6629400" y="3121940"/>
            <a:ext cx="46863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narrows the search space to high-quality tokens associated with that profession.</a:t>
            </a:r>
            <a:endParaRPr sz="2200"/>
          </a:p>
        </p:txBody>
      </p:sp>
      <p:sp>
        <p:nvSpPr>
          <p:cNvPr id="388" name="Google Shape;388;p33"/>
          <p:cNvSpPr txBox="1"/>
          <p:nvPr/>
        </p:nvSpPr>
        <p:spPr>
          <a:xfrm>
            <a:off x="9010650" y="390525"/>
            <a:ext cx="26003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ADVANCED PROMPTING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4" descr="image.png"/>
          <p:cNvPicPr preferRelativeResize="0"/>
          <p:nvPr/>
        </p:nvPicPr>
        <p:blipFill rotWithShape="1">
          <a:blip r:embed="rId4">
            <a:alphaModFix/>
          </a:blip>
          <a:srcRect l="1970" t="3069" r="1922" b="72315"/>
          <a:stretch/>
        </p:blipFill>
        <p:spPr>
          <a:xfrm>
            <a:off x="417150" y="3596250"/>
            <a:ext cx="112661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4"/>
          <p:cNvSpPr txBox="1"/>
          <p:nvPr/>
        </p:nvSpPr>
        <p:spPr>
          <a:xfrm>
            <a:off x="581025" y="20859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Contextual Prompting</a:t>
            </a:r>
            <a:endParaRPr/>
          </a:p>
        </p:txBody>
      </p:sp>
      <p:sp>
        <p:nvSpPr>
          <p:cNvPr id="396" name="Google Shape;396;p34"/>
          <p:cNvSpPr txBox="1"/>
          <p:nvPr/>
        </p:nvSpPr>
        <p:spPr>
          <a:xfrm>
            <a:off x="581025" y="29718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Feeding the model relevant background info before the task.</a:t>
            </a:r>
            <a:endParaRPr sz="2200"/>
          </a:p>
        </p:txBody>
      </p:sp>
      <p:sp>
        <p:nvSpPr>
          <p:cNvPr id="397" name="Google Shape;397;p34"/>
          <p:cNvSpPr txBox="1"/>
          <p:nvPr/>
        </p:nvSpPr>
        <p:spPr>
          <a:xfrm>
            <a:off x="9010650" y="390525"/>
            <a:ext cx="26003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ADVANCED PROMPTING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5" descr="image.png"/>
          <p:cNvPicPr preferRelativeResize="0"/>
          <p:nvPr/>
        </p:nvPicPr>
        <p:blipFill rotWithShape="1">
          <a:blip r:embed="rId4">
            <a:alphaModFix/>
          </a:blip>
          <a:srcRect l="1542" t="3722" r="5511" b="66828"/>
          <a:stretch/>
        </p:blipFill>
        <p:spPr>
          <a:xfrm>
            <a:off x="370675" y="3067050"/>
            <a:ext cx="11581449" cy="127697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581025" y="15525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Step-Back Prompting</a:t>
            </a:r>
            <a:endParaRPr/>
          </a:p>
        </p:txBody>
      </p:sp>
      <p:sp>
        <p:nvSpPr>
          <p:cNvPr id="405" name="Google Shape;405;p35"/>
          <p:cNvSpPr txBox="1"/>
          <p:nvPr/>
        </p:nvSpPr>
        <p:spPr>
          <a:xfrm>
            <a:off x="581025" y="24384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Asking the AI to extract high-level concepts first.</a:t>
            </a:r>
            <a:endParaRPr sz="2200"/>
          </a:p>
        </p:txBody>
      </p:sp>
      <p:sp>
        <p:nvSpPr>
          <p:cNvPr id="406" name="Google Shape;406;p35"/>
          <p:cNvSpPr txBox="1"/>
          <p:nvPr/>
        </p:nvSpPr>
        <p:spPr>
          <a:xfrm>
            <a:off x="581025" y="4597508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Reduces errors in complex reasoning tasks.</a:t>
            </a:r>
            <a:endParaRPr sz="2200"/>
          </a:p>
        </p:txBody>
      </p:sp>
      <p:sp>
        <p:nvSpPr>
          <p:cNvPr id="407" name="Google Shape;407;p35"/>
          <p:cNvSpPr txBox="1"/>
          <p:nvPr/>
        </p:nvSpPr>
        <p:spPr>
          <a:xfrm>
            <a:off x="9010650" y="390525"/>
            <a:ext cx="26003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ADVANCED PROMPTING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6" descr="image.png"/>
          <p:cNvPicPr preferRelativeResize="0"/>
          <p:nvPr/>
        </p:nvPicPr>
        <p:blipFill rotWithShape="1">
          <a:blip r:embed="rId4">
            <a:alphaModFix/>
          </a:blip>
          <a:srcRect l="3465" t="3164" r="-7232" b="64874"/>
          <a:stretch/>
        </p:blipFill>
        <p:spPr>
          <a:xfrm>
            <a:off x="751675" y="3676650"/>
            <a:ext cx="5106200" cy="14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48012"/>
            <a:ext cx="52768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6"/>
          <p:cNvSpPr txBox="1"/>
          <p:nvPr/>
        </p:nvSpPr>
        <p:spPr>
          <a:xfrm>
            <a:off x="581025" y="2162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Chain of Thought (CoT)</a:t>
            </a:r>
            <a:endParaRPr/>
          </a:p>
        </p:txBody>
      </p:sp>
      <p:sp>
        <p:nvSpPr>
          <p:cNvPr id="416" name="Google Shape;416;p36"/>
          <p:cNvSpPr txBox="1"/>
          <p:nvPr/>
        </p:nvSpPr>
        <p:spPr>
          <a:xfrm>
            <a:off x="581025" y="30480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Forcing the model to "show its work."</a:t>
            </a:r>
            <a:endParaRPr sz="2200"/>
          </a:p>
        </p:txBody>
      </p:sp>
      <p:sp>
        <p:nvSpPr>
          <p:cNvPr id="417" name="Google Shape;417;p36"/>
          <p:cNvSpPr txBox="1"/>
          <p:nvPr/>
        </p:nvSpPr>
        <p:spPr>
          <a:xfrm>
            <a:off x="6629400" y="3443287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Impact</a:t>
            </a:r>
            <a:endParaRPr sz="2800"/>
          </a:p>
        </p:txBody>
      </p:sp>
      <p:sp>
        <p:nvSpPr>
          <p:cNvPr id="418" name="Google Shape;418;p36"/>
          <p:cNvSpPr txBox="1"/>
          <p:nvPr/>
        </p:nvSpPr>
        <p:spPr>
          <a:xfrm>
            <a:off x="6629400" y="3957637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Increases math and logic accuracy by ~40%.</a:t>
            </a:r>
            <a:endParaRPr sz="2200"/>
          </a:p>
        </p:txBody>
      </p:sp>
      <p:sp>
        <p:nvSpPr>
          <p:cNvPr id="419" name="Google Shape;419;p36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REASONING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076325"/>
            <a:ext cx="5257799" cy="4981576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7"/>
          <p:cNvSpPr txBox="1"/>
          <p:nvPr/>
        </p:nvSpPr>
        <p:spPr>
          <a:xfrm>
            <a:off x="581025" y="1247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Tree of Thoughts (ToT)</a:t>
            </a:r>
            <a:endParaRPr/>
          </a:p>
        </p:txBody>
      </p:sp>
      <p:sp>
        <p:nvSpPr>
          <p:cNvPr id="428" name="Google Shape;428;p37"/>
          <p:cNvSpPr txBox="1"/>
          <p:nvPr/>
        </p:nvSpPr>
        <p:spPr>
          <a:xfrm>
            <a:off x="581025" y="2119312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Generating multiple possible paths and evaluating them.</a:t>
            </a:r>
            <a:endParaRPr sz="2200"/>
          </a:p>
        </p:txBody>
      </p:sp>
      <p:sp>
        <p:nvSpPr>
          <p:cNvPr id="429" name="Google Shape;429;p37"/>
          <p:cNvSpPr txBox="1"/>
          <p:nvPr/>
        </p:nvSpPr>
        <p:spPr>
          <a:xfrm>
            <a:off x="962025" y="3328987"/>
            <a:ext cx="489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Path A: Idea 1 -&gt; Dead End.</a:t>
            </a:r>
            <a:endParaRPr sz="2200"/>
          </a:p>
        </p:txBody>
      </p:sp>
      <p:sp>
        <p:nvSpPr>
          <p:cNvPr id="430" name="Google Shape;430;p37"/>
          <p:cNvSpPr txBox="1"/>
          <p:nvPr/>
        </p:nvSpPr>
        <p:spPr>
          <a:xfrm>
            <a:off x="962025" y="3814762"/>
            <a:ext cx="4896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Path B: Idea 2 -&gt; Promising -&gt; Solution.</a:t>
            </a:r>
            <a:endParaRPr sz="2200"/>
          </a:p>
        </p:txBody>
      </p:sp>
      <p:sp>
        <p:nvSpPr>
          <p:cNvPr id="431" name="Google Shape;431;p37"/>
          <p:cNvSpPr txBox="1"/>
          <p:nvPr/>
        </p:nvSpPr>
        <p:spPr>
          <a:xfrm>
            <a:off x="962025" y="4787442"/>
            <a:ext cx="489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Path C: Idea 3 -&gt; OK.</a:t>
            </a:r>
            <a:endParaRPr sz="2200"/>
          </a:p>
        </p:txBody>
      </p:sp>
      <p:sp>
        <p:nvSpPr>
          <p:cNvPr id="432" name="Google Shape;432;p37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REASONING</a:t>
            </a:r>
            <a:endParaRPr/>
          </a:p>
        </p:txBody>
      </p:sp>
      <p:pic>
        <p:nvPicPr>
          <p:cNvPr id="433" name="Google Shape;433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3861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719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867840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8" descr="image.png"/>
          <p:cNvPicPr preferRelativeResize="0"/>
          <p:nvPr/>
        </p:nvPicPr>
        <p:blipFill rotWithShape="1">
          <a:blip r:embed="rId4">
            <a:alphaModFix/>
          </a:blip>
          <a:srcRect l="42371" r="41947"/>
          <a:stretch/>
        </p:blipFill>
        <p:spPr>
          <a:xfrm>
            <a:off x="2308325" y="2655818"/>
            <a:ext cx="3235901" cy="1140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8" descr="image.png"/>
          <p:cNvPicPr preferRelativeResize="0"/>
          <p:nvPr/>
        </p:nvPicPr>
        <p:blipFill rotWithShape="1">
          <a:blip r:embed="rId5">
            <a:alphaModFix/>
          </a:blip>
          <a:srcRect l="41019" r="41291"/>
          <a:stretch/>
        </p:blipFill>
        <p:spPr>
          <a:xfrm>
            <a:off x="6690850" y="2735600"/>
            <a:ext cx="3341139" cy="104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8" descr="image.png"/>
          <p:cNvPicPr preferRelativeResize="0"/>
          <p:nvPr/>
        </p:nvPicPr>
        <p:blipFill rotWithShape="1">
          <a:blip r:embed="rId6">
            <a:alphaModFix/>
          </a:blip>
          <a:srcRect l="41298" r="41569"/>
          <a:stretch/>
        </p:blipFill>
        <p:spPr>
          <a:xfrm>
            <a:off x="2308325" y="4640600"/>
            <a:ext cx="3235901" cy="104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8" descr="image.png"/>
          <p:cNvPicPr preferRelativeResize="0"/>
          <p:nvPr/>
        </p:nvPicPr>
        <p:blipFill rotWithShape="1">
          <a:blip r:embed="rId7">
            <a:alphaModFix/>
          </a:blip>
          <a:srcRect l="41717" r="41289"/>
          <a:stretch/>
        </p:blipFill>
        <p:spPr>
          <a:xfrm>
            <a:off x="6796100" y="4632037"/>
            <a:ext cx="3235901" cy="1052463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8"/>
          <p:cNvSpPr txBox="1"/>
          <p:nvPr/>
        </p:nvSpPr>
        <p:spPr>
          <a:xfrm>
            <a:off x="581025" y="10953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Self Consistency</a:t>
            </a:r>
            <a:endParaRPr/>
          </a:p>
        </p:txBody>
      </p:sp>
      <p:sp>
        <p:nvSpPr>
          <p:cNvPr id="446" name="Google Shape;446;p38"/>
          <p:cNvSpPr txBox="1"/>
          <p:nvPr/>
        </p:nvSpPr>
        <p:spPr>
          <a:xfrm>
            <a:off x="581025" y="19812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Running the same prompt multiple times and picking the most frequent answer.</a:t>
            </a:r>
            <a:endParaRPr sz="2200"/>
          </a:p>
        </p:txBody>
      </p:sp>
      <p:sp>
        <p:nvSpPr>
          <p:cNvPr id="447" name="Google Shape;447;p38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REASONING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57375"/>
            <a:ext cx="52768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57375"/>
            <a:ext cx="52768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352925"/>
            <a:ext cx="527685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9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ReAct (Reason + Act)</a:t>
            </a:r>
            <a:endParaRPr/>
          </a:p>
        </p:txBody>
      </p:sp>
      <p:sp>
        <p:nvSpPr>
          <p:cNvPr id="457" name="Google Shape;457;p39"/>
          <p:cNvSpPr txBox="1"/>
          <p:nvPr/>
        </p:nvSpPr>
        <p:spPr>
          <a:xfrm>
            <a:off x="581025" y="13716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loop used by Agents.</a:t>
            </a:r>
            <a:endParaRPr sz="2200"/>
          </a:p>
        </p:txBody>
      </p:sp>
      <p:sp>
        <p:nvSpPr>
          <p:cNvPr id="458" name="Google Shape;458;p39"/>
          <p:cNvSpPr txBox="1"/>
          <p:nvPr/>
        </p:nvSpPr>
        <p:spPr>
          <a:xfrm>
            <a:off x="876300" y="2366962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Thought</a:t>
            </a:r>
            <a:endParaRPr sz="2800"/>
          </a:p>
        </p:txBody>
      </p:sp>
      <p:sp>
        <p:nvSpPr>
          <p:cNvPr id="459" name="Google Shape;459;p39"/>
          <p:cNvSpPr txBox="1"/>
          <p:nvPr/>
        </p:nvSpPr>
        <p:spPr>
          <a:xfrm>
            <a:off x="876300" y="2881312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"I need to find the weather."</a:t>
            </a:r>
            <a:endParaRPr sz="2200"/>
          </a:p>
        </p:txBody>
      </p:sp>
      <p:sp>
        <p:nvSpPr>
          <p:cNvPr id="460" name="Google Shape;460;p39"/>
          <p:cNvSpPr txBox="1"/>
          <p:nvPr/>
        </p:nvSpPr>
        <p:spPr>
          <a:xfrm>
            <a:off x="6629400" y="2366962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Action</a:t>
            </a:r>
            <a:endParaRPr sz="2800"/>
          </a:p>
        </p:txBody>
      </p:sp>
      <p:sp>
        <p:nvSpPr>
          <p:cNvPr id="461" name="Google Shape;461;p39"/>
          <p:cNvSpPr txBox="1"/>
          <p:nvPr/>
        </p:nvSpPr>
        <p:spPr>
          <a:xfrm>
            <a:off x="6629400" y="2881312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Call `weather_api("London")`</a:t>
            </a:r>
            <a:endParaRPr sz="2200"/>
          </a:p>
        </p:txBody>
      </p:sp>
      <p:sp>
        <p:nvSpPr>
          <p:cNvPr id="462" name="Google Shape;462;p39"/>
          <p:cNvSpPr txBox="1"/>
          <p:nvPr/>
        </p:nvSpPr>
        <p:spPr>
          <a:xfrm>
            <a:off x="876300" y="4862512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Observation</a:t>
            </a:r>
            <a:endParaRPr sz="2800"/>
          </a:p>
        </p:txBody>
      </p:sp>
      <p:sp>
        <p:nvSpPr>
          <p:cNvPr id="463" name="Google Shape;463;p39"/>
          <p:cNvSpPr txBox="1"/>
          <p:nvPr/>
        </p:nvSpPr>
        <p:spPr>
          <a:xfrm>
            <a:off x="876300" y="5376862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"It is raining."</a:t>
            </a:r>
            <a:endParaRPr sz="2200"/>
          </a:p>
        </p:txBody>
      </p:sp>
      <p:sp>
        <p:nvSpPr>
          <p:cNvPr id="464" name="Google Shape;464;p39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REASONING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0" descr="image.png"/>
          <p:cNvPicPr preferRelativeResize="0"/>
          <p:nvPr/>
        </p:nvPicPr>
        <p:blipFill rotWithShape="1">
          <a:blip r:embed="rId4">
            <a:alphaModFix/>
          </a:blip>
          <a:srcRect l="1178" t="4025" r="3008" b="66026"/>
          <a:stretch/>
        </p:blipFill>
        <p:spPr>
          <a:xfrm>
            <a:off x="405800" y="3389400"/>
            <a:ext cx="11310351" cy="1428749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0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Prompt Coach</a:t>
            </a:r>
            <a:endParaRPr/>
          </a:p>
        </p:txBody>
      </p:sp>
      <p:sp>
        <p:nvSpPr>
          <p:cNvPr id="472" name="Google Shape;472;p40"/>
          <p:cNvSpPr txBox="1"/>
          <p:nvPr/>
        </p:nvSpPr>
        <p:spPr>
          <a:xfrm>
            <a:off x="581025" y="26670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this prompt to improve your own prompts.</a:t>
            </a:r>
            <a:endParaRPr sz="2200"/>
          </a:p>
        </p:txBody>
      </p:sp>
      <p:sp>
        <p:nvSpPr>
          <p:cNvPr id="473" name="Google Shape;473;p40"/>
          <p:cNvSpPr txBox="1"/>
          <p:nvPr/>
        </p:nvSpPr>
        <p:spPr>
          <a:xfrm>
            <a:off x="10620375" y="390525"/>
            <a:ext cx="9906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TOOLS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938450"/>
            <a:ext cx="5276850" cy="20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1"/>
          <p:cNvSpPr txBox="1"/>
          <p:nvPr/>
        </p:nvSpPr>
        <p:spPr>
          <a:xfrm>
            <a:off x="581025" y="13239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A/B Testing Prompts</a:t>
            </a:r>
            <a:endParaRPr/>
          </a:p>
        </p:txBody>
      </p:sp>
      <p:sp>
        <p:nvSpPr>
          <p:cNvPr id="481" name="Google Shape;481;p41"/>
          <p:cNvSpPr txBox="1"/>
          <p:nvPr/>
        </p:nvSpPr>
        <p:spPr>
          <a:xfrm>
            <a:off x="581025" y="2728912"/>
            <a:ext cx="5277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Never trust the first draft.</a:t>
            </a:r>
            <a:endParaRPr sz="2200"/>
          </a:p>
        </p:txBody>
      </p:sp>
      <p:sp>
        <p:nvSpPr>
          <p:cNvPr id="482" name="Google Shape;482;p41"/>
          <p:cNvSpPr txBox="1"/>
          <p:nvPr/>
        </p:nvSpPr>
        <p:spPr>
          <a:xfrm>
            <a:off x="581025" y="4757737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Run both on 50 examples and compare results.</a:t>
            </a:r>
            <a:endParaRPr sz="2200"/>
          </a:p>
        </p:txBody>
      </p:sp>
      <p:sp>
        <p:nvSpPr>
          <p:cNvPr id="483" name="Google Shape;483;p41"/>
          <p:cNvSpPr txBox="1"/>
          <p:nvPr/>
        </p:nvSpPr>
        <p:spPr>
          <a:xfrm>
            <a:off x="6629400" y="329565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Evaluation Metric</a:t>
            </a:r>
            <a:endParaRPr sz="2800"/>
          </a:p>
        </p:txBody>
      </p:sp>
      <p:sp>
        <p:nvSpPr>
          <p:cNvPr id="484" name="Google Shape;484;p41"/>
          <p:cNvSpPr txBox="1"/>
          <p:nvPr/>
        </p:nvSpPr>
        <p:spPr>
          <a:xfrm>
            <a:off x="6629400" y="3810000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Accuracy, Brevity, Format adherence.</a:t>
            </a:r>
            <a:endParaRPr sz="2200"/>
          </a:p>
        </p:txBody>
      </p:sp>
      <p:sp>
        <p:nvSpPr>
          <p:cNvPr id="485" name="Google Shape;485;p41"/>
          <p:cNvSpPr txBox="1"/>
          <p:nvPr/>
        </p:nvSpPr>
        <p:spPr>
          <a:xfrm>
            <a:off x="962025" y="3214687"/>
            <a:ext cx="489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A:</a:t>
            </a: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"Summarize this."</a:t>
            </a:r>
            <a:endParaRPr sz="2200"/>
          </a:p>
        </p:txBody>
      </p:sp>
      <p:sp>
        <p:nvSpPr>
          <p:cNvPr id="486" name="Google Shape;486;p41"/>
          <p:cNvSpPr txBox="1"/>
          <p:nvPr/>
        </p:nvSpPr>
        <p:spPr>
          <a:xfrm>
            <a:off x="962025" y="3700462"/>
            <a:ext cx="4896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B:</a:t>
            </a: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"Summarize this in 3 bullet points."</a:t>
            </a:r>
            <a:endParaRPr sz="2200"/>
          </a:p>
        </p:txBody>
      </p:sp>
      <p:sp>
        <p:nvSpPr>
          <p:cNvPr id="487" name="Google Shape;487;p41"/>
          <p:cNvSpPr txBox="1"/>
          <p:nvPr/>
        </p:nvSpPr>
        <p:spPr>
          <a:xfrm>
            <a:off x="10620375" y="390525"/>
            <a:ext cx="990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TOOLS</a:t>
            </a:r>
            <a:endParaRPr/>
          </a:p>
        </p:txBody>
      </p:sp>
      <p:pic>
        <p:nvPicPr>
          <p:cNvPr id="488" name="Google Shape;488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718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57612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2" descr="image.png"/>
          <p:cNvPicPr preferRelativeResize="0"/>
          <p:nvPr/>
        </p:nvPicPr>
        <p:blipFill rotWithShape="1">
          <a:blip r:embed="rId4">
            <a:alphaModFix/>
          </a:blip>
          <a:srcRect t="30607" r="61134" b="32166"/>
          <a:stretch/>
        </p:blipFill>
        <p:spPr>
          <a:xfrm>
            <a:off x="571131" y="1472878"/>
            <a:ext cx="3549700" cy="2303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2" descr="image.png"/>
          <p:cNvPicPr preferRelativeResize="0"/>
          <p:nvPr/>
        </p:nvPicPr>
        <p:blipFill rotWithShape="1">
          <a:blip r:embed="rId5">
            <a:alphaModFix/>
          </a:blip>
          <a:srcRect t="27720" r="55164" b="30720"/>
          <a:stretch/>
        </p:blipFill>
        <p:spPr>
          <a:xfrm>
            <a:off x="4272325" y="1472875"/>
            <a:ext cx="3549700" cy="230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2" descr="image.png"/>
          <p:cNvPicPr preferRelativeResize="0"/>
          <p:nvPr/>
        </p:nvPicPr>
        <p:blipFill rotWithShape="1">
          <a:blip r:embed="rId6">
            <a:alphaModFix/>
          </a:blip>
          <a:srcRect t="29640" r="60981" b="32985"/>
          <a:stretch/>
        </p:blipFill>
        <p:spPr>
          <a:xfrm>
            <a:off x="7980232" y="1493675"/>
            <a:ext cx="3668250" cy="230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2" descr="image.png"/>
          <p:cNvPicPr preferRelativeResize="0"/>
          <p:nvPr/>
        </p:nvPicPr>
        <p:blipFill rotWithShape="1">
          <a:blip r:embed="rId7">
            <a:alphaModFix/>
          </a:blip>
          <a:srcRect t="28048" r="59492" b="31353"/>
          <a:stretch/>
        </p:blipFill>
        <p:spPr>
          <a:xfrm>
            <a:off x="528000" y="3947700"/>
            <a:ext cx="3549550" cy="241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42" descr="image.png"/>
          <p:cNvPicPr preferRelativeResize="0"/>
          <p:nvPr/>
        </p:nvPicPr>
        <p:blipFill rotWithShape="1">
          <a:blip r:embed="rId8">
            <a:alphaModFix/>
          </a:blip>
          <a:srcRect t="31501" r="66037" b="30235"/>
          <a:stretch/>
        </p:blipFill>
        <p:spPr>
          <a:xfrm>
            <a:off x="4272325" y="3956100"/>
            <a:ext cx="3549700" cy="242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2" descr="image.png"/>
          <p:cNvPicPr preferRelativeResize="0"/>
          <p:nvPr/>
        </p:nvPicPr>
        <p:blipFill rotWithShape="1">
          <a:blip r:embed="rId9">
            <a:alphaModFix/>
          </a:blip>
          <a:srcRect t="26802" r="46785" b="23872"/>
          <a:stretch/>
        </p:blipFill>
        <p:spPr>
          <a:xfrm>
            <a:off x="7985455" y="4039975"/>
            <a:ext cx="3668250" cy="23037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2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Six-Part Framework</a:t>
            </a:r>
            <a:endParaRPr/>
          </a:p>
        </p:txBody>
      </p:sp>
      <p:sp>
        <p:nvSpPr>
          <p:cNvPr id="502" name="Google Shape;502;p42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3" descr="image.png"/>
          <p:cNvPicPr preferRelativeResize="0"/>
          <p:nvPr/>
        </p:nvPicPr>
        <p:blipFill rotWithShape="1">
          <a:blip r:embed="rId4">
            <a:alphaModFix/>
          </a:blip>
          <a:srcRect r="27635" b="73857"/>
          <a:stretch/>
        </p:blipFill>
        <p:spPr>
          <a:xfrm>
            <a:off x="581025" y="3228975"/>
            <a:ext cx="10628143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3"/>
          <p:cNvSpPr txBox="1"/>
          <p:nvPr/>
        </p:nvSpPr>
        <p:spPr>
          <a:xfrm>
            <a:off x="581025" y="18573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1. RolePlay</a:t>
            </a:r>
            <a:endParaRPr/>
          </a:p>
        </p:txBody>
      </p:sp>
      <p:sp>
        <p:nvSpPr>
          <p:cNvPr id="510" name="Google Shape;510;p43"/>
          <p:cNvSpPr txBox="1"/>
          <p:nvPr/>
        </p:nvSpPr>
        <p:spPr>
          <a:xfrm>
            <a:off x="581025" y="27432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WHO.</a:t>
            </a:r>
            <a:endParaRPr sz="2200"/>
          </a:p>
        </p:txBody>
      </p:sp>
      <p:sp>
        <p:nvSpPr>
          <p:cNvPr id="511" name="Google Shape;511;p43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4" descr="image.png"/>
          <p:cNvPicPr preferRelativeResize="0"/>
          <p:nvPr/>
        </p:nvPicPr>
        <p:blipFill rotWithShape="1">
          <a:blip r:embed="rId4">
            <a:alphaModFix/>
          </a:blip>
          <a:srcRect l="4033" r="13471" b="71282"/>
          <a:stretch/>
        </p:blipFill>
        <p:spPr>
          <a:xfrm>
            <a:off x="580193" y="3305175"/>
            <a:ext cx="11030101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4"/>
          <p:cNvSpPr txBox="1"/>
          <p:nvPr/>
        </p:nvSpPr>
        <p:spPr>
          <a:xfrm>
            <a:off x="581025" y="19335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2. Command</a:t>
            </a:r>
            <a:endParaRPr/>
          </a:p>
        </p:txBody>
      </p:sp>
      <p:sp>
        <p:nvSpPr>
          <p:cNvPr id="519" name="Google Shape;519;p44"/>
          <p:cNvSpPr txBox="1"/>
          <p:nvPr/>
        </p:nvSpPr>
        <p:spPr>
          <a:xfrm>
            <a:off x="581025" y="2819400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WHAT.</a:t>
            </a:r>
            <a:endParaRPr/>
          </a:p>
        </p:txBody>
      </p:sp>
      <p:sp>
        <p:nvSpPr>
          <p:cNvPr id="520" name="Google Shape;520;p44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5" descr="image.png"/>
          <p:cNvPicPr preferRelativeResize="0"/>
          <p:nvPr/>
        </p:nvPicPr>
        <p:blipFill rotWithShape="1">
          <a:blip r:embed="rId4">
            <a:alphaModFix/>
          </a:blip>
          <a:srcRect l="3867" r="18153" b="71283"/>
          <a:stretch/>
        </p:blipFill>
        <p:spPr>
          <a:xfrm>
            <a:off x="573447" y="3202975"/>
            <a:ext cx="10796175" cy="162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5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3. Strategy</a:t>
            </a:r>
            <a:endParaRPr/>
          </a:p>
        </p:txBody>
      </p:sp>
      <p:sp>
        <p:nvSpPr>
          <p:cNvPr id="528" name="Google Shape;528;p45"/>
          <p:cNvSpPr txBox="1"/>
          <p:nvPr/>
        </p:nvSpPr>
        <p:spPr>
          <a:xfrm>
            <a:off x="581025" y="26670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HOW.</a:t>
            </a:r>
            <a:endParaRPr sz="2200"/>
          </a:p>
        </p:txBody>
      </p:sp>
      <p:sp>
        <p:nvSpPr>
          <p:cNvPr id="529" name="Google Shape;529;p45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6" descr="image.png"/>
          <p:cNvPicPr preferRelativeResize="0"/>
          <p:nvPr/>
        </p:nvPicPr>
        <p:blipFill rotWithShape="1">
          <a:blip r:embed="rId4">
            <a:alphaModFix/>
          </a:blip>
          <a:srcRect r="3400" b="68193"/>
          <a:stretch/>
        </p:blipFill>
        <p:spPr>
          <a:xfrm>
            <a:off x="276225" y="3152775"/>
            <a:ext cx="11661396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6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4. Context</a:t>
            </a:r>
            <a:endParaRPr/>
          </a:p>
        </p:txBody>
      </p:sp>
      <p:sp>
        <p:nvSpPr>
          <p:cNvPr id="537" name="Google Shape;537;p46"/>
          <p:cNvSpPr txBox="1"/>
          <p:nvPr/>
        </p:nvSpPr>
        <p:spPr>
          <a:xfrm>
            <a:off x="581025" y="26670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SITUATION.</a:t>
            </a:r>
            <a:endParaRPr sz="2200"/>
          </a:p>
        </p:txBody>
      </p:sp>
      <p:sp>
        <p:nvSpPr>
          <p:cNvPr id="538" name="Google Shape;538;p46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47" descr="image.png"/>
          <p:cNvPicPr preferRelativeResize="0"/>
          <p:nvPr/>
        </p:nvPicPr>
        <p:blipFill rotWithShape="1">
          <a:blip r:embed="rId4">
            <a:alphaModFix/>
          </a:blip>
          <a:srcRect l="4495" r="23004" b="73342"/>
          <a:stretch/>
        </p:blipFill>
        <p:spPr>
          <a:xfrm>
            <a:off x="543725" y="3076575"/>
            <a:ext cx="11029950" cy="1659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7"/>
          <p:cNvSpPr txBox="1"/>
          <p:nvPr/>
        </p:nvSpPr>
        <p:spPr>
          <a:xfrm>
            <a:off x="581025" y="17049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5. Output Format</a:t>
            </a:r>
            <a:endParaRPr/>
          </a:p>
        </p:txBody>
      </p:sp>
      <p:sp>
        <p:nvSpPr>
          <p:cNvPr id="546" name="Google Shape;546;p47"/>
          <p:cNvSpPr txBox="1"/>
          <p:nvPr/>
        </p:nvSpPr>
        <p:spPr>
          <a:xfrm>
            <a:off x="581025" y="25908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LOOK.</a:t>
            </a:r>
            <a:endParaRPr sz="2200"/>
          </a:p>
        </p:txBody>
      </p:sp>
      <p:sp>
        <p:nvSpPr>
          <p:cNvPr id="547" name="Google Shape;547;p47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8" descr="image.png"/>
          <p:cNvPicPr preferRelativeResize="0"/>
          <p:nvPr/>
        </p:nvPicPr>
        <p:blipFill rotWithShape="1">
          <a:blip r:embed="rId4">
            <a:alphaModFix/>
          </a:blip>
          <a:srcRect l="4076" r="31428" b="74372"/>
          <a:stretch/>
        </p:blipFill>
        <p:spPr>
          <a:xfrm>
            <a:off x="573425" y="3076575"/>
            <a:ext cx="10829824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8"/>
          <p:cNvSpPr txBox="1"/>
          <p:nvPr/>
        </p:nvSpPr>
        <p:spPr>
          <a:xfrm>
            <a:off x="581025" y="17049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6. Game Changer</a:t>
            </a:r>
            <a:endParaRPr/>
          </a:p>
        </p:txBody>
      </p:sp>
      <p:sp>
        <p:nvSpPr>
          <p:cNvPr id="555" name="Google Shape;555;p48"/>
          <p:cNvSpPr txBox="1"/>
          <p:nvPr/>
        </p:nvSpPr>
        <p:spPr>
          <a:xfrm>
            <a:off x="581025" y="25908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CONSTRAINTS.</a:t>
            </a:r>
            <a:endParaRPr sz="2200"/>
          </a:p>
        </p:txBody>
      </p:sp>
      <p:sp>
        <p:nvSpPr>
          <p:cNvPr id="556" name="Google Shape;556;p48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9" descr="image.png"/>
          <p:cNvPicPr preferRelativeResize="0"/>
          <p:nvPr/>
        </p:nvPicPr>
        <p:blipFill rotWithShape="1">
          <a:blip r:embed="rId4">
            <a:alphaModFix/>
          </a:blip>
          <a:srcRect r="5775" b="72726"/>
          <a:stretch/>
        </p:blipFill>
        <p:spPr>
          <a:xfrm>
            <a:off x="5520475" y="2686050"/>
            <a:ext cx="6459725" cy="1771976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9"/>
          <p:cNvSpPr txBox="1"/>
          <p:nvPr/>
        </p:nvSpPr>
        <p:spPr>
          <a:xfrm>
            <a:off x="581025" y="14763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What is JSON?</a:t>
            </a:r>
            <a:endParaRPr/>
          </a:p>
        </p:txBody>
      </p:sp>
      <p:sp>
        <p:nvSpPr>
          <p:cNvPr id="564" name="Google Shape;564;p49"/>
          <p:cNvSpPr txBox="1"/>
          <p:nvPr/>
        </p:nvSpPr>
        <p:spPr>
          <a:xfrm>
            <a:off x="581025" y="2609850"/>
            <a:ext cx="52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JavaScript Object Notation</a:t>
            </a:r>
            <a:endParaRPr sz="2800"/>
          </a:p>
        </p:txBody>
      </p:sp>
      <p:sp>
        <p:nvSpPr>
          <p:cNvPr id="565" name="Google Shape;565;p49"/>
          <p:cNvSpPr txBox="1"/>
          <p:nvPr/>
        </p:nvSpPr>
        <p:spPr>
          <a:xfrm>
            <a:off x="581025" y="3171825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universal language of data interchange.</a:t>
            </a:r>
            <a:endParaRPr sz="2200"/>
          </a:p>
        </p:txBody>
      </p:sp>
      <p:sp>
        <p:nvSpPr>
          <p:cNvPr id="566" name="Google Shape;566;p49"/>
          <p:cNvSpPr txBox="1"/>
          <p:nvPr/>
        </p:nvSpPr>
        <p:spPr>
          <a:xfrm>
            <a:off x="581025" y="4191000"/>
            <a:ext cx="5277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is how machines talk to machines.</a:t>
            </a:r>
            <a:endParaRPr sz="2200"/>
          </a:p>
        </p:txBody>
      </p:sp>
      <p:sp>
        <p:nvSpPr>
          <p:cNvPr id="567" name="Google Shape;567;p49"/>
          <p:cNvSpPr txBox="1"/>
          <p:nvPr/>
        </p:nvSpPr>
        <p:spPr>
          <a:xfrm>
            <a:off x="9753600" y="390525"/>
            <a:ext cx="1857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DATA FORMATS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0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Why use JSON?</a:t>
            </a:r>
            <a:endParaRPr/>
          </a:p>
        </p:txBody>
      </p:sp>
      <p:sp>
        <p:nvSpPr>
          <p:cNvPr id="576" name="Google Shape;576;p50"/>
          <p:cNvSpPr txBox="1"/>
          <p:nvPr/>
        </p:nvSpPr>
        <p:spPr>
          <a:xfrm>
            <a:off x="876300" y="274320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Parsability</a:t>
            </a:r>
            <a:endParaRPr sz="2800"/>
          </a:p>
        </p:txBody>
      </p:sp>
      <p:sp>
        <p:nvSpPr>
          <p:cNvPr id="577" name="Google Shape;577;p50"/>
          <p:cNvSpPr txBox="1"/>
          <p:nvPr/>
        </p:nvSpPr>
        <p:spPr>
          <a:xfrm>
            <a:off x="876300" y="3505523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Code can easily read specific fields (e.g., `data.status`).</a:t>
            </a:r>
            <a:endParaRPr sz="2200"/>
          </a:p>
        </p:txBody>
      </p:sp>
      <p:sp>
        <p:nvSpPr>
          <p:cNvPr id="578" name="Google Shape;578;p50"/>
          <p:cNvSpPr txBox="1"/>
          <p:nvPr/>
        </p:nvSpPr>
        <p:spPr>
          <a:xfrm>
            <a:off x="6629400" y="291465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Consistency</a:t>
            </a:r>
            <a:endParaRPr sz="2800"/>
          </a:p>
        </p:txBody>
      </p:sp>
      <p:sp>
        <p:nvSpPr>
          <p:cNvPr id="579" name="Google Shape;579;p50"/>
          <p:cNvSpPr txBox="1"/>
          <p:nvPr/>
        </p:nvSpPr>
        <p:spPr>
          <a:xfrm>
            <a:off x="6629400" y="3676973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Enforces a strict schema, unlike free text.</a:t>
            </a:r>
            <a:endParaRPr sz="2200"/>
          </a:p>
        </p:txBody>
      </p:sp>
      <p:sp>
        <p:nvSpPr>
          <p:cNvPr id="580" name="Google Shape;580;p50"/>
          <p:cNvSpPr txBox="1"/>
          <p:nvPr/>
        </p:nvSpPr>
        <p:spPr>
          <a:xfrm>
            <a:off x="9753600" y="390525"/>
            <a:ext cx="1857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DATA FORMATS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71600"/>
            <a:ext cx="110299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381125"/>
            <a:ext cx="1101090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51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Structured Output Example</a:t>
            </a:r>
            <a:endParaRPr/>
          </a:p>
        </p:txBody>
      </p:sp>
      <p:sp>
        <p:nvSpPr>
          <p:cNvPr id="589" name="Google Shape;589;p51"/>
          <p:cNvSpPr txBox="1"/>
          <p:nvPr/>
        </p:nvSpPr>
        <p:spPr>
          <a:xfrm>
            <a:off x="9753600" y="390525"/>
            <a:ext cx="1857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DATA FORMATS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52"/>
          <p:cNvSpPr txBox="1"/>
          <p:nvPr/>
        </p:nvSpPr>
        <p:spPr>
          <a:xfrm>
            <a:off x="581025" y="2705992"/>
            <a:ext cx="11581447" cy="71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Context Engineering</a:t>
            </a:r>
            <a:endParaRPr/>
          </a:p>
        </p:txBody>
      </p:sp>
      <p:sp>
        <p:nvSpPr>
          <p:cNvPr id="597" name="Google Shape;597;p52"/>
          <p:cNvSpPr txBox="1"/>
          <p:nvPr/>
        </p:nvSpPr>
        <p:spPr>
          <a:xfrm>
            <a:off x="581025" y="3608933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Art of RAG</a:t>
            </a:r>
            <a:endParaRPr sz="2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3"/>
          <p:cNvSpPr txBox="1"/>
          <p:nvPr/>
        </p:nvSpPr>
        <p:spPr>
          <a:xfrm>
            <a:off x="581025" y="10953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RAG Architecture</a:t>
            </a:r>
            <a:endParaRPr/>
          </a:p>
        </p:txBody>
      </p:sp>
      <p:sp>
        <p:nvSpPr>
          <p:cNvPr id="604" name="Google Shape;604;p53"/>
          <p:cNvSpPr txBox="1"/>
          <p:nvPr/>
        </p:nvSpPr>
        <p:spPr>
          <a:xfrm>
            <a:off x="581025" y="1934705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Retrieval Augmented Generation.</a:t>
            </a:r>
            <a:endParaRPr sz="2200"/>
          </a:p>
        </p:txBody>
      </p:sp>
      <p:sp>
        <p:nvSpPr>
          <p:cNvPr id="605" name="Google Shape;605;p53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RAG</a:t>
            </a:r>
            <a:endParaRPr/>
          </a:p>
        </p:txBody>
      </p:sp>
      <p:pic>
        <p:nvPicPr>
          <p:cNvPr id="606" name="Google Shape;606;p53" title="simple-ra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250" y="2744425"/>
            <a:ext cx="11760174" cy="295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905125"/>
            <a:ext cx="52768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4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Embeddings &amp; Vectors</a:t>
            </a:r>
            <a:endParaRPr/>
          </a:p>
        </p:txBody>
      </p:sp>
      <p:sp>
        <p:nvSpPr>
          <p:cNvPr id="614" name="Google Shape;614;p54"/>
          <p:cNvSpPr txBox="1"/>
          <p:nvPr/>
        </p:nvSpPr>
        <p:spPr>
          <a:xfrm>
            <a:off x="581025" y="2770733"/>
            <a:ext cx="5277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Converting text into numbers.</a:t>
            </a:r>
            <a:endParaRPr sz="2200"/>
          </a:p>
        </p:txBody>
      </p:sp>
      <p:sp>
        <p:nvSpPr>
          <p:cNvPr id="615" name="Google Shape;615;p54"/>
          <p:cNvSpPr txBox="1"/>
          <p:nvPr/>
        </p:nvSpPr>
        <p:spPr>
          <a:xfrm>
            <a:off x="657225" y="3351758"/>
            <a:ext cx="512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"Dog" -&gt; [0.1, 0.5, 0.9]</a:t>
            </a:r>
            <a:endParaRPr sz="2000"/>
          </a:p>
        </p:txBody>
      </p:sp>
      <p:sp>
        <p:nvSpPr>
          <p:cNvPr id="616" name="Google Shape;616;p54"/>
          <p:cNvSpPr txBox="1"/>
          <p:nvPr/>
        </p:nvSpPr>
        <p:spPr>
          <a:xfrm>
            <a:off x="657225" y="3890962"/>
            <a:ext cx="512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"Puppy" -&gt; [0.1, 0.5, 0.8]</a:t>
            </a:r>
            <a:endParaRPr sz="2000"/>
          </a:p>
        </p:txBody>
      </p:sp>
      <p:sp>
        <p:nvSpPr>
          <p:cNvPr id="617" name="Google Shape;617;p54"/>
          <p:cNvSpPr txBox="1"/>
          <p:nvPr/>
        </p:nvSpPr>
        <p:spPr>
          <a:xfrm>
            <a:off x="581025" y="4411116"/>
            <a:ext cx="5277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Similar concepts have similar numbers.</a:t>
            </a:r>
            <a:endParaRPr sz="2200"/>
          </a:p>
        </p:txBody>
      </p:sp>
      <p:sp>
        <p:nvSpPr>
          <p:cNvPr id="618" name="Google Shape;618;p54"/>
          <p:cNvSpPr txBox="1"/>
          <p:nvPr/>
        </p:nvSpPr>
        <p:spPr>
          <a:xfrm>
            <a:off x="6629400" y="320040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Search</a:t>
            </a:r>
            <a:endParaRPr sz="2800"/>
          </a:p>
        </p:txBody>
      </p:sp>
      <p:sp>
        <p:nvSpPr>
          <p:cNvPr id="619" name="Google Shape;619;p54"/>
          <p:cNvSpPr txBox="1"/>
          <p:nvPr/>
        </p:nvSpPr>
        <p:spPr>
          <a:xfrm>
            <a:off x="6629400" y="3714750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use cosine similarity to find the most relevant document chunk.</a:t>
            </a:r>
            <a:endParaRPr sz="2200"/>
          </a:p>
        </p:txBody>
      </p:sp>
      <p:sp>
        <p:nvSpPr>
          <p:cNvPr id="620" name="Google Shape;620;p54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RAG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5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5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55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Cost of Inaction</a:t>
            </a:r>
            <a:endParaRPr/>
          </a:p>
        </p:txBody>
      </p:sp>
      <p:sp>
        <p:nvSpPr>
          <p:cNvPr id="629" name="Google Shape;629;p55"/>
          <p:cNvSpPr txBox="1"/>
          <p:nvPr/>
        </p:nvSpPr>
        <p:spPr>
          <a:xfrm>
            <a:off x="876300" y="297180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Traditional</a:t>
            </a:r>
            <a:endParaRPr sz="2800"/>
          </a:p>
        </p:txBody>
      </p:sp>
      <p:sp>
        <p:nvSpPr>
          <p:cNvPr id="630" name="Google Shape;630;p55"/>
          <p:cNvSpPr txBox="1"/>
          <p:nvPr/>
        </p:nvSpPr>
        <p:spPr>
          <a:xfrm>
            <a:off x="876300" y="3638550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Linear growth. Human bottlenecks. High error rate.</a:t>
            </a:r>
            <a:endParaRPr sz="2200"/>
          </a:p>
        </p:txBody>
      </p:sp>
      <p:sp>
        <p:nvSpPr>
          <p:cNvPr id="631" name="Google Shape;631;p55"/>
          <p:cNvSpPr txBox="1"/>
          <p:nvPr/>
        </p:nvSpPr>
        <p:spPr>
          <a:xfrm>
            <a:off x="6629400" y="297180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Agentic</a:t>
            </a:r>
            <a:endParaRPr sz="2800"/>
          </a:p>
        </p:txBody>
      </p:sp>
      <p:sp>
        <p:nvSpPr>
          <p:cNvPr id="632" name="Google Shape;632;p55"/>
          <p:cNvSpPr txBox="1"/>
          <p:nvPr/>
        </p:nvSpPr>
        <p:spPr>
          <a:xfrm>
            <a:off x="6629400" y="3638550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Exponential scale. 24/7 operation. Zero context switching.</a:t>
            </a:r>
            <a:endParaRPr sz="2200"/>
          </a:p>
        </p:txBody>
      </p:sp>
      <p:sp>
        <p:nvSpPr>
          <p:cNvPr id="633" name="Google Shape;633;p55"/>
          <p:cNvSpPr txBox="1"/>
          <p:nvPr/>
        </p:nvSpPr>
        <p:spPr>
          <a:xfrm>
            <a:off x="10248900" y="390525"/>
            <a:ext cx="13620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STRATEGY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5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96225" y="3514725"/>
            <a:ext cx="3810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5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6"/>
          <p:cNvSpPr txBox="1"/>
          <p:nvPr/>
        </p:nvSpPr>
        <p:spPr>
          <a:xfrm>
            <a:off x="581025" y="2705992"/>
            <a:ext cx="11581447" cy="71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Lab Activity</a:t>
            </a:r>
            <a:endParaRPr/>
          </a:p>
        </p:txBody>
      </p:sp>
      <p:sp>
        <p:nvSpPr>
          <p:cNvPr id="642" name="Google Shape;642;p56"/>
          <p:cNvSpPr txBox="1"/>
          <p:nvPr/>
        </p:nvSpPr>
        <p:spPr>
          <a:xfrm>
            <a:off x="581025" y="3608933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the CyberSec Agent</a:t>
            </a:r>
            <a:endParaRPr sz="2200"/>
          </a:p>
        </p:txBody>
      </p:sp>
      <p:pic>
        <p:nvPicPr>
          <p:cNvPr id="643" name="Google Shape;643;p56" title="cyber-defense-with-modern-security-operations-center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3475" y="1357294"/>
            <a:ext cx="6932749" cy="4143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5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7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Lab Objectives</a:t>
            </a:r>
            <a:endParaRPr/>
          </a:p>
        </p:txBody>
      </p:sp>
      <p:sp>
        <p:nvSpPr>
          <p:cNvPr id="650" name="Google Shape;650;p57"/>
          <p:cNvSpPr txBox="1"/>
          <p:nvPr/>
        </p:nvSpPr>
        <p:spPr>
          <a:xfrm>
            <a:off x="962025" y="2667000"/>
            <a:ext cx="1064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Create a "CyberSec Guardian" Custom GPT.</a:t>
            </a:r>
            <a:endParaRPr sz="2200"/>
          </a:p>
        </p:txBody>
      </p:sp>
      <p:sp>
        <p:nvSpPr>
          <p:cNvPr id="651" name="Google Shape;651;p57"/>
          <p:cNvSpPr txBox="1"/>
          <p:nvPr/>
        </p:nvSpPr>
        <p:spPr>
          <a:xfrm>
            <a:off x="962025" y="3152775"/>
            <a:ext cx="1064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Upload the `Security_Protocols.pdf`.</a:t>
            </a:r>
            <a:endParaRPr sz="2200"/>
          </a:p>
        </p:txBody>
      </p:sp>
      <p:sp>
        <p:nvSpPr>
          <p:cNvPr id="652" name="Google Shape;652;p57"/>
          <p:cNvSpPr txBox="1"/>
          <p:nvPr/>
        </p:nvSpPr>
        <p:spPr>
          <a:xfrm>
            <a:off x="962025" y="3638550"/>
            <a:ext cx="1064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Implement the 6-Part Framework Prompt.</a:t>
            </a:r>
            <a:endParaRPr sz="2200"/>
          </a:p>
        </p:txBody>
      </p:sp>
      <p:sp>
        <p:nvSpPr>
          <p:cNvPr id="653" name="Google Shape;653;p57"/>
          <p:cNvSpPr txBox="1"/>
          <p:nvPr/>
        </p:nvSpPr>
        <p:spPr>
          <a:xfrm>
            <a:off x="962025" y="4124325"/>
            <a:ext cx="1064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 Test with a phishing scenario.</a:t>
            </a:r>
            <a:endParaRPr sz="2200"/>
          </a:p>
        </p:txBody>
      </p:sp>
      <p:sp>
        <p:nvSpPr>
          <p:cNvPr id="654" name="Google Shape;654;p57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LAB</a:t>
            </a:r>
            <a:endParaRPr/>
          </a:p>
        </p:txBody>
      </p:sp>
      <p:pic>
        <p:nvPicPr>
          <p:cNvPr id="655" name="Google Shape;655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2415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099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957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81475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5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5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28975"/>
            <a:ext cx="110299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58"/>
          <p:cNvSpPr txBox="1"/>
          <p:nvPr/>
        </p:nvSpPr>
        <p:spPr>
          <a:xfrm>
            <a:off x="581025" y="18573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Step 1: Upload (Context)</a:t>
            </a:r>
            <a:endParaRPr/>
          </a:p>
        </p:txBody>
      </p:sp>
      <p:sp>
        <p:nvSpPr>
          <p:cNvPr id="666" name="Google Shape;666;p58"/>
          <p:cNvSpPr txBox="1"/>
          <p:nvPr/>
        </p:nvSpPr>
        <p:spPr>
          <a:xfrm>
            <a:off x="581025" y="27432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 to GPT Builder -&gt; Configure -&gt; Knowledge.</a:t>
            </a:r>
            <a:endParaRPr sz="2200"/>
          </a:p>
        </p:txBody>
      </p:sp>
      <p:sp>
        <p:nvSpPr>
          <p:cNvPr id="667" name="Google Shape;667;p58"/>
          <p:cNvSpPr txBox="1"/>
          <p:nvPr/>
        </p:nvSpPr>
        <p:spPr>
          <a:xfrm>
            <a:off x="876300" y="3524250"/>
            <a:ext cx="10439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Upload:</a:t>
            </a: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`Security_Protocols.txt`</a:t>
            </a:r>
            <a:endParaRPr sz="2200"/>
          </a:p>
        </p:txBody>
      </p:sp>
      <p:sp>
        <p:nvSpPr>
          <p:cNvPr id="668" name="Google Shape;668;p58"/>
          <p:cNvSpPr txBox="1"/>
          <p:nvPr/>
        </p:nvSpPr>
        <p:spPr>
          <a:xfrm>
            <a:off x="876300" y="4010025"/>
            <a:ext cx="10439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gives the agent the "Truth".</a:t>
            </a:r>
            <a:endParaRPr sz="2200"/>
          </a:p>
        </p:txBody>
      </p:sp>
      <p:sp>
        <p:nvSpPr>
          <p:cNvPr id="669" name="Google Shape;669;p58"/>
          <p:cNvSpPr txBox="1"/>
          <p:nvPr/>
        </p:nvSpPr>
        <p:spPr>
          <a:xfrm>
            <a:off x="10868025" y="466725"/>
            <a:ext cx="743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LAB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59" descr="image.png"/>
          <p:cNvPicPr preferRelativeResize="0"/>
          <p:nvPr/>
        </p:nvPicPr>
        <p:blipFill rotWithShape="1">
          <a:blip r:embed="rId4">
            <a:alphaModFix/>
          </a:blip>
          <a:srcRect r="6733" b="68077"/>
          <a:stretch/>
        </p:blipFill>
        <p:spPr>
          <a:xfrm>
            <a:off x="352425" y="2743200"/>
            <a:ext cx="11581449" cy="1797196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9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Step 2: Specification (Prompt)</a:t>
            </a:r>
            <a:endParaRPr/>
          </a:p>
        </p:txBody>
      </p:sp>
      <p:sp>
        <p:nvSpPr>
          <p:cNvPr id="677" name="Google Shape;677;p59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LAB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6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60" descr="image.png"/>
          <p:cNvPicPr preferRelativeResize="0"/>
          <p:nvPr/>
        </p:nvPicPr>
        <p:blipFill rotWithShape="1">
          <a:blip r:embed="rId4">
            <a:alphaModFix/>
          </a:blip>
          <a:srcRect l="3021" t="3546" r="24681" b="71282"/>
          <a:stretch/>
        </p:blipFill>
        <p:spPr>
          <a:xfrm>
            <a:off x="533400" y="3143250"/>
            <a:ext cx="10167301" cy="1293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0"/>
          <p:cNvSpPr txBox="1"/>
          <p:nvPr/>
        </p:nvSpPr>
        <p:spPr>
          <a:xfrm>
            <a:off x="581025" y="1628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Step 3: Test</a:t>
            </a:r>
            <a:endParaRPr/>
          </a:p>
        </p:txBody>
      </p:sp>
      <p:sp>
        <p:nvSpPr>
          <p:cNvPr id="685" name="Google Shape;685;p60"/>
          <p:cNvSpPr txBox="1"/>
          <p:nvPr/>
        </p:nvSpPr>
        <p:spPr>
          <a:xfrm>
            <a:off x="581025" y="25146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 a fake phishing email.</a:t>
            </a:r>
            <a:endParaRPr sz="2200"/>
          </a:p>
        </p:txBody>
      </p:sp>
      <p:sp>
        <p:nvSpPr>
          <p:cNvPr id="686" name="Google Shape;686;p60"/>
          <p:cNvSpPr txBox="1"/>
          <p:nvPr/>
        </p:nvSpPr>
        <p:spPr>
          <a:xfrm>
            <a:off x="581025" y="466725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Check if the Agent flags the domain and .exe file.</a:t>
            </a:r>
            <a:endParaRPr sz="2200"/>
          </a:p>
        </p:txBody>
      </p:sp>
      <p:sp>
        <p:nvSpPr>
          <p:cNvPr id="687" name="Google Shape;687;p60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LAB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p6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61"/>
          <p:cNvSpPr txBox="1"/>
          <p:nvPr/>
        </p:nvSpPr>
        <p:spPr>
          <a:xfrm>
            <a:off x="581025" y="2162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Troubleshooting</a:t>
            </a:r>
            <a:endParaRPr/>
          </a:p>
        </p:txBody>
      </p:sp>
      <p:sp>
        <p:nvSpPr>
          <p:cNvPr id="694" name="Google Shape;694;p61"/>
          <p:cNvSpPr txBox="1"/>
          <p:nvPr/>
        </p:nvSpPr>
        <p:spPr>
          <a:xfrm>
            <a:off x="581025" y="3048000"/>
            <a:ext cx="554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Hallucinations?</a:t>
            </a:r>
            <a:endParaRPr sz="2800"/>
          </a:p>
        </p:txBody>
      </p:sp>
      <p:sp>
        <p:nvSpPr>
          <p:cNvPr id="695" name="Google Shape;695;p61"/>
          <p:cNvSpPr txBox="1"/>
          <p:nvPr/>
        </p:nvSpPr>
        <p:spPr>
          <a:xfrm>
            <a:off x="581025" y="3714750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Add: "Strictly adhere to the PDF. Do not use outside knowledge."</a:t>
            </a:r>
            <a:endParaRPr sz="2200"/>
          </a:p>
        </p:txBody>
      </p:sp>
      <p:sp>
        <p:nvSpPr>
          <p:cNvPr id="696" name="Google Shape;696;p61"/>
          <p:cNvSpPr txBox="1"/>
          <p:nvPr/>
        </p:nvSpPr>
        <p:spPr>
          <a:xfrm>
            <a:off x="6334125" y="3219450"/>
            <a:ext cx="554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Bad Format?</a:t>
            </a:r>
            <a:endParaRPr sz="2800"/>
          </a:p>
        </p:txBody>
      </p:sp>
      <p:sp>
        <p:nvSpPr>
          <p:cNvPr id="697" name="Google Shape;697;p61"/>
          <p:cNvSpPr txBox="1"/>
          <p:nvPr/>
        </p:nvSpPr>
        <p:spPr>
          <a:xfrm>
            <a:off x="6334125" y="3886200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Add: "Ensure the JSON is valid and parsable."</a:t>
            </a:r>
            <a:endParaRPr sz="2200"/>
          </a:p>
        </p:txBody>
      </p:sp>
      <p:sp>
        <p:nvSpPr>
          <p:cNvPr id="698" name="Google Shape;698;p61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LAB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Google Shape;703;p6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6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76525"/>
            <a:ext cx="1102995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62"/>
          <p:cNvSpPr txBox="1"/>
          <p:nvPr/>
        </p:nvSpPr>
        <p:spPr>
          <a:xfrm>
            <a:off x="581025" y="17049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/>
          </a:p>
        </p:txBody>
      </p:sp>
      <p:sp>
        <p:nvSpPr>
          <p:cNvPr id="706" name="Google Shape;706;p62"/>
          <p:cNvSpPr txBox="1"/>
          <p:nvPr/>
        </p:nvSpPr>
        <p:spPr>
          <a:xfrm>
            <a:off x="876300" y="2971800"/>
            <a:ext cx="10439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Prompting</a:t>
            </a:r>
            <a:r>
              <a:rPr lang="en-US" sz="2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directs the thought.</a:t>
            </a:r>
            <a:endParaRPr sz="2800"/>
          </a:p>
        </p:txBody>
      </p:sp>
      <p:sp>
        <p:nvSpPr>
          <p:cNvPr id="707" name="Google Shape;707;p62"/>
          <p:cNvSpPr txBox="1"/>
          <p:nvPr/>
        </p:nvSpPr>
        <p:spPr>
          <a:xfrm>
            <a:off x="876300" y="3571875"/>
            <a:ext cx="10439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</a:t>
            </a:r>
            <a:r>
              <a:rPr lang="en-US" sz="2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provides the facts.</a:t>
            </a:r>
            <a:endParaRPr sz="2800"/>
          </a:p>
        </p:txBody>
      </p:sp>
      <p:sp>
        <p:nvSpPr>
          <p:cNvPr id="708" name="Google Shape;708;p62"/>
          <p:cNvSpPr txBox="1"/>
          <p:nvPr/>
        </p:nvSpPr>
        <p:spPr>
          <a:xfrm>
            <a:off x="876300" y="4171950"/>
            <a:ext cx="10439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Agents</a:t>
            </a:r>
            <a:r>
              <a:rPr lang="en-US" sz="2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execute the work.</a:t>
            </a:r>
            <a:endParaRPr sz="2800"/>
          </a:p>
        </p:txBody>
      </p:sp>
      <p:sp>
        <p:nvSpPr>
          <p:cNvPr id="709" name="Google Shape;709;p62"/>
          <p:cNvSpPr txBox="1"/>
          <p:nvPr/>
        </p:nvSpPr>
        <p:spPr>
          <a:xfrm>
            <a:off x="10372725" y="390525"/>
            <a:ext cx="12382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WRAP UP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1458</Words>
  <Application>Microsoft Office PowerPoint</Application>
  <PresentationFormat>Widescreen</PresentationFormat>
  <Paragraphs>276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Calibri</vt:lpstr>
      <vt:lpstr>Inter</vt:lpstr>
      <vt:lpstr>Arial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Hamza Ali</cp:lastModifiedBy>
  <cp:revision>2</cp:revision>
  <dcterms:modified xsi:type="dcterms:W3CDTF">2025-12-07T19:52:18Z</dcterms:modified>
</cp:coreProperties>
</file>