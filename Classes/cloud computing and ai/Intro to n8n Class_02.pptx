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JetBrains Mon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00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e1e0fc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e1e0fc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51922" y="2551807"/>
            <a:ext cx="38406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Intro to n8n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14625" y="4449067"/>
            <a:ext cx="646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Orchestrator: Workflow Automation &amp; AI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6850" y="1113532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36490"/>
            <a:ext cx="5229225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67737" y="294129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53462" y="4036665"/>
            <a:ext cx="7200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00912" y="4829026"/>
            <a:ext cx="3390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understand the full ecosystem of n8n.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23373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233734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Fundamentals: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is n8n, why use it, and the concept of "The Orchestrator".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5800" y="311839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11839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Interface: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Navigating Nodes, Edges, and Executions.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5800" y="38994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389944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Understanding JSON and why we use it.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" y="468049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468049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Integration: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AI Agents, Tools, and Output Parsers.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54615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19150" y="5461545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Resources: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Certification, Docs, and Pricing.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Class Objectives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9897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9897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233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1233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56907"/>
            <a:ext cx="1102995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81050" y="11897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Introduction &amp; Setup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81050" y="15802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257300" y="17326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is n8n &amp; The Orchestrator No-Code vs. Low-Code Pricing, Trial &amp; Self-Hosted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38900" y="11897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The Core Concepts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438900" y="15802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15150" y="17326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Interface Tour (Canvas, Sidebar) Nodes, Edges &amp; Workflows Triggers vs. Actions Executions &amp; Credentials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81050" y="33233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Data &amp; JSON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81050" y="37138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257300" y="38662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Saving Workflows (.json) JSON Structure (Keys, Arrays, Objects) Using Templates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438900" y="33233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AI Integration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438900" y="37138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915150" y="38662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Agent Node &amp; Models Tools &amp; Capabilities Output Parsers &amp; Logic Chat Interface Node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81050" y="5456932"/>
            <a:ext cx="106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Resources &amp; Support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81050" y="5847457"/>
            <a:ext cx="10629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257300" y="5999857"/>
            <a:ext cx="1015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Level 1 Course Certification Official Documentation Community Forums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81025" y="86766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Table of Contents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81025" y="780157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27770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43276"/>
            <a:ext cx="52292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21888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Definition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27525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is a </a:t>
            </a:r>
            <a:r>
              <a:rPr lang="en-US" sz="18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workflow automation tool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81025" y="332407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allows you to connect anything to everything. You can link Google Sheets to OpenAI, or Slack to email, without writing complex code.</a:t>
            </a:r>
            <a:endParaRPr/>
          </a:p>
        </p:txBody>
      </p:sp>
      <p:pic>
        <p:nvPicPr>
          <p:cNvPr id="147" name="Google Shape;147;p16" title="intro.jpg"/>
          <p:cNvPicPr preferRelativeResize="0"/>
          <p:nvPr/>
        </p:nvPicPr>
        <p:blipFill rotWithShape="1">
          <a:blip r:embed="rId6">
            <a:alphaModFix/>
          </a:blip>
          <a:srcRect l="24358" r="24358"/>
          <a:stretch/>
        </p:blipFill>
        <p:spPr>
          <a:xfrm>
            <a:off x="6391275" y="1937295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09625" y="4962376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"Fair-code" (source available) and can be self-hosted or run in the cloud.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What is n8n?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Orchestrator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63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apps talking randomly to each other (Spaghetti Code), n8n sits in the middle and manages the flow of data.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Visibility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648200" y="3714601"/>
            <a:ext cx="289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see exactly where data goes. If an error happens, you see exactly which node failed.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Flexibility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420100" y="3714601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connects to 200+ built-in apps, but also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via HTTP Request.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use n8n?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581025" y="221739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Spectrum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81025" y="278115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sits in the "sweet spot" between simplicity and power.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685800" y="36193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19150" y="3619351"/>
            <a:ext cx="49911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No-Code: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Drag and drop nodes. Select "Gmail" and click "Send". No programming needed.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685800" y="47433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19150" y="4743301"/>
            <a:ext cx="49911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Low-Code: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you need complex logic, you can write small snippets of JavaScript or Python directly inside the nodes.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No-Code vs. Low-Code</a:t>
            </a:r>
            <a:endParaRPr dirty="0"/>
          </a:p>
        </p:txBody>
      </p:sp>
      <p:sp>
        <p:nvSpPr>
          <p:cNvPr id="181" name="Google Shape;181;p18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6250" y="2851825"/>
            <a:ext cx="3724951" cy="27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9112" y="3123158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351939" y="4218533"/>
            <a:ext cx="2695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Accessible to beginners.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Powerful for developers.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2355502"/>
            <a:ext cx="2857500" cy="3621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4375" y="2174438"/>
            <a:ext cx="3143250" cy="39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0" y="2355502"/>
            <a:ext cx="2857500" cy="36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762601" y="2650777"/>
            <a:ext cx="238029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Free Trial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819275" y="3176438"/>
            <a:ext cx="22669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14 Days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819275" y="39670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feature access to test the platform.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786836" y="2499240"/>
            <a:ext cx="2618327" cy="36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Starter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849177" y="3077467"/>
            <a:ext cx="2493645" cy="61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$24/mo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849177" y="3947100"/>
            <a:ext cx="2493645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1,000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Executions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849177" y="4575750"/>
            <a:ext cx="2493645" cy="11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Great for individuals and small automations.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049101" y="2650777"/>
            <a:ext cx="238029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Self-Hosted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105775" y="3176438"/>
            <a:ext cx="22669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Free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105775" y="39670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Host it on your own server.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105775" y="48814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Requires technical maintenance.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Pricing &amp; Plans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98390"/>
            <a:ext cx="5229225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71876"/>
            <a:ext cx="52292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81025" y="19602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Container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81025" y="25239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complete automation script.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677025" y="3598515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JSON Representation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77025" y="4448026"/>
            <a:ext cx="46386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workflow is actually just a big JSON text file. This makes them easy to share.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85800" y="30192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19150" y="30192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consists of Nodes and Edges.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5800" y="34574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19150" y="3457426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can be active (running automatically) or inactive.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85800" y="42384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19150" y="42384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organize them with Tags.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09625" y="5190976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Think of a workflow as a single "Robot" dedicated to one job.</a:t>
            </a:r>
            <a:endParaRPr/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93176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Workflows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Nodes (Steps)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76300" y="3714601"/>
            <a:ext cx="289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dots on the board. Each node performs an action (Get Data, Send Data, Process Data).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Edges (Wires)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6482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lines connecting nodes. They define 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flow of execution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pass data from left to right.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On Click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4201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trigger nodes manually. The "Execute Node" button allows you to test just one step at a time.</a:t>
            </a:r>
            <a:endParaRPr/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Nodes &amp; Edges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99370"/>
            <a:ext cx="52292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229359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Starting the Engine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81025" y="285735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workflow needs a Trigger Node to start.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59464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685800" y="33526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19150" y="3352651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a new row is added to Sheets".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85800" y="41337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19150" y="41337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Schedule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"Every morning at 9 AM".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85800" y="45718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19150" y="45718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Webhook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a URL is visited".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85800" y="50100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19150" y="5010001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I click 'Test Workflow'".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Triggers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2214"/>
            <a:ext cx="5229225" cy="50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2751"/>
            <a:ext cx="5229225" cy="41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876300" y="2522339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Executions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76300" y="3371850"/>
            <a:ext cx="46386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history log. Shows every time the workflow ran.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76300" y="5867400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Vital for debugging errors.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677025" y="3012876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Credentials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677025" y="3862387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Where you store API Keys and Passwords.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677025" y="4691062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Stored securely and separated from the workflow logic so you don't accidentally share your passwords.</a:t>
            </a:r>
            <a:endParaRPr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85558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981075" y="44672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114425" y="4467225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Green: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Success.</a:t>
            </a:r>
            <a:endParaRPr dirty="0"/>
          </a:p>
        </p:txBody>
      </p:sp>
      <p:sp>
        <p:nvSpPr>
          <p:cNvPr id="281" name="Google Shape;281;p23"/>
          <p:cNvSpPr txBox="1"/>
          <p:nvPr/>
        </p:nvSpPr>
        <p:spPr>
          <a:xfrm>
            <a:off x="981075" y="49053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114425" y="4905375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Red: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Error.</a:t>
            </a:r>
            <a:endParaRPr/>
          </a:p>
        </p:txBody>
      </p:sp>
      <p:pic>
        <p:nvPicPr>
          <p:cNvPr id="283" name="Google Shape;28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3461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81025" y="238273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Executions &amp; Credentials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81025" y="93166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94670"/>
            <a:ext cx="52292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581025" y="21126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Portability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581025" y="26763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"Download" or "Copy" your entire workflow.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81025" y="35907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saves as a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.json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file.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581025" y="41622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85800" y="46575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819150" y="46575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Backups: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Save versions of your work.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685800" y="50957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819150" y="509572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Send your automation to a friend.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85800" y="55338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19150" y="55338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Migration: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Move from Cloud to Self-Hosted.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Saving Workflow as JSON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581025" y="1864965"/>
            <a:ext cx="1158144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JavaScript Object Notation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581025" y="2571601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the standard format for data on the web.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8763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Key-Value Pairs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876300" y="4272557"/>
            <a:ext cx="2895600" cy="282029"/>
          </a:xfrm>
          <a:prstGeom prst="roundRect">
            <a:avLst>
              <a:gd name="adj" fmla="val 2026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952500" y="4310657"/>
            <a:ext cx="2743200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"name": "John"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76300" y="5040362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label and a value.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46482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Objects { }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4648200" y="4364087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Curly braces hold a single item.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84201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Arrays [ ]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8420100" y="4364087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Square brackets hold a list of items.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What is JSON?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581025" y="26841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Universal Language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581025" y="32478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Computers need a standard way to talk.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685800" y="37431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819150" y="37431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Lightweight: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very little memory.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685800" y="41813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819150" y="418132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Readable: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Humans can read it (unlike binary).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85800" y="46194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819150" y="4619476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Supported Everywhere: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modern API (Google, OpenAI, Slack) speaks JSON.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JSON?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26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756" y="3019281"/>
            <a:ext cx="4991100" cy="19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495651"/>
            <a:ext cx="522922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 txBox="1"/>
          <p:nvPr/>
        </p:nvSpPr>
        <p:spPr>
          <a:xfrm>
            <a:off x="6381750" y="189354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Cheat Sheets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381750" y="24573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provides a library of pre-built workflows.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381750" y="30288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Cases: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6486525" y="35241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6619875" y="35241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"Sync HubSpot to Slack"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6486525" y="39622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6619875" y="39622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"Summarize News with AI"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6610350" y="4914751"/>
            <a:ext cx="48101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Don't build from scratch. Search the templates, copy the JSON, and paste it into your canvas.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Templates</a:t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25" y="2457300"/>
            <a:ext cx="5699198" cy="28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2722364" y="3243262"/>
            <a:ext cx="607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n8n AI Features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3659981" y="4576762"/>
            <a:ext cx="420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Agents, Models, and Parsers</a:t>
            </a:r>
            <a:endParaRPr/>
          </a:p>
        </p:txBody>
      </p:sp>
      <p:pic>
        <p:nvPicPr>
          <p:cNvPr id="364" name="Google Shape;36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4931" y="1804987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99370"/>
            <a:ext cx="52292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581025" y="216024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Brain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581025" y="272400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a special node that connects to an LLM (Like GPT-4).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581025" y="363840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not just a chatbot; it can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reason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use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tools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581025" y="45528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endParaRPr/>
          </a:p>
        </p:txBody>
      </p:sp>
      <p:pic>
        <p:nvPicPr>
          <p:cNvPr id="375" name="Google Shape;37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59464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685800" y="50481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819150" y="50481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 Query: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you ask it.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685800" y="54862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819150" y="54862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Information from previous nodes.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AI Agent Node</a:t>
            </a:r>
            <a:endParaRPr/>
          </a:p>
        </p:txBody>
      </p:sp>
      <p:sp>
        <p:nvSpPr>
          <p:cNvPr id="381" name="Google Shape;381;p29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88777"/>
            <a:ext cx="5229225" cy="4364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2602"/>
            <a:ext cx="5229225" cy="41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0"/>
          <p:cNvSpPr txBox="1"/>
          <p:nvPr/>
        </p:nvSpPr>
        <p:spPr>
          <a:xfrm>
            <a:off x="876300" y="2888902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Model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876300" y="3738413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engine that does the thinking.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6677025" y="3012727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Tool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6677025" y="3862238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Abilities you give the AI.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6677025" y="4690913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cannot browse the web or check your calendar </a:t>
            </a:r>
            <a:r>
              <a:rPr lang="en-US" sz="18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unless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attach a specific "Tool" node to it.</a:t>
            </a:r>
            <a:endParaRPr/>
          </a:p>
        </p:txBody>
      </p:sp>
      <p:pic>
        <p:nvPicPr>
          <p:cNvPr id="394" name="Google Shape;39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22215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981075" y="449088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1114425" y="449088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OpenAI (GPT-4o)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981075" y="492903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1114425" y="492903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Anthropic (Claude 3.5)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981075" y="536718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1114425" y="536718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Mistral / Llama</a:t>
            </a:r>
            <a:endParaRPr/>
          </a:p>
        </p:txBody>
      </p:sp>
      <p:pic>
        <p:nvPicPr>
          <p:cNvPr id="401" name="Google Shape;40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3459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Agent Components: Model &amp; Tool</a:t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22265"/>
            <a:ext cx="5229225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81025" y="23031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581025" y="28668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speaks English (Unstructured).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Computers speak JSON (Structured).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581025" y="37812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ask AI for a list, it might say: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"Sure! Here is your list: 1. Apple, 2. Banana"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581025" y="469567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breaks automation because the next node expects: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["Apple", "Banana"]</a:t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6610350" y="3312765"/>
            <a:ext cx="5050631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6610350" y="3876526"/>
            <a:ext cx="48101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 Parser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forces the AI to reply in strict JSON format so the rest of your workflow doesn't crash.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Output Parser is "Needy"</a:t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/>
          <p:nvPr/>
        </p:nvSpPr>
        <p:spPr>
          <a:xfrm>
            <a:off x="6381750" y="247456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Interactive Interface</a:t>
            </a:r>
            <a:endParaRPr/>
          </a:p>
        </p:txBody>
      </p:sp>
      <p:sp>
        <p:nvSpPr>
          <p:cNvPr id="424" name="Google Shape;424;p32"/>
          <p:cNvSpPr txBox="1"/>
          <p:nvPr/>
        </p:nvSpPr>
        <p:spPr>
          <a:xfrm>
            <a:off x="6381750" y="303832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Normally, workflows run in the background.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6381750" y="360982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Chat Trigger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allows you to build a chat interface (like ChatGPT) powered by your custom n8n workflow.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6381750" y="486712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Great for building internal support bots or customer service agents.</a:t>
            </a:r>
            <a:endParaRPr/>
          </a:p>
        </p:txBody>
      </p:sp>
      <p:sp>
        <p:nvSpPr>
          <p:cNvPr id="427" name="Google Shape;427;p32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Chat Node</a:t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463" y="1545988"/>
            <a:ext cx="4543425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3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Level 1 Course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8763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official starting point for certification.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876300" y="4657576"/>
            <a:ext cx="2895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docs.n8n.io/courses/level-one/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Official Docs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46482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Detailed manual for every node.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Community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84201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Forums where experts share help and templates.</a:t>
            </a:r>
            <a:endParaRPr/>
          </a:p>
        </p:txBody>
      </p:sp>
      <p:pic>
        <p:nvPicPr>
          <p:cNvPr id="445" name="Google Shape;44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Resources &amp; Learning</a:t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Microsoft Office PowerPoint</Application>
  <PresentationFormat>Widescreen</PresentationFormat>
  <Paragraphs>181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Inter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Hamza Ali</cp:lastModifiedBy>
  <cp:revision>1</cp:revision>
  <dcterms:modified xsi:type="dcterms:W3CDTF">2025-12-07T19:52:09Z</dcterms:modified>
</cp:coreProperties>
</file>