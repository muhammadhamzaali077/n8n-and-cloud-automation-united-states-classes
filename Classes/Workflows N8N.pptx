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embeddedFontLst>
    <p:embeddedFont>
      <p:font typeface="Inter" panose="020B060402020202020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5381" autoAdjust="0"/>
    <p:restoredTop sz="94660"/>
  </p:normalViewPr>
  <p:slideViewPr>
    <p:cSldViewPr snapToGrid="0">
      <p:cViewPr>
        <p:scale>
          <a:sx n="75" d="100"/>
          <a:sy n="75" d="100"/>
        </p:scale>
        <p:origin x="1504" y="2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866393253f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866393253f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866393253f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866393253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866393253f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866393253f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866393253f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866393253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866393253f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866393253f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866393253f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866393253f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55" name="Google Shape;55;p13"/>
          <p:cNvSpPr txBox="1"/>
          <p:nvPr/>
        </p:nvSpPr>
        <p:spPr>
          <a:xfrm>
            <a:off x="611892" y="1764299"/>
            <a:ext cx="9987300" cy="3140100"/>
          </a:xfrm>
          <a:prstGeom prst="rect">
            <a:avLst/>
          </a:prstGeom>
          <a:noFill/>
          <a:ln>
            <a:noFill/>
          </a:ln>
        </p:spPr>
        <p:txBody>
          <a:bodyPr spcFirstLastPara="1" wrap="square" lIns="133350" tIns="0" rIns="0" bIns="0" anchor="t" anchorCtr="0">
            <a:spAutoFit/>
          </a:bodyPr>
          <a:lstStyle/>
          <a:p>
            <a:pPr marL="0" marR="0" lvl="0" indent="0" algn="l" rtl="0">
              <a:lnSpc>
                <a:spcPct val="150000"/>
              </a:lnSpc>
              <a:spcBef>
                <a:spcPts val="0"/>
              </a:spcBef>
              <a:spcAft>
                <a:spcPts val="0"/>
              </a:spcAft>
              <a:buNone/>
            </a:pPr>
            <a:r>
              <a:rPr lang="en" sz="2400">
                <a:solidFill>
                  <a:srgbClr val="94A3B8"/>
                </a:solidFill>
              </a:rPr>
              <a:t>The goal is to create a "smart" chatbot that transcends static knowledge. In addition to performing calculations and checking specific APIs (like weather), this agent can </a:t>
            </a:r>
            <a:r>
              <a:rPr lang="en" sz="2400" b="1">
                <a:solidFill>
                  <a:srgbClr val="94A3B8"/>
                </a:solidFill>
              </a:rPr>
              <a:t>browse the live internet</a:t>
            </a:r>
            <a:r>
              <a:rPr lang="en" sz="2400">
                <a:solidFill>
                  <a:srgbClr val="94A3B8"/>
                </a:solidFill>
              </a:rPr>
              <a:t>. This ensures it can answer questions about current events, breaking news, or niche topics that are not contained within its training data, providing users with a truly "all-knowing" assistant.</a:t>
            </a:r>
            <a:endParaRPr sz="2400">
              <a:solidFill>
                <a:srgbClr val="94A3B8"/>
              </a:solidFill>
            </a:endParaRPr>
          </a:p>
        </p:txBody>
      </p:sp>
      <p:sp>
        <p:nvSpPr>
          <p:cNvPr id="56" name="Google Shape;56;p13"/>
          <p:cNvSpPr txBox="1"/>
          <p:nvPr/>
        </p:nvSpPr>
        <p:spPr>
          <a:xfrm>
            <a:off x="581025" y="581025"/>
            <a:ext cx="11581500" cy="55410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 sz="3600" b="1">
                <a:solidFill>
                  <a:srgbClr val="FF6D5A"/>
                </a:solidFill>
                <a:latin typeface="Inter"/>
                <a:ea typeface="Inter"/>
                <a:cs typeface="Inter"/>
                <a:sym typeface="Inter"/>
              </a:rPr>
              <a:t>Simple agent with memory  and tool Objective</a:t>
            </a:r>
            <a:endParaRPr/>
          </a:p>
        </p:txBody>
      </p:sp>
      <p:sp>
        <p:nvSpPr>
          <p:cNvPr id="57" name="Google Shape;57;p13"/>
          <p:cNvSpPr/>
          <p:nvPr/>
        </p:nvSpPr>
        <p:spPr>
          <a:xfrm>
            <a:off x="581025" y="1274415"/>
            <a:ext cx="11030100" cy="1920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63" name="Google Shape;63;p14"/>
          <p:cNvSpPr txBox="1"/>
          <p:nvPr/>
        </p:nvSpPr>
        <p:spPr>
          <a:xfrm>
            <a:off x="611901" y="1764301"/>
            <a:ext cx="10999200" cy="2586000"/>
          </a:xfrm>
          <a:prstGeom prst="rect">
            <a:avLst/>
          </a:prstGeom>
          <a:noFill/>
          <a:ln>
            <a:noFill/>
          </a:ln>
        </p:spPr>
        <p:txBody>
          <a:bodyPr spcFirstLastPara="1" wrap="square" lIns="133350" tIns="0" rIns="0" bIns="0" anchor="t" anchorCtr="0">
            <a:spAutoFit/>
          </a:bodyPr>
          <a:lstStyle/>
          <a:p>
            <a:pPr marL="0" marR="0" lvl="0" indent="0" algn="l" rtl="0">
              <a:lnSpc>
                <a:spcPct val="150000"/>
              </a:lnSpc>
              <a:spcBef>
                <a:spcPts val="0"/>
              </a:spcBef>
              <a:spcAft>
                <a:spcPts val="0"/>
              </a:spcAft>
              <a:buNone/>
            </a:pPr>
            <a:r>
              <a:rPr lang="en" sz="2400">
                <a:solidFill>
                  <a:srgbClr val="94A3B8"/>
                </a:solidFill>
              </a:rPr>
              <a:t>The primary goal of this workflow is to build a conversational agent that can </a:t>
            </a:r>
            <a:r>
              <a:rPr lang="en" sz="2400" b="1">
                <a:solidFill>
                  <a:srgbClr val="94A3B8"/>
                </a:solidFill>
              </a:rPr>
              <a:t>draft and dispatch emails via Gmail</a:t>
            </a:r>
            <a:r>
              <a:rPr lang="en" sz="2400">
                <a:solidFill>
                  <a:srgbClr val="94A3B8"/>
                </a:solidFill>
              </a:rPr>
              <a:t> using simple natural language commands. Instead of manually opening an email client, typing a subject, and composing a body, the user can simply tell the AI what to do, and the agent handles the execution.</a:t>
            </a:r>
            <a:endParaRPr sz="2400">
              <a:solidFill>
                <a:srgbClr val="94A3B8"/>
              </a:solidFill>
            </a:endParaRPr>
          </a:p>
        </p:txBody>
      </p:sp>
      <p:sp>
        <p:nvSpPr>
          <p:cNvPr id="64" name="Google Shape;64;p14"/>
          <p:cNvSpPr txBox="1"/>
          <p:nvPr/>
        </p:nvSpPr>
        <p:spPr>
          <a:xfrm>
            <a:off x="581025" y="581025"/>
            <a:ext cx="11581500" cy="55410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 sz="3600" b="1">
                <a:solidFill>
                  <a:srgbClr val="FF6D5A"/>
                </a:solidFill>
                <a:latin typeface="Inter"/>
                <a:ea typeface="Inter"/>
                <a:cs typeface="Inter"/>
                <a:sym typeface="Inter"/>
              </a:rPr>
              <a:t>Autonomous AI Email Assistant</a:t>
            </a:r>
            <a:endParaRPr/>
          </a:p>
        </p:txBody>
      </p:sp>
      <p:sp>
        <p:nvSpPr>
          <p:cNvPr id="65" name="Google Shape;65;p14"/>
          <p:cNvSpPr/>
          <p:nvPr/>
        </p:nvSpPr>
        <p:spPr>
          <a:xfrm>
            <a:off x="581025" y="1274415"/>
            <a:ext cx="11030100" cy="1920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p:nvPr/>
        </p:nvSpPr>
        <p:spPr>
          <a:xfrm>
            <a:off x="0" y="0"/>
            <a:ext cx="3000000" cy="99741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2400">
                <a:solidFill>
                  <a:srgbClr val="94A3B8"/>
                </a:solidFill>
              </a:rPr>
              <a:t>The primary goal of this workflow is to build a conversational agent that can </a:t>
            </a:r>
            <a:r>
              <a:rPr lang="en" sz="2400" b="1">
                <a:solidFill>
                  <a:srgbClr val="94A3B8"/>
                </a:solidFill>
              </a:rPr>
              <a:t>draft and dispatch emails via Gmail</a:t>
            </a:r>
            <a:r>
              <a:rPr lang="en" sz="2400">
                <a:solidFill>
                  <a:srgbClr val="94A3B8"/>
                </a:solidFill>
              </a:rPr>
              <a:t> using simple natural language commands. Instead of manually opening an email client, typing a subject, and composing a body, the user can simply tell the AI what to do, and the agent handles the execution.</a:t>
            </a:r>
            <a:endParaRPr sz="2400">
              <a:solidFill>
                <a:srgbClr val="94A3B8"/>
              </a:solidFill>
            </a:endParaRPr>
          </a:p>
        </p:txBody>
      </p:sp>
      <p:pic>
        <p:nvPicPr>
          <p:cNvPr id="71" name="Google Shape;71;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72" name="Google Shape;72;p15"/>
          <p:cNvSpPr txBox="1"/>
          <p:nvPr/>
        </p:nvSpPr>
        <p:spPr>
          <a:xfrm>
            <a:off x="611900" y="1764300"/>
            <a:ext cx="10856100" cy="2586000"/>
          </a:xfrm>
          <a:prstGeom prst="rect">
            <a:avLst/>
          </a:prstGeom>
          <a:noFill/>
          <a:ln>
            <a:noFill/>
          </a:ln>
        </p:spPr>
        <p:txBody>
          <a:bodyPr spcFirstLastPara="1" wrap="square" lIns="133350" tIns="0" rIns="0" bIns="0" anchor="t" anchorCtr="0">
            <a:spAutoFit/>
          </a:bodyPr>
          <a:lstStyle/>
          <a:p>
            <a:pPr marL="0" marR="0" lvl="0" indent="0" algn="l" rtl="0">
              <a:lnSpc>
                <a:spcPct val="150000"/>
              </a:lnSpc>
              <a:spcBef>
                <a:spcPts val="0"/>
              </a:spcBef>
              <a:spcAft>
                <a:spcPts val="0"/>
              </a:spcAft>
              <a:buNone/>
            </a:pPr>
            <a:r>
              <a:rPr lang="en" sz="2400">
                <a:solidFill>
                  <a:srgbClr val="94A3B8"/>
                </a:solidFill>
              </a:rPr>
              <a:t>The primary objective of this workflow is to create a fully autonomous system that </a:t>
            </a:r>
            <a:r>
              <a:rPr lang="en" sz="2400" b="1">
                <a:solidFill>
                  <a:srgbClr val="94A3B8"/>
                </a:solidFill>
              </a:rPr>
              <a:t>proactively researches, curates, and delivers new news</a:t>
            </a:r>
            <a:r>
              <a:rPr lang="en" sz="2400">
                <a:solidFill>
                  <a:srgbClr val="94A3B8"/>
                </a:solidFill>
              </a:rPr>
              <a:t> directly to your inbox on a set schedule. It eliminates the need for manual browsing by having an AI agent search the web for the latest updates, format them into a readable report, and email them to you automatically.</a:t>
            </a:r>
            <a:endParaRPr sz="2400">
              <a:solidFill>
                <a:srgbClr val="94A3B8"/>
              </a:solidFill>
            </a:endParaRPr>
          </a:p>
        </p:txBody>
      </p:sp>
      <p:sp>
        <p:nvSpPr>
          <p:cNvPr id="73" name="Google Shape;73;p15"/>
          <p:cNvSpPr txBox="1"/>
          <p:nvPr/>
        </p:nvSpPr>
        <p:spPr>
          <a:xfrm>
            <a:off x="581025" y="581025"/>
            <a:ext cx="11581500" cy="55410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 sz="3600" b="1">
                <a:solidFill>
                  <a:srgbClr val="FF6D5A"/>
                </a:solidFill>
                <a:latin typeface="Inter"/>
                <a:ea typeface="Inter"/>
                <a:cs typeface="Inter"/>
                <a:sym typeface="Inter"/>
              </a:rPr>
              <a:t>Automated News Briefing Agent</a:t>
            </a:r>
            <a:endParaRPr/>
          </a:p>
        </p:txBody>
      </p:sp>
      <p:sp>
        <p:nvSpPr>
          <p:cNvPr id="74" name="Google Shape;74;p15"/>
          <p:cNvSpPr/>
          <p:nvPr/>
        </p:nvSpPr>
        <p:spPr>
          <a:xfrm>
            <a:off x="581025" y="1274415"/>
            <a:ext cx="11030100" cy="1920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0" name="Google Shape;80;p16"/>
          <p:cNvSpPr txBox="1"/>
          <p:nvPr/>
        </p:nvSpPr>
        <p:spPr>
          <a:xfrm>
            <a:off x="611901" y="1764301"/>
            <a:ext cx="10999200" cy="2586000"/>
          </a:xfrm>
          <a:prstGeom prst="rect">
            <a:avLst/>
          </a:prstGeom>
          <a:noFill/>
          <a:ln>
            <a:noFill/>
          </a:ln>
        </p:spPr>
        <p:txBody>
          <a:bodyPr spcFirstLastPara="1" wrap="square" lIns="133350" tIns="0" rIns="0" bIns="0" anchor="t" anchorCtr="0">
            <a:spAutoFit/>
          </a:bodyPr>
          <a:lstStyle/>
          <a:p>
            <a:pPr marL="0" marR="0" lvl="0" indent="0" algn="l" rtl="0">
              <a:lnSpc>
                <a:spcPct val="150000"/>
              </a:lnSpc>
              <a:spcBef>
                <a:spcPts val="0"/>
              </a:spcBef>
              <a:spcAft>
                <a:spcPts val="0"/>
              </a:spcAft>
              <a:buNone/>
            </a:pPr>
            <a:r>
              <a:rPr lang="en" sz="2400">
                <a:solidFill>
                  <a:srgbClr val="94A3B8"/>
                </a:solidFill>
              </a:rPr>
              <a:t>The primary goal of this workflow is to create an intelligent security auditing system that processes a list of email templates stored in a Google Sheet. It uses AI to analyze the content of each email, determine if it is "Legitimate" or "Phishing," and automatically document the reasoning back into the spreadsheet.</a:t>
            </a:r>
            <a:endParaRPr sz="2400">
              <a:solidFill>
                <a:srgbClr val="94A3B8"/>
              </a:solidFill>
            </a:endParaRPr>
          </a:p>
        </p:txBody>
      </p:sp>
      <p:sp>
        <p:nvSpPr>
          <p:cNvPr id="81" name="Google Shape;81;p16"/>
          <p:cNvSpPr txBox="1"/>
          <p:nvPr/>
        </p:nvSpPr>
        <p:spPr>
          <a:xfrm>
            <a:off x="581025" y="581025"/>
            <a:ext cx="11581500" cy="55410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 sz="3600" b="1">
                <a:solidFill>
                  <a:srgbClr val="FF6D5A"/>
                </a:solidFill>
                <a:latin typeface="Inter"/>
                <a:ea typeface="Inter"/>
                <a:cs typeface="Inter"/>
                <a:sym typeface="Inter"/>
              </a:rPr>
              <a:t>The AI Phishing Analyzer</a:t>
            </a:r>
            <a:endParaRPr/>
          </a:p>
        </p:txBody>
      </p:sp>
      <p:sp>
        <p:nvSpPr>
          <p:cNvPr id="82" name="Google Shape;82;p16"/>
          <p:cNvSpPr/>
          <p:nvPr/>
        </p:nvSpPr>
        <p:spPr>
          <a:xfrm>
            <a:off x="581025" y="1274415"/>
            <a:ext cx="11030100" cy="1920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8" name="Google Shape;88;p17"/>
          <p:cNvSpPr txBox="1"/>
          <p:nvPr/>
        </p:nvSpPr>
        <p:spPr>
          <a:xfrm>
            <a:off x="611901" y="1764301"/>
            <a:ext cx="10999200" cy="2586000"/>
          </a:xfrm>
          <a:prstGeom prst="rect">
            <a:avLst/>
          </a:prstGeom>
          <a:noFill/>
          <a:ln>
            <a:noFill/>
          </a:ln>
        </p:spPr>
        <p:txBody>
          <a:bodyPr spcFirstLastPara="1" wrap="square" lIns="133350" tIns="0" rIns="0" bIns="0" anchor="t" anchorCtr="0">
            <a:spAutoFit/>
          </a:bodyPr>
          <a:lstStyle/>
          <a:p>
            <a:pPr marL="0" marR="0" lvl="0" indent="0" algn="l" rtl="0">
              <a:lnSpc>
                <a:spcPct val="150000"/>
              </a:lnSpc>
              <a:spcBef>
                <a:spcPts val="0"/>
              </a:spcBef>
              <a:spcAft>
                <a:spcPts val="0"/>
              </a:spcAft>
              <a:buNone/>
            </a:pPr>
            <a:r>
              <a:rPr lang="en" sz="2400">
                <a:solidFill>
                  <a:srgbClr val="94A3B8"/>
                </a:solidFill>
              </a:rPr>
              <a:t>The primary objective of this workflow is to drastically reduce the time spent writing emails without losing personal control. It automatically detects incoming messages and uses AI to </a:t>
            </a:r>
            <a:r>
              <a:rPr lang="en" sz="2400" b="1">
                <a:solidFill>
                  <a:srgbClr val="94A3B8"/>
                </a:solidFill>
              </a:rPr>
              <a:t>draft</a:t>
            </a:r>
            <a:r>
              <a:rPr lang="en" sz="2400">
                <a:solidFill>
                  <a:srgbClr val="94A3B8"/>
                </a:solidFill>
              </a:rPr>
              <a:t> a complete response, but—crucially—it </a:t>
            </a:r>
            <a:r>
              <a:rPr lang="en" sz="2400" b="1">
                <a:solidFill>
                  <a:srgbClr val="94A3B8"/>
                </a:solidFill>
              </a:rPr>
              <a:t>pauses</a:t>
            </a:r>
            <a:r>
              <a:rPr lang="en" sz="2400">
                <a:solidFill>
                  <a:srgbClr val="94A3B8"/>
                </a:solidFill>
              </a:rPr>
              <a:t> execution to wait for a human to review and approve the draft before it is ever sent.</a:t>
            </a:r>
            <a:endParaRPr sz="2400">
              <a:solidFill>
                <a:srgbClr val="94A3B8"/>
              </a:solidFill>
            </a:endParaRPr>
          </a:p>
        </p:txBody>
      </p:sp>
      <p:sp>
        <p:nvSpPr>
          <p:cNvPr id="89" name="Google Shape;89;p17"/>
          <p:cNvSpPr txBox="1"/>
          <p:nvPr/>
        </p:nvSpPr>
        <p:spPr>
          <a:xfrm>
            <a:off x="581025" y="581025"/>
            <a:ext cx="11581500" cy="55410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 sz="3600" b="1">
                <a:solidFill>
                  <a:srgbClr val="FF6D5A"/>
                </a:solidFill>
                <a:latin typeface="Inter"/>
                <a:ea typeface="Inter"/>
                <a:cs typeface="Inter"/>
                <a:sym typeface="Inter"/>
              </a:rPr>
              <a:t>The Human-Verified AI Email Responder</a:t>
            </a:r>
            <a:endParaRPr/>
          </a:p>
        </p:txBody>
      </p:sp>
      <p:sp>
        <p:nvSpPr>
          <p:cNvPr id="90" name="Google Shape;90;p17"/>
          <p:cNvSpPr/>
          <p:nvPr/>
        </p:nvSpPr>
        <p:spPr>
          <a:xfrm>
            <a:off x="581025" y="1274415"/>
            <a:ext cx="11030100" cy="1920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6" name="Google Shape;96;p18"/>
          <p:cNvSpPr txBox="1"/>
          <p:nvPr/>
        </p:nvSpPr>
        <p:spPr>
          <a:xfrm>
            <a:off x="611901" y="1764301"/>
            <a:ext cx="10999200" cy="3140100"/>
          </a:xfrm>
          <a:prstGeom prst="rect">
            <a:avLst/>
          </a:prstGeom>
          <a:noFill/>
          <a:ln>
            <a:noFill/>
          </a:ln>
        </p:spPr>
        <p:txBody>
          <a:bodyPr spcFirstLastPara="1" wrap="square" lIns="133350" tIns="0" rIns="0" bIns="0" anchor="t" anchorCtr="0">
            <a:spAutoFit/>
          </a:bodyPr>
          <a:lstStyle/>
          <a:p>
            <a:pPr marL="0" marR="0" lvl="0" indent="0" algn="l" rtl="0">
              <a:lnSpc>
                <a:spcPct val="150000"/>
              </a:lnSpc>
              <a:spcBef>
                <a:spcPts val="0"/>
              </a:spcBef>
              <a:spcAft>
                <a:spcPts val="0"/>
              </a:spcAft>
              <a:buNone/>
            </a:pPr>
            <a:r>
              <a:rPr lang="en" sz="2400">
                <a:solidFill>
                  <a:srgbClr val="94A3B8"/>
                </a:solidFill>
              </a:rPr>
              <a:t>The primary objective of this workflow is to remove the friction of manual data entry for project management. Instead of navigating complex spreadsheet rows, users can simply "chat" with the AI to add or update tasks. The unique feature of this agent is its </a:t>
            </a:r>
            <a:r>
              <a:rPr lang="en" sz="2400" b="1">
                <a:solidFill>
                  <a:srgbClr val="94A3B8"/>
                </a:solidFill>
              </a:rPr>
              <a:t>intelligent validation</a:t>
            </a:r>
            <a:r>
              <a:rPr lang="en" sz="2400">
                <a:solidFill>
                  <a:srgbClr val="94A3B8"/>
                </a:solidFill>
              </a:rPr>
              <a:t>: it doesn't just blindly log text; it verifies that all necessary details (like due dates or assignees) are present before touching the database, asking clarifying questions if anything is missing.</a:t>
            </a:r>
            <a:endParaRPr sz="2400">
              <a:solidFill>
                <a:srgbClr val="94A3B8"/>
              </a:solidFill>
            </a:endParaRPr>
          </a:p>
        </p:txBody>
      </p:sp>
      <p:sp>
        <p:nvSpPr>
          <p:cNvPr id="97" name="Google Shape;97;p18"/>
          <p:cNvSpPr txBox="1"/>
          <p:nvPr/>
        </p:nvSpPr>
        <p:spPr>
          <a:xfrm>
            <a:off x="581025" y="581025"/>
            <a:ext cx="11581500" cy="55410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 sz="3600" b="1">
                <a:solidFill>
                  <a:srgbClr val="FF6D5A"/>
                </a:solidFill>
                <a:latin typeface="Inter"/>
                <a:ea typeface="Inter"/>
                <a:cs typeface="Inter"/>
                <a:sym typeface="Inter"/>
              </a:rPr>
              <a:t>The Conversational Task Manager</a:t>
            </a:r>
            <a:endParaRPr/>
          </a:p>
        </p:txBody>
      </p:sp>
      <p:sp>
        <p:nvSpPr>
          <p:cNvPr id="98" name="Google Shape;98;p18"/>
          <p:cNvSpPr/>
          <p:nvPr/>
        </p:nvSpPr>
        <p:spPr>
          <a:xfrm>
            <a:off x="581025" y="1274415"/>
            <a:ext cx="11030100" cy="1920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3" name="Google Shape;103;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4" name="Google Shape;104;p19"/>
          <p:cNvSpPr txBox="1"/>
          <p:nvPr/>
        </p:nvSpPr>
        <p:spPr>
          <a:xfrm>
            <a:off x="611901" y="1764301"/>
            <a:ext cx="10999200" cy="3140100"/>
          </a:xfrm>
          <a:prstGeom prst="rect">
            <a:avLst/>
          </a:prstGeom>
          <a:noFill/>
          <a:ln>
            <a:noFill/>
          </a:ln>
        </p:spPr>
        <p:txBody>
          <a:bodyPr spcFirstLastPara="1" wrap="square" lIns="133350" tIns="0" rIns="0" bIns="0" anchor="t" anchorCtr="0">
            <a:spAutoFit/>
          </a:bodyPr>
          <a:lstStyle/>
          <a:p>
            <a:pPr marL="0" marR="0" lvl="0" indent="0" algn="l" rtl="0">
              <a:lnSpc>
                <a:spcPct val="150000"/>
              </a:lnSpc>
              <a:spcBef>
                <a:spcPts val="0"/>
              </a:spcBef>
              <a:spcAft>
                <a:spcPts val="0"/>
              </a:spcAft>
              <a:buNone/>
            </a:pPr>
            <a:r>
              <a:rPr lang="en" sz="2400">
                <a:solidFill>
                  <a:srgbClr val="94A3B8"/>
                </a:solidFill>
              </a:rPr>
              <a:t>The primary objective of this workflow is to maintain a consistent and high-quality presence on LinkedIn without manual effort. Unlike simple scheduling tools, this workflow acts as a full creative agency: it autonomously </a:t>
            </a:r>
            <a:r>
              <a:rPr lang="en" sz="2400" b="1">
                <a:solidFill>
                  <a:srgbClr val="94A3B8"/>
                </a:solidFill>
              </a:rPr>
              <a:t>researches</a:t>
            </a:r>
            <a:r>
              <a:rPr lang="en" sz="2400">
                <a:solidFill>
                  <a:srgbClr val="94A3B8"/>
                </a:solidFill>
              </a:rPr>
              <a:t> current trends, </a:t>
            </a:r>
            <a:r>
              <a:rPr lang="en" sz="2400" b="1">
                <a:solidFill>
                  <a:srgbClr val="94A3B8"/>
                </a:solidFill>
              </a:rPr>
              <a:t>writes</a:t>
            </a:r>
            <a:r>
              <a:rPr lang="en" sz="2400">
                <a:solidFill>
                  <a:srgbClr val="94A3B8"/>
                </a:solidFill>
              </a:rPr>
              <a:t> engaging content, </a:t>
            </a:r>
            <a:r>
              <a:rPr lang="en" sz="2400" b="1">
                <a:solidFill>
                  <a:srgbClr val="94A3B8"/>
                </a:solidFill>
              </a:rPr>
              <a:t>optimizes</a:t>
            </a:r>
            <a:r>
              <a:rPr lang="en" sz="2400">
                <a:solidFill>
                  <a:srgbClr val="94A3B8"/>
                </a:solidFill>
              </a:rPr>
              <a:t> it for SEO, </a:t>
            </a:r>
            <a:r>
              <a:rPr lang="en" sz="2400" b="1">
                <a:solidFill>
                  <a:srgbClr val="94A3B8"/>
                </a:solidFill>
              </a:rPr>
              <a:t>designs</a:t>
            </a:r>
            <a:r>
              <a:rPr lang="en" sz="2400">
                <a:solidFill>
                  <a:srgbClr val="94A3B8"/>
                </a:solidFill>
              </a:rPr>
              <a:t> custom visuals, and </a:t>
            </a:r>
            <a:r>
              <a:rPr lang="en" sz="2400" b="1">
                <a:solidFill>
                  <a:srgbClr val="94A3B8"/>
                </a:solidFill>
              </a:rPr>
              <a:t>publishes</a:t>
            </a:r>
            <a:r>
              <a:rPr lang="en" sz="2400">
                <a:solidFill>
                  <a:srgbClr val="94A3B8"/>
                </a:solidFill>
              </a:rPr>
              <a:t> the final post—all triggered by a simple schedule.</a:t>
            </a:r>
            <a:endParaRPr sz="2400">
              <a:solidFill>
                <a:srgbClr val="94A3B8"/>
              </a:solidFill>
            </a:endParaRPr>
          </a:p>
        </p:txBody>
      </p:sp>
      <p:sp>
        <p:nvSpPr>
          <p:cNvPr id="105" name="Google Shape;105;p19"/>
          <p:cNvSpPr txBox="1"/>
          <p:nvPr/>
        </p:nvSpPr>
        <p:spPr>
          <a:xfrm>
            <a:off x="581025" y="581025"/>
            <a:ext cx="11581500" cy="55410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 sz="3600" b="1">
                <a:solidFill>
                  <a:srgbClr val="FF6D5A"/>
                </a:solidFill>
                <a:latin typeface="Inter"/>
                <a:ea typeface="Inter"/>
                <a:cs typeface="Inter"/>
                <a:sym typeface="Inter"/>
              </a:rPr>
              <a:t>The Autonomous LinkedIn Growth Engine</a:t>
            </a:r>
            <a:endParaRPr/>
          </a:p>
        </p:txBody>
      </p:sp>
      <p:sp>
        <p:nvSpPr>
          <p:cNvPr id="106" name="Google Shape;106;p19"/>
          <p:cNvSpPr/>
          <p:nvPr/>
        </p:nvSpPr>
        <p:spPr>
          <a:xfrm>
            <a:off x="581025" y="1274415"/>
            <a:ext cx="11030100" cy="1920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562</Words>
  <Application>Microsoft Office PowerPoint</Application>
  <PresentationFormat>On-screen Show (16:9)</PresentationFormat>
  <Paragraphs>15</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Calibri</vt:lpstr>
      <vt:lpstr>Inter</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Muhammad Hamza Ali</cp:lastModifiedBy>
  <cp:revision>1</cp:revision>
  <dcterms:modified xsi:type="dcterms:W3CDTF">2025-12-13T16:18:07Z</dcterms:modified>
</cp:coreProperties>
</file>