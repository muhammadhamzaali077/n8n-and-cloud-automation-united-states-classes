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Lst>
  <p:sldSz cy="6858000" cx="12192000"/>
  <p:notesSz cx="6858000" cy="9144000"/>
  <p:embeddedFontLst>
    <p:embeddedFont>
      <p:font typeface="Inter"/>
      <p:regular r:id="rId13"/>
      <p:bold r:id="rId14"/>
      <p:italic r:id="rId15"/>
      <p:boldItalic r:id="rId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Inter-regular.fntdata"/><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Inter-italic.fntdata"/><Relationship Id="rId14" Type="http://schemas.openxmlformats.org/officeDocument/2006/relationships/font" Target="fonts/Inter-bold.fntdata"/><Relationship Id="rId16" Type="http://schemas.openxmlformats.org/officeDocument/2006/relationships/font" Target="fonts/Inter-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10.png"/><Relationship Id="rId6" Type="http://schemas.openxmlformats.org/officeDocument/2006/relationships/image" Target="../media/image6.png"/><Relationship Id="rId7" Type="http://schemas.openxmlformats.org/officeDocument/2006/relationships/image" Target="../media/image15.png"/><Relationship Id="rId8"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5" name="Google Shape;85;p13"/>
          <p:cNvSpPr txBox="1"/>
          <p:nvPr/>
        </p:nvSpPr>
        <p:spPr>
          <a:xfrm>
            <a:off x="571500" y="1867048"/>
            <a:ext cx="11601600" cy="17454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5400" u="none" cap="none" strike="noStrike">
                <a:solidFill>
                  <a:srgbClr val="FF6D5A"/>
                </a:solidFill>
                <a:latin typeface="Inter"/>
                <a:ea typeface="Inter"/>
                <a:cs typeface="Inter"/>
                <a:sym typeface="Inter"/>
              </a:rPr>
              <a:t>Phishing Detector </a:t>
            </a:r>
            <a:br>
              <a:rPr b="0" i="0" lang="en-US" sz="1800" u="none" cap="none" strike="noStrike">
                <a:solidFill>
                  <a:srgbClr val="FF6D5A"/>
                </a:solidFill>
                <a:latin typeface="Calibri"/>
                <a:ea typeface="Calibri"/>
                <a:cs typeface="Calibri"/>
                <a:sym typeface="Calibri"/>
              </a:rPr>
            </a:br>
            <a:r>
              <a:rPr b="1" i="0" lang="en-US" sz="5400" u="none" cap="none" strike="noStrike">
                <a:solidFill>
                  <a:srgbClr val="FF6D5A"/>
                </a:solidFill>
                <a:latin typeface="Inter"/>
                <a:ea typeface="Inter"/>
                <a:cs typeface="Inter"/>
                <a:sym typeface="Inter"/>
              </a:rPr>
              <a:t> Workflow</a:t>
            </a:r>
            <a:endParaRPr>
              <a:solidFill>
                <a:srgbClr val="FF6D5A"/>
              </a:solidFill>
            </a:endParaRPr>
          </a:p>
        </p:txBody>
      </p:sp>
      <p:sp>
        <p:nvSpPr>
          <p:cNvPr id="86" name="Google Shape;86;p13"/>
          <p:cNvSpPr txBox="1"/>
          <p:nvPr/>
        </p:nvSpPr>
        <p:spPr>
          <a:xfrm>
            <a:off x="571500" y="3870870"/>
            <a:ext cx="7620000" cy="853380"/>
          </a:xfrm>
          <a:prstGeom prst="rect">
            <a:avLst/>
          </a:prstGeom>
          <a:noFill/>
          <a:ln>
            <a:noFill/>
          </a:ln>
        </p:spPr>
        <p:txBody>
          <a:bodyPr anchorCtr="0" anchor="t" bIns="0" lIns="0" spcFirstLastPara="1" rIns="0" wrap="square" tIns="0">
            <a:spAutoFit/>
          </a:bodyPr>
          <a:lstStyle/>
          <a:p>
            <a:pPr indent="0" lvl="0" marL="0" marR="0" rtl="0" algn="l">
              <a:lnSpc>
                <a:spcPct val="159952"/>
              </a:lnSpc>
              <a:spcBef>
                <a:spcPts val="0"/>
              </a:spcBef>
              <a:spcAft>
                <a:spcPts val="0"/>
              </a:spcAft>
              <a:buNone/>
            </a:pPr>
            <a:r>
              <a:rPr b="0" i="0" lang="en-US" sz="2100" u="none" cap="none" strike="noStrike">
                <a:solidFill>
                  <a:srgbClr val="94A3B8"/>
                </a:solidFill>
                <a:latin typeface="Inter"/>
                <a:ea typeface="Inter"/>
                <a:cs typeface="Inter"/>
                <a:sym typeface="Inter"/>
              </a:rPr>
              <a:t>A step-by-step masterclass on building an automated security agent using n8n, Google Sheets, and LLMs.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90" name="Shape 90"/>
        <p:cNvGrpSpPr/>
        <p:nvPr/>
      </p:nvGrpSpPr>
      <p:grpSpPr>
        <a:xfrm>
          <a:off x="0" y="0"/>
          <a:ext cx="0" cy="0"/>
          <a:chOff x="0" y="0"/>
          <a:chExt cx="0" cy="0"/>
        </a:xfrm>
      </p:grpSpPr>
      <p:pic>
        <p:nvPicPr>
          <p:cNvPr descr="image.png" id="91" name="Google Shape;91;p1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92" name="Google Shape;92;p14"/>
          <p:cNvPicPr preferRelativeResize="0"/>
          <p:nvPr/>
        </p:nvPicPr>
        <p:blipFill rotWithShape="1">
          <a:blip r:embed="rId4">
            <a:alphaModFix/>
          </a:blip>
          <a:srcRect b="0" l="0" r="0" t="0"/>
          <a:stretch/>
        </p:blipFill>
        <p:spPr>
          <a:xfrm>
            <a:off x="11620500" y="190500"/>
            <a:ext cx="381000" cy="381000"/>
          </a:xfrm>
          <a:prstGeom prst="rect">
            <a:avLst/>
          </a:prstGeom>
          <a:noFill/>
          <a:ln>
            <a:noFill/>
          </a:ln>
        </p:spPr>
      </p:pic>
      <p:sp>
        <p:nvSpPr>
          <p:cNvPr id="93" name="Google Shape;93;p14"/>
          <p:cNvSpPr txBox="1"/>
          <p:nvPr/>
        </p:nvSpPr>
        <p:spPr>
          <a:xfrm>
            <a:off x="571500" y="1840259"/>
            <a:ext cx="5490686" cy="3351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E2E8F0"/>
                </a:solidFill>
                <a:latin typeface="Inter"/>
                <a:ea typeface="Inter"/>
                <a:cs typeface="Inter"/>
                <a:sym typeface="Inter"/>
              </a:rPr>
              <a:t>Manual Trigger Node</a:t>
            </a:r>
            <a:endParaRPr/>
          </a:p>
        </p:txBody>
      </p:sp>
      <p:sp>
        <p:nvSpPr>
          <p:cNvPr id="94" name="Google Shape;94;p14"/>
          <p:cNvSpPr txBox="1"/>
          <p:nvPr/>
        </p:nvSpPr>
        <p:spPr>
          <a:xfrm>
            <a:off x="571500" y="2518320"/>
            <a:ext cx="522922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CBD5E1"/>
                </a:solidFill>
                <a:latin typeface="Inter"/>
                <a:ea typeface="Inter"/>
                <a:cs typeface="Inter"/>
                <a:sym typeface="Inter"/>
              </a:rPr>
              <a:t>Action:</a:t>
            </a:r>
            <a:r>
              <a:rPr b="0" i="0" lang="en-US" sz="1500" u="none" cap="none" strike="noStrike">
                <a:solidFill>
                  <a:srgbClr val="CBD5E1"/>
                </a:solidFill>
                <a:latin typeface="Inter"/>
                <a:ea typeface="Inter"/>
                <a:cs typeface="Inter"/>
                <a:sym typeface="Inter"/>
              </a:rPr>
              <a:t> Click the </a:t>
            </a:r>
            <a:r>
              <a:rPr b="0" i="0" lang="en-US" sz="1500" u="none" cap="none" strike="noStrike">
                <a:solidFill>
                  <a:srgbClr val="FF6D5A"/>
                </a:solidFill>
                <a:latin typeface="Inter"/>
                <a:ea typeface="Inter"/>
                <a:cs typeface="Inter"/>
                <a:sym typeface="Inter"/>
              </a:rPr>
              <a:t>+</a:t>
            </a:r>
            <a:r>
              <a:rPr b="0" i="0" lang="en-US" sz="1500" u="none" cap="none" strike="noStrike">
                <a:solidFill>
                  <a:srgbClr val="CBD5E1"/>
                </a:solidFill>
                <a:latin typeface="Inter"/>
                <a:ea typeface="Inter"/>
                <a:cs typeface="Inter"/>
                <a:sym typeface="Inter"/>
              </a:rPr>
              <a:t> icon and add the "On clicking 'Execute'" node.</a:t>
            </a:r>
            <a:endParaRPr/>
          </a:p>
        </p:txBody>
      </p:sp>
      <p:sp>
        <p:nvSpPr>
          <p:cNvPr id="95" name="Google Shape;95;p14"/>
          <p:cNvSpPr txBox="1"/>
          <p:nvPr/>
        </p:nvSpPr>
        <p:spPr>
          <a:xfrm>
            <a:off x="571500" y="3508920"/>
            <a:ext cx="5490686" cy="3351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E2E8F0"/>
                </a:solidFill>
                <a:latin typeface="Inter"/>
                <a:ea typeface="Inter"/>
                <a:cs typeface="Inter"/>
                <a:sym typeface="Inter"/>
              </a:rPr>
              <a:t>Theory &amp; Use Case</a:t>
            </a:r>
            <a:endParaRPr/>
          </a:p>
        </p:txBody>
      </p:sp>
      <p:sp>
        <p:nvSpPr>
          <p:cNvPr id="96" name="Google Shape;96;p14"/>
          <p:cNvSpPr txBox="1"/>
          <p:nvPr/>
        </p:nvSpPr>
        <p:spPr>
          <a:xfrm>
            <a:off x="571500" y="4186981"/>
            <a:ext cx="5229225" cy="1524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Inter"/>
                <a:ea typeface="Inter"/>
                <a:cs typeface="Inter"/>
                <a:sym typeface="Inter"/>
              </a:rPr>
              <a:t>This node is your development switch. Unlike a webhook that waits for external events, this allows you to trigger the workflow manually. It's essential for testing small changes safely before deploying the agent to "listen" for real emails.</a:t>
            </a:r>
            <a:endParaRPr/>
          </a:p>
        </p:txBody>
      </p:sp>
      <p:sp>
        <p:nvSpPr>
          <p:cNvPr id="97" name="Google Shape;97;p14"/>
          <p:cNvSpPr txBox="1"/>
          <p:nvPr/>
        </p:nvSpPr>
        <p:spPr>
          <a:xfrm>
            <a:off x="800100" y="571500"/>
            <a:ext cx="11361420" cy="502890"/>
          </a:xfrm>
          <a:prstGeom prst="rect">
            <a:avLst/>
          </a:prstGeom>
          <a:noFill/>
          <a:ln>
            <a:noFill/>
          </a:ln>
        </p:spPr>
        <p:txBody>
          <a:bodyPr anchorCtr="0" anchor="t" bIns="0" lIns="0" spcFirstLastPara="1" rIns="0" wrap="square" tIns="0">
            <a:spAutoFit/>
          </a:bodyPr>
          <a:lstStyle/>
          <a:p>
            <a:pPr indent="0" lvl="0" marL="0" marR="0" rtl="0" algn="l">
              <a:lnSpc>
                <a:spcPct val="109972"/>
              </a:lnSpc>
              <a:spcBef>
                <a:spcPts val="0"/>
              </a:spcBef>
              <a:spcAft>
                <a:spcPts val="0"/>
              </a:spcAft>
              <a:buNone/>
            </a:pPr>
            <a:r>
              <a:rPr b="1" i="0" lang="en-US" sz="3600" u="none" cap="none" strike="noStrike">
                <a:solidFill>
                  <a:srgbClr val="FFFFFF"/>
                </a:solidFill>
                <a:latin typeface="Inter"/>
                <a:ea typeface="Inter"/>
                <a:cs typeface="Inter"/>
                <a:sym typeface="Inter"/>
              </a:rPr>
              <a:t>The Starting Point</a:t>
            </a:r>
            <a:endParaRPr/>
          </a:p>
        </p:txBody>
      </p:sp>
      <p:sp>
        <p:nvSpPr>
          <p:cNvPr id="98" name="Google Shape;98;p14"/>
          <p:cNvSpPr/>
          <p:nvPr/>
        </p:nvSpPr>
        <p:spPr>
          <a:xfrm>
            <a:off x="571500" y="571500"/>
            <a:ext cx="57150" cy="502890"/>
          </a:xfrm>
          <a:prstGeom prst="rect">
            <a:avLst/>
          </a:prstGeom>
          <a:solidFill>
            <a:srgbClr val="FF6D5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99" name="Google Shape;99;p14" title="Screenshot 2025-12-03 165330.png"/>
          <p:cNvPicPr preferRelativeResize="0"/>
          <p:nvPr/>
        </p:nvPicPr>
        <p:blipFill>
          <a:blip r:embed="rId5">
            <a:alphaModFix/>
          </a:blip>
          <a:stretch>
            <a:fillRect/>
          </a:stretch>
        </p:blipFill>
        <p:spPr>
          <a:xfrm>
            <a:off x="6812750" y="1459250"/>
            <a:ext cx="4511775" cy="44357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103" name="Shape 103"/>
        <p:cNvGrpSpPr/>
        <p:nvPr/>
      </p:nvGrpSpPr>
      <p:grpSpPr>
        <a:xfrm>
          <a:off x="0" y="0"/>
          <a:ext cx="0" cy="0"/>
          <a:chOff x="0" y="0"/>
          <a:chExt cx="0" cy="0"/>
        </a:xfrm>
      </p:grpSpPr>
      <p:pic>
        <p:nvPicPr>
          <p:cNvPr descr="image.png" id="104" name="Google Shape;104;p1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05" name="Google Shape;105;p15"/>
          <p:cNvPicPr preferRelativeResize="0"/>
          <p:nvPr/>
        </p:nvPicPr>
        <p:blipFill rotWithShape="1">
          <a:blip r:embed="rId4">
            <a:alphaModFix/>
          </a:blip>
          <a:srcRect b="0" l="0" r="0" t="0"/>
          <a:stretch/>
        </p:blipFill>
        <p:spPr>
          <a:xfrm>
            <a:off x="11620500" y="190500"/>
            <a:ext cx="381000" cy="381000"/>
          </a:xfrm>
          <a:prstGeom prst="rect">
            <a:avLst/>
          </a:prstGeom>
          <a:noFill/>
          <a:ln>
            <a:noFill/>
          </a:ln>
        </p:spPr>
      </p:pic>
      <p:sp>
        <p:nvSpPr>
          <p:cNvPr id="106" name="Google Shape;106;p15"/>
          <p:cNvSpPr txBox="1"/>
          <p:nvPr/>
        </p:nvSpPr>
        <p:spPr>
          <a:xfrm>
            <a:off x="571500" y="1992659"/>
            <a:ext cx="5490686" cy="3351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E2E8F0"/>
                </a:solidFill>
                <a:latin typeface="Inter"/>
                <a:ea typeface="Inter"/>
                <a:cs typeface="Inter"/>
                <a:sym typeface="Inter"/>
              </a:rPr>
              <a:t>Google Sheets Node</a:t>
            </a:r>
            <a:endParaRPr/>
          </a:p>
        </p:txBody>
      </p:sp>
      <p:sp>
        <p:nvSpPr>
          <p:cNvPr id="107" name="Google Shape;107;p15"/>
          <p:cNvSpPr txBox="1"/>
          <p:nvPr/>
        </p:nvSpPr>
        <p:spPr>
          <a:xfrm>
            <a:off x="571500" y="2670720"/>
            <a:ext cx="522922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CBD5E1"/>
                </a:solidFill>
                <a:latin typeface="Inter"/>
                <a:ea typeface="Inter"/>
                <a:cs typeface="Inter"/>
                <a:sym typeface="Inter"/>
              </a:rPr>
              <a:t>Action:</a:t>
            </a:r>
            <a:r>
              <a:rPr b="0" i="0" lang="en-US" sz="1500" u="none" cap="none" strike="noStrike">
                <a:solidFill>
                  <a:srgbClr val="CBD5E1"/>
                </a:solidFill>
                <a:latin typeface="Inter"/>
                <a:ea typeface="Inter"/>
                <a:cs typeface="Inter"/>
                <a:sym typeface="Inter"/>
              </a:rPr>
              <a:t> Add a Google Sheets node, select </a:t>
            </a:r>
            <a:r>
              <a:rPr b="0" i="0" lang="en-US" sz="1500" u="none" cap="none" strike="noStrike">
                <a:solidFill>
                  <a:srgbClr val="FF6D5A"/>
                </a:solidFill>
                <a:latin typeface="Inter"/>
                <a:ea typeface="Inter"/>
                <a:cs typeface="Inter"/>
                <a:sym typeface="Inter"/>
              </a:rPr>
              <a:t>Get Many Rows</a:t>
            </a:r>
            <a:r>
              <a:rPr b="0" i="0" lang="en-US" sz="1500" u="none" cap="none" strike="noStrike">
                <a:solidFill>
                  <a:srgbClr val="CBD5E1"/>
                </a:solidFill>
                <a:latin typeface="Inter"/>
                <a:ea typeface="Inter"/>
                <a:cs typeface="Inter"/>
                <a:sym typeface="Inter"/>
              </a:rPr>
              <a:t>, and connect your "Phishing Data Sheet".</a:t>
            </a:r>
            <a:endParaRPr/>
          </a:p>
        </p:txBody>
      </p:sp>
      <p:sp>
        <p:nvSpPr>
          <p:cNvPr id="108" name="Google Shape;108;p15"/>
          <p:cNvSpPr txBox="1"/>
          <p:nvPr/>
        </p:nvSpPr>
        <p:spPr>
          <a:xfrm>
            <a:off x="571500" y="3661320"/>
            <a:ext cx="5490686" cy="3351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E2E8F0"/>
                </a:solidFill>
                <a:latin typeface="Inter"/>
                <a:ea typeface="Inter"/>
                <a:cs typeface="Inter"/>
                <a:sym typeface="Inter"/>
              </a:rPr>
              <a:t>Theory &amp; Use Case</a:t>
            </a:r>
            <a:endParaRPr/>
          </a:p>
        </p:txBody>
      </p:sp>
      <p:sp>
        <p:nvSpPr>
          <p:cNvPr id="109" name="Google Shape;109;p15"/>
          <p:cNvSpPr txBox="1"/>
          <p:nvPr/>
        </p:nvSpPr>
        <p:spPr>
          <a:xfrm>
            <a:off x="571500" y="4339381"/>
            <a:ext cx="5229225" cy="121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Inter"/>
                <a:ea typeface="Inter"/>
                <a:cs typeface="Inter"/>
                <a:sym typeface="Inter"/>
              </a:rPr>
              <a:t>We need a dataset to train or test our agent. This node acts as the pipeline, pulling in raw email content from your spreadsheet. This data typically serves as the queue of suspicious items waiting for analysis.</a:t>
            </a:r>
            <a:endParaRPr/>
          </a:p>
        </p:txBody>
      </p:sp>
      <p:sp>
        <p:nvSpPr>
          <p:cNvPr id="110" name="Google Shape;110;p15"/>
          <p:cNvSpPr txBox="1"/>
          <p:nvPr/>
        </p:nvSpPr>
        <p:spPr>
          <a:xfrm>
            <a:off x="800100" y="571500"/>
            <a:ext cx="11361420" cy="502890"/>
          </a:xfrm>
          <a:prstGeom prst="rect">
            <a:avLst/>
          </a:prstGeom>
          <a:noFill/>
          <a:ln>
            <a:noFill/>
          </a:ln>
        </p:spPr>
        <p:txBody>
          <a:bodyPr anchorCtr="0" anchor="t" bIns="0" lIns="0" spcFirstLastPara="1" rIns="0" wrap="square" tIns="0">
            <a:spAutoFit/>
          </a:bodyPr>
          <a:lstStyle/>
          <a:p>
            <a:pPr indent="0" lvl="0" marL="0" marR="0" rtl="0" algn="l">
              <a:lnSpc>
                <a:spcPct val="109972"/>
              </a:lnSpc>
              <a:spcBef>
                <a:spcPts val="0"/>
              </a:spcBef>
              <a:spcAft>
                <a:spcPts val="0"/>
              </a:spcAft>
              <a:buNone/>
            </a:pPr>
            <a:r>
              <a:rPr b="1" i="0" lang="en-US" sz="3600" u="none" cap="none" strike="noStrike">
                <a:solidFill>
                  <a:srgbClr val="FFFFFF"/>
                </a:solidFill>
                <a:latin typeface="Inter"/>
                <a:ea typeface="Inter"/>
                <a:cs typeface="Inter"/>
                <a:sym typeface="Inter"/>
              </a:rPr>
              <a:t>Ingesting Data</a:t>
            </a:r>
            <a:endParaRPr/>
          </a:p>
        </p:txBody>
      </p:sp>
      <p:sp>
        <p:nvSpPr>
          <p:cNvPr id="111" name="Google Shape;111;p15"/>
          <p:cNvSpPr/>
          <p:nvPr/>
        </p:nvSpPr>
        <p:spPr>
          <a:xfrm>
            <a:off x="571500" y="571500"/>
            <a:ext cx="57150" cy="502890"/>
          </a:xfrm>
          <a:prstGeom prst="rect">
            <a:avLst/>
          </a:prstGeom>
          <a:solidFill>
            <a:srgbClr val="FF6D5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112" name="Google Shape;112;p15" title="Screenshot 2025-12-03 165513.png"/>
          <p:cNvPicPr preferRelativeResize="0"/>
          <p:nvPr/>
        </p:nvPicPr>
        <p:blipFill>
          <a:blip r:embed="rId5">
            <a:alphaModFix/>
          </a:blip>
          <a:stretch>
            <a:fillRect/>
          </a:stretch>
        </p:blipFill>
        <p:spPr>
          <a:xfrm>
            <a:off x="6863975" y="571505"/>
            <a:ext cx="4157550" cy="526531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116" name="Shape 116"/>
        <p:cNvGrpSpPr/>
        <p:nvPr/>
      </p:nvGrpSpPr>
      <p:grpSpPr>
        <a:xfrm>
          <a:off x="0" y="0"/>
          <a:ext cx="0" cy="0"/>
          <a:chOff x="0" y="0"/>
          <a:chExt cx="0" cy="0"/>
        </a:xfrm>
      </p:grpSpPr>
      <p:pic>
        <p:nvPicPr>
          <p:cNvPr descr="image.png" id="117" name="Google Shape;117;p1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18" name="Google Shape;118;p16"/>
          <p:cNvPicPr preferRelativeResize="0"/>
          <p:nvPr/>
        </p:nvPicPr>
        <p:blipFill rotWithShape="1">
          <a:blip r:embed="rId4">
            <a:alphaModFix/>
          </a:blip>
          <a:srcRect b="0" l="0" r="0" t="0"/>
          <a:stretch/>
        </p:blipFill>
        <p:spPr>
          <a:xfrm>
            <a:off x="11620500" y="190500"/>
            <a:ext cx="381000" cy="381000"/>
          </a:xfrm>
          <a:prstGeom prst="rect">
            <a:avLst/>
          </a:prstGeom>
          <a:noFill/>
          <a:ln>
            <a:noFill/>
          </a:ln>
        </p:spPr>
      </p:pic>
      <p:sp>
        <p:nvSpPr>
          <p:cNvPr id="119" name="Google Shape;119;p16"/>
          <p:cNvSpPr txBox="1"/>
          <p:nvPr/>
        </p:nvSpPr>
        <p:spPr>
          <a:xfrm>
            <a:off x="571500" y="1840259"/>
            <a:ext cx="5490686" cy="3351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E2E8F0"/>
                </a:solidFill>
                <a:latin typeface="Inter"/>
                <a:ea typeface="Inter"/>
                <a:cs typeface="Inter"/>
                <a:sym typeface="Inter"/>
              </a:rPr>
              <a:t>Loop Over Items</a:t>
            </a:r>
            <a:endParaRPr/>
          </a:p>
        </p:txBody>
      </p:sp>
      <p:sp>
        <p:nvSpPr>
          <p:cNvPr id="120" name="Google Shape;120;p16"/>
          <p:cNvSpPr txBox="1"/>
          <p:nvPr/>
        </p:nvSpPr>
        <p:spPr>
          <a:xfrm>
            <a:off x="571500" y="2518320"/>
            <a:ext cx="522922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CBD5E1"/>
                </a:solidFill>
                <a:latin typeface="Inter"/>
                <a:ea typeface="Inter"/>
                <a:cs typeface="Inter"/>
                <a:sym typeface="Inter"/>
              </a:rPr>
              <a:t>Action:</a:t>
            </a:r>
            <a:r>
              <a:rPr b="0" i="0" lang="en-US" sz="1500" u="none" cap="none" strike="noStrike">
                <a:solidFill>
                  <a:srgbClr val="CBD5E1"/>
                </a:solidFill>
                <a:latin typeface="Inter"/>
                <a:ea typeface="Inter"/>
                <a:cs typeface="Inter"/>
                <a:sym typeface="Inter"/>
              </a:rPr>
              <a:t> Connect the </a:t>
            </a:r>
            <a:r>
              <a:rPr b="0" i="0" lang="en-US" sz="1500" u="none" cap="none" strike="noStrike">
                <a:solidFill>
                  <a:srgbClr val="FF6D5A"/>
                </a:solidFill>
                <a:latin typeface="Inter"/>
                <a:ea typeface="Inter"/>
                <a:cs typeface="Inter"/>
                <a:sym typeface="Inter"/>
              </a:rPr>
              <a:t>Loop Over Items</a:t>
            </a:r>
            <a:r>
              <a:rPr b="0" i="0" lang="en-US" sz="1500" u="none" cap="none" strike="noStrike">
                <a:solidFill>
                  <a:srgbClr val="CBD5E1"/>
                </a:solidFill>
                <a:latin typeface="Inter"/>
                <a:ea typeface="Inter"/>
                <a:cs typeface="Inter"/>
                <a:sym typeface="Inter"/>
              </a:rPr>
              <a:t> node to the Google Sheets output.</a:t>
            </a:r>
            <a:endParaRPr/>
          </a:p>
        </p:txBody>
      </p:sp>
      <p:sp>
        <p:nvSpPr>
          <p:cNvPr id="121" name="Google Shape;121;p16"/>
          <p:cNvSpPr txBox="1"/>
          <p:nvPr/>
        </p:nvSpPr>
        <p:spPr>
          <a:xfrm>
            <a:off x="571500" y="3508920"/>
            <a:ext cx="5490686" cy="3351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E2E8F0"/>
                </a:solidFill>
                <a:latin typeface="Inter"/>
                <a:ea typeface="Inter"/>
                <a:cs typeface="Inter"/>
                <a:sym typeface="Inter"/>
              </a:rPr>
              <a:t>Theory &amp; Use Case</a:t>
            </a:r>
            <a:endParaRPr/>
          </a:p>
        </p:txBody>
      </p:sp>
      <p:sp>
        <p:nvSpPr>
          <p:cNvPr id="122" name="Google Shape;122;p16"/>
          <p:cNvSpPr txBox="1"/>
          <p:nvPr/>
        </p:nvSpPr>
        <p:spPr>
          <a:xfrm>
            <a:off x="571500" y="4186981"/>
            <a:ext cx="5229225" cy="1524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Inter"/>
                <a:ea typeface="Inter"/>
                <a:cs typeface="Inter"/>
                <a:sym typeface="Inter"/>
              </a:rPr>
              <a:t>Google Sheets returns a bulk "Array" of data. An AI agent is like a human; it reads one email at a time. The Loop node iterates through your data row-by-row, ensuring each email is analyzed individually rather than handling the entire batch at once.</a:t>
            </a:r>
            <a:endParaRPr/>
          </a:p>
        </p:txBody>
      </p:sp>
      <p:sp>
        <p:nvSpPr>
          <p:cNvPr id="123" name="Google Shape;123;p16"/>
          <p:cNvSpPr txBox="1"/>
          <p:nvPr/>
        </p:nvSpPr>
        <p:spPr>
          <a:xfrm>
            <a:off x="800100" y="571500"/>
            <a:ext cx="11361420" cy="502890"/>
          </a:xfrm>
          <a:prstGeom prst="rect">
            <a:avLst/>
          </a:prstGeom>
          <a:noFill/>
          <a:ln>
            <a:noFill/>
          </a:ln>
        </p:spPr>
        <p:txBody>
          <a:bodyPr anchorCtr="0" anchor="t" bIns="0" lIns="0" spcFirstLastPara="1" rIns="0" wrap="square" tIns="0">
            <a:spAutoFit/>
          </a:bodyPr>
          <a:lstStyle/>
          <a:p>
            <a:pPr indent="0" lvl="0" marL="0" marR="0" rtl="0" algn="l">
              <a:lnSpc>
                <a:spcPct val="109972"/>
              </a:lnSpc>
              <a:spcBef>
                <a:spcPts val="0"/>
              </a:spcBef>
              <a:spcAft>
                <a:spcPts val="0"/>
              </a:spcAft>
              <a:buNone/>
            </a:pPr>
            <a:r>
              <a:rPr b="1" i="0" lang="en-US" sz="3600" u="none" cap="none" strike="noStrike">
                <a:solidFill>
                  <a:srgbClr val="FFFFFF"/>
                </a:solidFill>
                <a:latin typeface="Inter"/>
                <a:ea typeface="Inter"/>
                <a:cs typeface="Inter"/>
                <a:sym typeface="Inter"/>
              </a:rPr>
              <a:t>Processing Logic</a:t>
            </a:r>
            <a:endParaRPr/>
          </a:p>
        </p:txBody>
      </p:sp>
      <p:sp>
        <p:nvSpPr>
          <p:cNvPr id="124" name="Google Shape;124;p16"/>
          <p:cNvSpPr/>
          <p:nvPr/>
        </p:nvSpPr>
        <p:spPr>
          <a:xfrm>
            <a:off x="571500" y="571500"/>
            <a:ext cx="57150" cy="502890"/>
          </a:xfrm>
          <a:prstGeom prst="rect">
            <a:avLst/>
          </a:prstGeom>
          <a:solidFill>
            <a:srgbClr val="FF6D5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125" name="Google Shape;125;p16" title="images (1).png"/>
          <p:cNvPicPr preferRelativeResize="0"/>
          <p:nvPr/>
        </p:nvPicPr>
        <p:blipFill>
          <a:blip r:embed="rId5">
            <a:alphaModFix/>
          </a:blip>
          <a:stretch>
            <a:fillRect/>
          </a:stretch>
        </p:blipFill>
        <p:spPr>
          <a:xfrm>
            <a:off x="6265925" y="2008325"/>
            <a:ext cx="5490675" cy="333634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129" name="Shape 129"/>
        <p:cNvGrpSpPr/>
        <p:nvPr/>
      </p:nvGrpSpPr>
      <p:grpSpPr>
        <a:xfrm>
          <a:off x="0" y="0"/>
          <a:ext cx="0" cy="0"/>
          <a:chOff x="0" y="0"/>
          <a:chExt cx="0" cy="0"/>
        </a:xfrm>
      </p:grpSpPr>
      <p:pic>
        <p:nvPicPr>
          <p:cNvPr descr="image.png" id="130" name="Google Shape;130;p1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31" name="Google Shape;131;p17"/>
          <p:cNvPicPr preferRelativeResize="0"/>
          <p:nvPr/>
        </p:nvPicPr>
        <p:blipFill rotWithShape="1">
          <a:blip r:embed="rId4">
            <a:alphaModFix/>
          </a:blip>
          <a:srcRect b="0" l="0" r="0" t="0"/>
          <a:stretch/>
        </p:blipFill>
        <p:spPr>
          <a:xfrm>
            <a:off x="11620500" y="190500"/>
            <a:ext cx="381000" cy="381000"/>
          </a:xfrm>
          <a:prstGeom prst="rect">
            <a:avLst/>
          </a:prstGeom>
          <a:noFill/>
          <a:ln>
            <a:noFill/>
          </a:ln>
        </p:spPr>
      </p:pic>
      <p:sp>
        <p:nvSpPr>
          <p:cNvPr id="132" name="Google Shape;132;p17"/>
          <p:cNvSpPr txBox="1"/>
          <p:nvPr/>
        </p:nvSpPr>
        <p:spPr>
          <a:xfrm>
            <a:off x="571500" y="1840259"/>
            <a:ext cx="5490686" cy="3351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E2E8F0"/>
                </a:solidFill>
                <a:latin typeface="Inter"/>
                <a:ea typeface="Inter"/>
                <a:cs typeface="Inter"/>
                <a:sym typeface="Inter"/>
              </a:rPr>
              <a:t>LLM Chain Node</a:t>
            </a:r>
            <a:endParaRPr/>
          </a:p>
        </p:txBody>
      </p:sp>
      <p:sp>
        <p:nvSpPr>
          <p:cNvPr id="133" name="Google Shape;133;p17"/>
          <p:cNvSpPr txBox="1"/>
          <p:nvPr/>
        </p:nvSpPr>
        <p:spPr>
          <a:xfrm>
            <a:off x="571500" y="2518320"/>
            <a:ext cx="522922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CBD5E1"/>
                </a:solidFill>
                <a:latin typeface="Inter"/>
                <a:ea typeface="Inter"/>
                <a:cs typeface="Inter"/>
                <a:sym typeface="Inter"/>
              </a:rPr>
              <a:t>Action:</a:t>
            </a:r>
            <a:r>
              <a:rPr b="0" i="0" lang="en-US" sz="1500" u="none" cap="none" strike="noStrike">
                <a:solidFill>
                  <a:srgbClr val="CBD5E1"/>
                </a:solidFill>
                <a:latin typeface="Inter"/>
                <a:ea typeface="Inter"/>
                <a:cs typeface="Inter"/>
                <a:sym typeface="Inter"/>
              </a:rPr>
              <a:t> Set up a Basic LLM Chain. Connect a Model (e.g., OpenAI) and an Output Parser.</a:t>
            </a:r>
            <a:endParaRPr/>
          </a:p>
        </p:txBody>
      </p:sp>
      <p:sp>
        <p:nvSpPr>
          <p:cNvPr id="134" name="Google Shape;134;p17"/>
          <p:cNvSpPr txBox="1"/>
          <p:nvPr/>
        </p:nvSpPr>
        <p:spPr>
          <a:xfrm>
            <a:off x="571500" y="3508920"/>
            <a:ext cx="5490686" cy="3351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E2E8F0"/>
                </a:solidFill>
                <a:latin typeface="Inter"/>
                <a:ea typeface="Inter"/>
                <a:cs typeface="Inter"/>
                <a:sym typeface="Inter"/>
              </a:rPr>
              <a:t>Theory &amp; Use Case</a:t>
            </a:r>
            <a:endParaRPr/>
          </a:p>
        </p:txBody>
      </p:sp>
      <p:sp>
        <p:nvSpPr>
          <p:cNvPr id="135" name="Google Shape;135;p17"/>
          <p:cNvSpPr txBox="1"/>
          <p:nvPr/>
        </p:nvSpPr>
        <p:spPr>
          <a:xfrm>
            <a:off x="571500" y="4186981"/>
            <a:ext cx="5229225" cy="1524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Inter"/>
                <a:ea typeface="Inter"/>
                <a:cs typeface="Inter"/>
                <a:sym typeface="Inter"/>
              </a:rPr>
              <a:t>This is the core intelligence. We pass the email body from the loop into this node. The </a:t>
            </a:r>
            <a:r>
              <a:rPr b="1" i="0" lang="en-US" sz="1500" u="none" cap="none" strike="noStrike">
                <a:solidFill>
                  <a:srgbClr val="CBD5E1"/>
                </a:solidFill>
                <a:latin typeface="Inter"/>
                <a:ea typeface="Inter"/>
                <a:cs typeface="Inter"/>
                <a:sym typeface="Inter"/>
              </a:rPr>
              <a:t>Prompt</a:t>
            </a:r>
            <a:r>
              <a:rPr b="0" i="0" lang="en-US" sz="1500" u="none" cap="none" strike="noStrike">
                <a:solidFill>
                  <a:srgbClr val="CBD5E1"/>
                </a:solidFill>
                <a:latin typeface="Inter"/>
                <a:ea typeface="Inter"/>
                <a:cs typeface="Inter"/>
                <a:sym typeface="Inter"/>
              </a:rPr>
              <a:t> instructs the AI: </a:t>
            </a:r>
            <a:r>
              <a:rPr b="0" i="1" lang="en-US" sz="1500" u="none" cap="none" strike="noStrike">
                <a:solidFill>
                  <a:srgbClr val="CBD5E1"/>
                </a:solidFill>
                <a:latin typeface="Inter"/>
                <a:ea typeface="Inter"/>
                <a:cs typeface="Inter"/>
                <a:sym typeface="Inter"/>
              </a:rPr>
              <a:t>"You are a security expert. Analyze this email for phishing indicators."</a:t>
            </a:r>
            <a:r>
              <a:rPr b="0" i="0" lang="en-US" sz="1500" u="none" cap="none" strike="noStrike">
                <a:solidFill>
                  <a:srgbClr val="CBD5E1"/>
                </a:solidFill>
                <a:latin typeface="Inter"/>
                <a:ea typeface="Inter"/>
                <a:cs typeface="Inter"/>
                <a:sym typeface="Inter"/>
              </a:rPr>
              <a:t> The parser ensures the AI returns a structured "Safe" or "Phishing" label.</a:t>
            </a:r>
            <a:endParaRPr/>
          </a:p>
        </p:txBody>
      </p:sp>
      <p:sp>
        <p:nvSpPr>
          <p:cNvPr id="136" name="Google Shape;136;p17"/>
          <p:cNvSpPr txBox="1"/>
          <p:nvPr/>
        </p:nvSpPr>
        <p:spPr>
          <a:xfrm>
            <a:off x="800100" y="571500"/>
            <a:ext cx="11361420" cy="502890"/>
          </a:xfrm>
          <a:prstGeom prst="rect">
            <a:avLst/>
          </a:prstGeom>
          <a:noFill/>
          <a:ln>
            <a:noFill/>
          </a:ln>
        </p:spPr>
        <p:txBody>
          <a:bodyPr anchorCtr="0" anchor="t" bIns="0" lIns="0" spcFirstLastPara="1" rIns="0" wrap="square" tIns="0">
            <a:spAutoFit/>
          </a:bodyPr>
          <a:lstStyle/>
          <a:p>
            <a:pPr indent="0" lvl="0" marL="0" marR="0" rtl="0" algn="l">
              <a:lnSpc>
                <a:spcPct val="109972"/>
              </a:lnSpc>
              <a:spcBef>
                <a:spcPts val="0"/>
              </a:spcBef>
              <a:spcAft>
                <a:spcPts val="0"/>
              </a:spcAft>
              <a:buNone/>
            </a:pPr>
            <a:r>
              <a:rPr b="1" i="0" lang="en-US" sz="3600" u="none" cap="none" strike="noStrike">
                <a:solidFill>
                  <a:srgbClr val="FFFFFF"/>
                </a:solidFill>
                <a:latin typeface="Inter"/>
                <a:ea typeface="Inter"/>
                <a:cs typeface="Inter"/>
                <a:sym typeface="Inter"/>
              </a:rPr>
              <a:t>The AI Brain</a:t>
            </a:r>
            <a:endParaRPr/>
          </a:p>
        </p:txBody>
      </p:sp>
      <p:sp>
        <p:nvSpPr>
          <p:cNvPr id="137" name="Google Shape;137;p17"/>
          <p:cNvSpPr/>
          <p:nvPr/>
        </p:nvSpPr>
        <p:spPr>
          <a:xfrm>
            <a:off x="571500" y="571500"/>
            <a:ext cx="57150" cy="502890"/>
          </a:xfrm>
          <a:prstGeom prst="rect">
            <a:avLst/>
          </a:prstGeom>
          <a:solidFill>
            <a:srgbClr val="FF6D5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138" name="Google Shape;138;p17" title="Screenshot 2025-12-03 165821.png"/>
          <p:cNvPicPr preferRelativeResize="0"/>
          <p:nvPr/>
        </p:nvPicPr>
        <p:blipFill>
          <a:blip r:embed="rId5">
            <a:alphaModFix/>
          </a:blip>
          <a:stretch>
            <a:fillRect/>
          </a:stretch>
        </p:blipFill>
        <p:spPr>
          <a:xfrm>
            <a:off x="7470550" y="1840250"/>
            <a:ext cx="3612425" cy="46360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142" name="Shape 142"/>
        <p:cNvGrpSpPr/>
        <p:nvPr/>
      </p:nvGrpSpPr>
      <p:grpSpPr>
        <a:xfrm>
          <a:off x="0" y="0"/>
          <a:ext cx="0" cy="0"/>
          <a:chOff x="0" y="0"/>
          <a:chExt cx="0" cy="0"/>
        </a:xfrm>
      </p:grpSpPr>
      <p:pic>
        <p:nvPicPr>
          <p:cNvPr descr="image.png" id="143" name="Google Shape;143;p1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44" name="Google Shape;144;p18"/>
          <p:cNvPicPr preferRelativeResize="0"/>
          <p:nvPr/>
        </p:nvPicPr>
        <p:blipFill rotWithShape="1">
          <a:blip r:embed="rId4">
            <a:alphaModFix/>
          </a:blip>
          <a:srcRect b="0" l="0" r="0" t="0"/>
          <a:stretch/>
        </p:blipFill>
        <p:spPr>
          <a:xfrm>
            <a:off x="11620500" y="190500"/>
            <a:ext cx="381000" cy="381000"/>
          </a:xfrm>
          <a:prstGeom prst="rect">
            <a:avLst/>
          </a:prstGeom>
          <a:noFill/>
          <a:ln>
            <a:noFill/>
          </a:ln>
        </p:spPr>
      </p:pic>
      <p:sp>
        <p:nvSpPr>
          <p:cNvPr id="145" name="Google Shape;145;p18"/>
          <p:cNvSpPr txBox="1"/>
          <p:nvPr/>
        </p:nvSpPr>
        <p:spPr>
          <a:xfrm>
            <a:off x="571500" y="1992659"/>
            <a:ext cx="5490686" cy="3351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E2E8F0"/>
                </a:solidFill>
                <a:latin typeface="Inter"/>
                <a:ea typeface="Inter"/>
                <a:cs typeface="Inter"/>
                <a:sym typeface="Inter"/>
              </a:rPr>
              <a:t>Update Sheet Row</a:t>
            </a:r>
            <a:endParaRPr/>
          </a:p>
        </p:txBody>
      </p:sp>
      <p:sp>
        <p:nvSpPr>
          <p:cNvPr id="146" name="Google Shape;146;p18"/>
          <p:cNvSpPr txBox="1"/>
          <p:nvPr/>
        </p:nvSpPr>
        <p:spPr>
          <a:xfrm>
            <a:off x="571500" y="2670720"/>
            <a:ext cx="522922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CBD5E1"/>
                </a:solidFill>
                <a:latin typeface="Inter"/>
                <a:ea typeface="Inter"/>
                <a:cs typeface="Inter"/>
                <a:sym typeface="Inter"/>
              </a:rPr>
              <a:t>Action:</a:t>
            </a:r>
            <a:r>
              <a:rPr b="0" i="0" lang="en-US" sz="1500" u="none" cap="none" strike="noStrike">
                <a:solidFill>
                  <a:srgbClr val="CBD5E1"/>
                </a:solidFill>
                <a:latin typeface="Inter"/>
                <a:ea typeface="Inter"/>
                <a:cs typeface="Inter"/>
                <a:sym typeface="Inter"/>
              </a:rPr>
              <a:t> Add another Google Sheets node, select </a:t>
            </a:r>
            <a:r>
              <a:rPr b="0" i="0" lang="en-US" sz="1500" u="none" cap="none" strike="noStrike">
                <a:solidFill>
                  <a:srgbClr val="FF6D5A"/>
                </a:solidFill>
                <a:latin typeface="Inter"/>
                <a:ea typeface="Inter"/>
                <a:cs typeface="Inter"/>
                <a:sym typeface="Inter"/>
              </a:rPr>
              <a:t>Update Row</a:t>
            </a:r>
            <a:r>
              <a:rPr b="0" i="0" lang="en-US" sz="1500" u="none" cap="none" strike="noStrike">
                <a:solidFill>
                  <a:srgbClr val="CBD5E1"/>
                </a:solidFill>
                <a:latin typeface="Inter"/>
                <a:ea typeface="Inter"/>
                <a:cs typeface="Inter"/>
                <a:sym typeface="Inter"/>
              </a:rPr>
              <a:t>, and map the AI's answer back to the sheet.</a:t>
            </a:r>
            <a:endParaRPr/>
          </a:p>
        </p:txBody>
      </p:sp>
      <p:sp>
        <p:nvSpPr>
          <p:cNvPr id="147" name="Google Shape;147;p18"/>
          <p:cNvSpPr txBox="1"/>
          <p:nvPr/>
        </p:nvSpPr>
        <p:spPr>
          <a:xfrm>
            <a:off x="571500" y="3661320"/>
            <a:ext cx="5490686" cy="3351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E2E8F0"/>
                </a:solidFill>
                <a:latin typeface="Inter"/>
                <a:ea typeface="Inter"/>
                <a:cs typeface="Inter"/>
                <a:sym typeface="Inter"/>
              </a:rPr>
              <a:t>Theory &amp; Use Case</a:t>
            </a:r>
            <a:endParaRPr/>
          </a:p>
        </p:txBody>
      </p:sp>
      <p:sp>
        <p:nvSpPr>
          <p:cNvPr id="148" name="Google Shape;148;p18"/>
          <p:cNvSpPr txBox="1"/>
          <p:nvPr/>
        </p:nvSpPr>
        <p:spPr>
          <a:xfrm>
            <a:off x="571500" y="4339381"/>
            <a:ext cx="5229225" cy="121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Inter"/>
                <a:ea typeface="Inter"/>
                <a:cs typeface="Inter"/>
                <a:sym typeface="Inter"/>
              </a:rPr>
              <a:t>Automation isn't complete without action. Here, we write the AI's verdict (Safe/Phishing) back to the original spreadsheet row. This creates a fully automated report without any human data entry.</a:t>
            </a:r>
            <a:endParaRPr/>
          </a:p>
        </p:txBody>
      </p:sp>
      <p:sp>
        <p:nvSpPr>
          <p:cNvPr id="149" name="Google Shape;149;p18"/>
          <p:cNvSpPr txBox="1"/>
          <p:nvPr/>
        </p:nvSpPr>
        <p:spPr>
          <a:xfrm>
            <a:off x="800100" y="571500"/>
            <a:ext cx="11361420" cy="502890"/>
          </a:xfrm>
          <a:prstGeom prst="rect">
            <a:avLst/>
          </a:prstGeom>
          <a:noFill/>
          <a:ln>
            <a:noFill/>
          </a:ln>
        </p:spPr>
        <p:txBody>
          <a:bodyPr anchorCtr="0" anchor="t" bIns="0" lIns="0" spcFirstLastPara="1" rIns="0" wrap="square" tIns="0">
            <a:spAutoFit/>
          </a:bodyPr>
          <a:lstStyle/>
          <a:p>
            <a:pPr indent="0" lvl="0" marL="0" marR="0" rtl="0" algn="l">
              <a:lnSpc>
                <a:spcPct val="109972"/>
              </a:lnSpc>
              <a:spcBef>
                <a:spcPts val="0"/>
              </a:spcBef>
              <a:spcAft>
                <a:spcPts val="0"/>
              </a:spcAft>
              <a:buNone/>
            </a:pPr>
            <a:r>
              <a:rPr b="1" i="0" lang="en-US" sz="3600" u="none" cap="none" strike="noStrike">
                <a:solidFill>
                  <a:srgbClr val="FFFFFF"/>
                </a:solidFill>
                <a:latin typeface="Inter"/>
                <a:ea typeface="Inter"/>
                <a:cs typeface="Inter"/>
                <a:sym typeface="Inter"/>
              </a:rPr>
              <a:t>Closing the Loop</a:t>
            </a:r>
            <a:endParaRPr/>
          </a:p>
        </p:txBody>
      </p:sp>
      <p:sp>
        <p:nvSpPr>
          <p:cNvPr id="150" name="Google Shape;150;p18"/>
          <p:cNvSpPr/>
          <p:nvPr/>
        </p:nvSpPr>
        <p:spPr>
          <a:xfrm>
            <a:off x="571500" y="571500"/>
            <a:ext cx="57150" cy="502890"/>
          </a:xfrm>
          <a:prstGeom prst="rect">
            <a:avLst/>
          </a:prstGeom>
          <a:solidFill>
            <a:srgbClr val="FF6D5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151" name="Google Shape;151;p18" title="Screenshot 2025-12-03 170543.png"/>
          <p:cNvPicPr preferRelativeResize="0"/>
          <p:nvPr/>
        </p:nvPicPr>
        <p:blipFill>
          <a:blip r:embed="rId5">
            <a:alphaModFix/>
          </a:blip>
          <a:stretch>
            <a:fillRect/>
          </a:stretch>
        </p:blipFill>
        <p:spPr>
          <a:xfrm>
            <a:off x="6584637" y="433525"/>
            <a:ext cx="4513400" cy="599095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155" name="Shape 155"/>
        <p:cNvGrpSpPr/>
        <p:nvPr/>
      </p:nvGrpSpPr>
      <p:grpSpPr>
        <a:xfrm>
          <a:off x="0" y="0"/>
          <a:ext cx="0" cy="0"/>
          <a:chOff x="0" y="0"/>
          <a:chExt cx="0" cy="0"/>
        </a:xfrm>
      </p:grpSpPr>
      <p:pic>
        <p:nvPicPr>
          <p:cNvPr descr="image.png" id="156" name="Google Shape;156;p1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57" name="Google Shape;157;p19"/>
          <p:cNvPicPr preferRelativeResize="0"/>
          <p:nvPr/>
        </p:nvPicPr>
        <p:blipFill rotWithShape="1">
          <a:blip r:embed="rId4">
            <a:alphaModFix/>
          </a:blip>
          <a:srcRect b="0" l="0" r="0" t="0"/>
          <a:stretch/>
        </p:blipFill>
        <p:spPr>
          <a:xfrm>
            <a:off x="1308645" y="3384202"/>
            <a:ext cx="514350" cy="514350"/>
          </a:xfrm>
          <a:prstGeom prst="rect">
            <a:avLst/>
          </a:prstGeom>
          <a:noFill/>
          <a:ln>
            <a:noFill/>
          </a:ln>
        </p:spPr>
      </p:pic>
      <p:pic>
        <p:nvPicPr>
          <p:cNvPr descr="image.png" id="158" name="Google Shape;158;p19"/>
          <p:cNvPicPr preferRelativeResize="0"/>
          <p:nvPr/>
        </p:nvPicPr>
        <p:blipFill rotWithShape="1">
          <a:blip r:embed="rId5">
            <a:alphaModFix/>
          </a:blip>
          <a:srcRect b="0" l="0" r="0" t="0"/>
          <a:stretch/>
        </p:blipFill>
        <p:spPr>
          <a:xfrm>
            <a:off x="3573660" y="3384202"/>
            <a:ext cx="514350" cy="514350"/>
          </a:xfrm>
          <a:prstGeom prst="rect">
            <a:avLst/>
          </a:prstGeom>
          <a:noFill/>
          <a:ln>
            <a:noFill/>
          </a:ln>
        </p:spPr>
      </p:pic>
      <p:pic>
        <p:nvPicPr>
          <p:cNvPr descr="image.png" id="159" name="Google Shape;159;p19"/>
          <p:cNvPicPr preferRelativeResize="0"/>
          <p:nvPr/>
        </p:nvPicPr>
        <p:blipFill rotWithShape="1">
          <a:blip r:embed="rId6">
            <a:alphaModFix/>
          </a:blip>
          <a:srcRect b="0" l="0" r="0" t="0"/>
          <a:stretch/>
        </p:blipFill>
        <p:spPr>
          <a:xfrm>
            <a:off x="5838676" y="3384202"/>
            <a:ext cx="514350" cy="514350"/>
          </a:xfrm>
          <a:prstGeom prst="rect">
            <a:avLst/>
          </a:prstGeom>
          <a:noFill/>
          <a:ln>
            <a:noFill/>
          </a:ln>
        </p:spPr>
      </p:pic>
      <p:pic>
        <p:nvPicPr>
          <p:cNvPr descr="image.png" id="160" name="Google Shape;160;p19"/>
          <p:cNvPicPr preferRelativeResize="0"/>
          <p:nvPr/>
        </p:nvPicPr>
        <p:blipFill rotWithShape="1">
          <a:blip r:embed="rId7">
            <a:alphaModFix/>
          </a:blip>
          <a:srcRect b="0" l="0" r="0" t="0"/>
          <a:stretch/>
        </p:blipFill>
        <p:spPr>
          <a:xfrm>
            <a:off x="8103691" y="3384202"/>
            <a:ext cx="514350" cy="514350"/>
          </a:xfrm>
          <a:prstGeom prst="rect">
            <a:avLst/>
          </a:prstGeom>
          <a:noFill/>
          <a:ln>
            <a:noFill/>
          </a:ln>
        </p:spPr>
      </p:pic>
      <p:pic>
        <p:nvPicPr>
          <p:cNvPr descr="image.png" id="161" name="Google Shape;161;p19"/>
          <p:cNvPicPr preferRelativeResize="0"/>
          <p:nvPr/>
        </p:nvPicPr>
        <p:blipFill rotWithShape="1">
          <a:blip r:embed="rId8">
            <a:alphaModFix/>
          </a:blip>
          <a:srcRect b="0" l="0" r="0" t="0"/>
          <a:stretch/>
        </p:blipFill>
        <p:spPr>
          <a:xfrm>
            <a:off x="10368706" y="3384202"/>
            <a:ext cx="514350" cy="514350"/>
          </a:xfrm>
          <a:prstGeom prst="rect">
            <a:avLst/>
          </a:prstGeom>
          <a:noFill/>
          <a:ln>
            <a:noFill/>
          </a:ln>
        </p:spPr>
      </p:pic>
      <p:sp>
        <p:nvSpPr>
          <p:cNvPr id="162" name="Google Shape;162;p19"/>
          <p:cNvSpPr/>
          <p:nvPr/>
        </p:nvSpPr>
        <p:spPr>
          <a:xfrm>
            <a:off x="571500" y="3622327"/>
            <a:ext cx="11049000" cy="38100"/>
          </a:xfrm>
          <a:prstGeom prst="roundRect">
            <a:avLst>
              <a:gd fmla="val 16667" name="adj"/>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3" name="Google Shape;163;p19"/>
          <p:cNvSpPr txBox="1"/>
          <p:nvPr/>
        </p:nvSpPr>
        <p:spPr>
          <a:xfrm>
            <a:off x="521780" y="4151858"/>
            <a:ext cx="2088229" cy="228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FFFFFF"/>
                </a:solidFill>
                <a:latin typeface="Inter"/>
                <a:ea typeface="Inter"/>
                <a:cs typeface="Inter"/>
                <a:sym typeface="Inter"/>
              </a:rPr>
              <a:t>Trigger</a:t>
            </a:r>
            <a:endParaRPr/>
          </a:p>
        </p:txBody>
      </p:sp>
      <p:sp>
        <p:nvSpPr>
          <p:cNvPr id="164" name="Google Shape;164;p19"/>
          <p:cNvSpPr txBox="1"/>
          <p:nvPr/>
        </p:nvSpPr>
        <p:spPr>
          <a:xfrm>
            <a:off x="571500" y="4532858"/>
            <a:ext cx="1988790" cy="24378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200" u="none" cap="none" strike="noStrike">
                <a:solidFill>
                  <a:srgbClr val="94A3B8"/>
                </a:solidFill>
                <a:latin typeface="Inter"/>
                <a:ea typeface="Inter"/>
                <a:cs typeface="Inter"/>
                <a:sym typeface="Inter"/>
              </a:rPr>
              <a:t>Manual Start</a:t>
            </a:r>
            <a:endParaRPr/>
          </a:p>
        </p:txBody>
      </p:sp>
      <p:sp>
        <p:nvSpPr>
          <p:cNvPr id="165" name="Google Shape;165;p19"/>
          <p:cNvSpPr txBox="1"/>
          <p:nvPr/>
        </p:nvSpPr>
        <p:spPr>
          <a:xfrm>
            <a:off x="2786795" y="4151858"/>
            <a:ext cx="2088229" cy="228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FFFFFF"/>
                </a:solidFill>
                <a:latin typeface="Inter"/>
                <a:ea typeface="Inter"/>
                <a:cs typeface="Inter"/>
                <a:sym typeface="Inter"/>
              </a:rPr>
              <a:t>Ingest</a:t>
            </a:r>
            <a:endParaRPr/>
          </a:p>
        </p:txBody>
      </p:sp>
      <p:sp>
        <p:nvSpPr>
          <p:cNvPr id="166" name="Google Shape;166;p19"/>
          <p:cNvSpPr txBox="1"/>
          <p:nvPr/>
        </p:nvSpPr>
        <p:spPr>
          <a:xfrm>
            <a:off x="2836515" y="4532858"/>
            <a:ext cx="1988790" cy="24378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200" u="none" cap="none" strike="noStrike">
                <a:solidFill>
                  <a:srgbClr val="94A3B8"/>
                </a:solidFill>
                <a:latin typeface="Inter"/>
                <a:ea typeface="Inter"/>
                <a:cs typeface="Inter"/>
                <a:sym typeface="Inter"/>
              </a:rPr>
              <a:t>Get Data</a:t>
            </a:r>
            <a:endParaRPr/>
          </a:p>
        </p:txBody>
      </p:sp>
      <p:sp>
        <p:nvSpPr>
          <p:cNvPr id="167" name="Google Shape;167;p19"/>
          <p:cNvSpPr txBox="1"/>
          <p:nvPr/>
        </p:nvSpPr>
        <p:spPr>
          <a:xfrm>
            <a:off x="5051810" y="4151858"/>
            <a:ext cx="2088229" cy="228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FFFFFF"/>
                </a:solidFill>
                <a:latin typeface="Inter"/>
                <a:ea typeface="Inter"/>
                <a:cs typeface="Inter"/>
                <a:sym typeface="Inter"/>
              </a:rPr>
              <a:t>Loop</a:t>
            </a:r>
            <a:endParaRPr/>
          </a:p>
        </p:txBody>
      </p:sp>
      <p:sp>
        <p:nvSpPr>
          <p:cNvPr id="168" name="Google Shape;168;p19"/>
          <p:cNvSpPr txBox="1"/>
          <p:nvPr/>
        </p:nvSpPr>
        <p:spPr>
          <a:xfrm>
            <a:off x="5101530" y="4532858"/>
            <a:ext cx="1988790" cy="24378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200" u="none" cap="none" strike="noStrike">
                <a:solidFill>
                  <a:srgbClr val="94A3B8"/>
                </a:solidFill>
                <a:latin typeface="Inter"/>
                <a:ea typeface="Inter"/>
                <a:cs typeface="Inter"/>
                <a:sym typeface="Inter"/>
              </a:rPr>
              <a:t>Iterate Rows</a:t>
            </a:r>
            <a:endParaRPr/>
          </a:p>
        </p:txBody>
      </p:sp>
      <p:sp>
        <p:nvSpPr>
          <p:cNvPr id="169" name="Google Shape;169;p19"/>
          <p:cNvSpPr txBox="1"/>
          <p:nvPr/>
        </p:nvSpPr>
        <p:spPr>
          <a:xfrm>
            <a:off x="7316825" y="4151858"/>
            <a:ext cx="2088229" cy="228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FFFFFF"/>
                </a:solidFill>
                <a:latin typeface="Inter"/>
                <a:ea typeface="Inter"/>
                <a:cs typeface="Inter"/>
                <a:sym typeface="Inter"/>
              </a:rPr>
              <a:t>Analyze</a:t>
            </a:r>
            <a:endParaRPr/>
          </a:p>
        </p:txBody>
      </p:sp>
      <p:sp>
        <p:nvSpPr>
          <p:cNvPr id="170" name="Google Shape;170;p19"/>
          <p:cNvSpPr txBox="1"/>
          <p:nvPr/>
        </p:nvSpPr>
        <p:spPr>
          <a:xfrm>
            <a:off x="7366545" y="4532858"/>
            <a:ext cx="1988790" cy="24378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200" u="none" cap="none" strike="noStrike">
                <a:solidFill>
                  <a:srgbClr val="94A3B8"/>
                </a:solidFill>
                <a:latin typeface="Inter"/>
                <a:ea typeface="Inter"/>
                <a:cs typeface="Inter"/>
                <a:sym typeface="Inter"/>
              </a:rPr>
              <a:t>LLM Chain</a:t>
            </a:r>
            <a:endParaRPr/>
          </a:p>
        </p:txBody>
      </p:sp>
      <p:sp>
        <p:nvSpPr>
          <p:cNvPr id="171" name="Google Shape;171;p19"/>
          <p:cNvSpPr txBox="1"/>
          <p:nvPr/>
        </p:nvSpPr>
        <p:spPr>
          <a:xfrm>
            <a:off x="9581841" y="4151858"/>
            <a:ext cx="2088229" cy="228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FFFFFF"/>
                </a:solidFill>
                <a:latin typeface="Inter"/>
                <a:ea typeface="Inter"/>
                <a:cs typeface="Inter"/>
                <a:sym typeface="Inter"/>
              </a:rPr>
              <a:t>Save</a:t>
            </a:r>
            <a:endParaRPr/>
          </a:p>
        </p:txBody>
      </p:sp>
      <p:sp>
        <p:nvSpPr>
          <p:cNvPr id="172" name="Google Shape;172;p19"/>
          <p:cNvSpPr txBox="1"/>
          <p:nvPr/>
        </p:nvSpPr>
        <p:spPr>
          <a:xfrm>
            <a:off x="9631560" y="4532858"/>
            <a:ext cx="1988790" cy="24378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200" u="none" cap="none" strike="noStrike">
                <a:solidFill>
                  <a:srgbClr val="94A3B8"/>
                </a:solidFill>
                <a:latin typeface="Inter"/>
                <a:ea typeface="Inter"/>
                <a:cs typeface="Inter"/>
                <a:sym typeface="Inter"/>
              </a:rPr>
              <a:t>Update Sheet</a:t>
            </a:r>
            <a:endParaRPr/>
          </a:p>
        </p:txBody>
      </p:sp>
      <p:sp>
        <p:nvSpPr>
          <p:cNvPr id="173" name="Google Shape;173;p19"/>
          <p:cNvSpPr txBox="1"/>
          <p:nvPr/>
        </p:nvSpPr>
        <p:spPr>
          <a:xfrm>
            <a:off x="295275" y="571500"/>
            <a:ext cx="11601450" cy="502890"/>
          </a:xfrm>
          <a:prstGeom prst="rect">
            <a:avLst/>
          </a:prstGeom>
          <a:noFill/>
          <a:ln>
            <a:noFill/>
          </a:ln>
        </p:spPr>
        <p:txBody>
          <a:bodyPr anchorCtr="0" anchor="t" bIns="0" lIns="0" spcFirstLastPara="1" rIns="0" wrap="square" tIns="0">
            <a:spAutoFit/>
          </a:bodyPr>
          <a:lstStyle/>
          <a:p>
            <a:pPr indent="0" lvl="0" marL="0" marR="0" rtl="0" algn="ctr">
              <a:lnSpc>
                <a:spcPct val="109972"/>
              </a:lnSpc>
              <a:spcBef>
                <a:spcPts val="0"/>
              </a:spcBef>
              <a:spcAft>
                <a:spcPts val="0"/>
              </a:spcAft>
              <a:buNone/>
            </a:pPr>
            <a:r>
              <a:rPr b="1" i="0" lang="en-US" sz="3600" u="none" cap="none" strike="noStrike">
                <a:solidFill>
                  <a:srgbClr val="FFFFFF"/>
                </a:solidFill>
                <a:latin typeface="Inter"/>
                <a:ea typeface="Inter"/>
                <a:cs typeface="Inter"/>
                <a:sym typeface="Inter"/>
              </a:rPr>
              <a:t>Workflow Overview</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